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Lst>
  <p:sldSz cx="12192000" cy="6858000"/>
  <p:notesSz cx="6858000" cy="9144000"/>
  <p:embeddedFontLst>
    <p:embeddedFont>
      <p:font typeface="Bell MT" panose="02020503060305020303" pitchFamily="18" charset="0"/>
      <p:regular r:id="rId21"/>
      <p:bold r:id="rId22"/>
      <p:italic r:id="rId23"/>
    </p:embeddedFont>
    <p:embeddedFont>
      <p:font typeface="Calibri" panose="020F050202020403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i7T3OjdvsKfE1iJiPSdLnHh7Lgj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686" autoAdjust="0"/>
  </p:normalViewPr>
  <p:slideViewPr>
    <p:cSldViewPr snapToGrid="0">
      <p:cViewPr varScale="1">
        <p:scale>
          <a:sx n="76" d="100"/>
          <a:sy n="76" d="100"/>
        </p:scale>
        <p:origin x="84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94632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Hello everyone. Welcome to </a:t>
            </a:r>
            <a:r>
              <a:rPr lang="en-US" dirty="0" err="1" smtClean="0"/>
              <a:t>Aitrich</a:t>
            </a:r>
            <a:r>
              <a:rPr lang="en-US" dirty="0" smtClean="0"/>
              <a:t> Academy. Today we are discussing about </a:t>
            </a:r>
            <a:r>
              <a:rPr lang="en-US" dirty="0" err="1" smtClean="0"/>
              <a:t>Blazor</a:t>
            </a:r>
            <a:r>
              <a:rPr lang="en-US" dirty="0" smtClean="0"/>
              <a:t>.</a:t>
            </a: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3060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Contents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IN" dirty="0" smtClean="0"/>
              <a:t>This session includes the following contents : </a:t>
            </a: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7734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How we develop web applications today?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The integration of server-side development languages such as C#, Java, and PHP, alongside client-side JavaScript frameworks like Angular, React, and </a:t>
            </a:r>
            <a:r>
              <a:rPr lang="en-US" dirty="0" err="1" smtClean="0"/>
              <a:t>Vue</a:t>
            </a:r>
            <a:r>
              <a:rPr lang="en-US" dirty="0" smtClean="0"/>
              <a:t>, constitutes the backbone of our full-stack approach. As developers, the imperative to learn both sets of programming languages arises not just from industry trends but from the inherent advantages it brings to our skill set. By mastering both server and client-side languages, we ensure a diverse and adaptable proficiency that positions us competitively in the dynamic landscape of software development. This comprehensive understanding enables us to conceive, implement, and maintain end-to-end solutions, fostering efficient collaboration, effective problem-solving, and future-proofing our capabilities to navigate the ever-evolving technological terrain.</a:t>
            </a:r>
            <a:endParaRPr dirty="0"/>
          </a:p>
        </p:txBody>
      </p:sp>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2627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dirty="0" err="1" smtClean="0"/>
              <a:t>Blazor</a:t>
            </a:r>
            <a:r>
              <a:rPr lang="en-IN" dirty="0" smtClean="0"/>
              <a:t> : </a:t>
            </a:r>
          </a:p>
          <a:p>
            <a:pPr marL="0" lvl="0" indent="0" algn="l" rtl="0">
              <a:spcBef>
                <a:spcPts val="0"/>
              </a:spcBef>
              <a:spcAft>
                <a:spcPts val="0"/>
              </a:spcAft>
              <a:buNone/>
            </a:pPr>
            <a:endParaRPr lang="en-IN" dirty="0" smtClean="0"/>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Imagine you want to create a website, like the ones you visit every day. Usually, people use languages like JavaScript to make these websites interactive. However, there's a framework called </a:t>
            </a:r>
            <a:r>
              <a:rPr lang="en-US" dirty="0" err="1" smtClean="0"/>
              <a:t>Blazor</a:t>
            </a:r>
            <a:r>
              <a:rPr lang="en-US" dirty="0" smtClean="0"/>
              <a:t> that lets developers use a language called C# instead of JavaScript. It's like having the option to build a website using a different set of tools. What's interesting is that with </a:t>
            </a:r>
            <a:r>
              <a:rPr lang="en-US" dirty="0" err="1" smtClean="0"/>
              <a:t>Blazor</a:t>
            </a:r>
            <a:r>
              <a:rPr lang="en-US" dirty="0" smtClean="0"/>
              <a:t>, the C# code can work not only on the server (where the website is hosted) but also directly in your web browser. It's like using a versatile tool that works in different places, making it more flexible for developers. This way, even if you're not deeply into IT, you can understand that </a:t>
            </a:r>
            <a:r>
              <a:rPr lang="en-US" dirty="0" err="1" smtClean="0"/>
              <a:t>Blazor</a:t>
            </a:r>
            <a:r>
              <a:rPr lang="en-US" dirty="0" smtClean="0"/>
              <a:t> is a cool tool that helps make websites more interactive using a language called C#.</a:t>
            </a:r>
            <a:endParaRPr dirty="0"/>
          </a:p>
        </p:txBody>
      </p:sp>
    </p:spTree>
    <p:extLst>
      <p:ext uri="{BB962C8B-B14F-4D97-AF65-F5344CB8AC3E}">
        <p14:creationId xmlns:p14="http://schemas.microsoft.com/office/powerpoint/2010/main" val="396207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How can a browser execute </a:t>
            </a:r>
            <a:r>
              <a:rPr lang="en-IN" dirty="0" err="1" smtClean="0"/>
              <a:t>c#</a:t>
            </a:r>
            <a:r>
              <a:rPr lang="en-IN" dirty="0" smtClean="0"/>
              <a:t> code?</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err="1" smtClean="0"/>
              <a:t>Blazor's</a:t>
            </a:r>
            <a:r>
              <a:rPr lang="en-US" dirty="0" smtClean="0"/>
              <a:t> magic lies in its ability to run C# code directly in your web browser, thanks to something called </a:t>
            </a:r>
            <a:r>
              <a:rPr lang="en-US" dirty="0" err="1" smtClean="0"/>
              <a:t>WebAssembly</a:t>
            </a:r>
            <a:r>
              <a:rPr lang="en-US" dirty="0" smtClean="0"/>
              <a:t>. Now, don't get bogged down by the tech jargon – think of </a:t>
            </a:r>
            <a:r>
              <a:rPr lang="en-US" dirty="0" err="1" smtClean="0"/>
              <a:t>WebAssembly</a:t>
            </a:r>
            <a:r>
              <a:rPr lang="en-US" dirty="0" smtClean="0"/>
              <a:t> as a universal language understood by all modern browsers, whether on your computer or even on your mobile phone. It's like having a secret code that works everywhere, making sure that the cool interactive features developers create using C# with </a:t>
            </a:r>
            <a:r>
              <a:rPr lang="en-US" dirty="0" err="1" smtClean="0"/>
              <a:t>Blazor</a:t>
            </a:r>
            <a:r>
              <a:rPr lang="en-US" dirty="0" smtClean="0"/>
              <a:t> can be enjoyed seamlessly on any device without any extra effort. So, when you see a website doing something impressive, it might just be </a:t>
            </a:r>
            <a:r>
              <a:rPr lang="en-US" dirty="0" err="1" smtClean="0"/>
              <a:t>Blazor</a:t>
            </a:r>
            <a:r>
              <a:rPr lang="en-US" dirty="0" smtClean="0"/>
              <a:t> and </a:t>
            </a:r>
            <a:r>
              <a:rPr lang="en-US" dirty="0" err="1" smtClean="0"/>
              <a:t>WebAssembly</a:t>
            </a:r>
            <a:r>
              <a:rPr lang="en-US" dirty="0" smtClean="0"/>
              <a:t> working together to make it happen!</a:t>
            </a:r>
          </a:p>
          <a:p>
            <a:pPr marL="0" lvl="0" indent="0" algn="l" rtl="0">
              <a:spcBef>
                <a:spcPts val="0"/>
              </a:spcBef>
              <a:spcAft>
                <a:spcPts val="0"/>
              </a:spcAft>
              <a:buNone/>
            </a:pPr>
            <a:endParaRPr lang="en-US" dirty="0" smtClean="0"/>
          </a:p>
          <a:p>
            <a:pPr marL="0" lvl="0" indent="0" algn="l" rtl="0">
              <a:spcBef>
                <a:spcPts val="0"/>
              </a:spcBef>
              <a:spcAft>
                <a:spcPts val="0"/>
              </a:spcAft>
              <a:buNone/>
            </a:pPr>
            <a:endParaRPr lang="en-US" dirty="0" smtClean="0"/>
          </a:p>
          <a:p>
            <a:pPr marL="0" lvl="0" indent="0" algn="l" rtl="0">
              <a:spcBef>
                <a:spcPts val="0"/>
              </a:spcBef>
              <a:spcAft>
                <a:spcPts val="0"/>
              </a:spcAft>
              <a:buNone/>
            </a:pPr>
            <a:endParaRPr lang="en-US" dirty="0" smtClean="0"/>
          </a:p>
          <a:p>
            <a:pPr marL="0" lvl="0" indent="0" algn="l" rtl="0">
              <a:spcBef>
                <a:spcPts val="0"/>
              </a:spcBef>
              <a:spcAft>
                <a:spcPts val="0"/>
              </a:spcAft>
              <a:buNone/>
            </a:pPr>
            <a:endParaRPr lang="en-US" dirty="0" smtClean="0"/>
          </a:p>
          <a:p>
            <a:pPr marL="0" lvl="0" indent="0" algn="l" rtl="0">
              <a:spcBef>
                <a:spcPts val="0"/>
              </a:spcBef>
              <a:spcAft>
                <a:spcPts val="0"/>
              </a:spcAft>
              <a:buNone/>
            </a:pPr>
            <a:endParaRPr dirty="0"/>
          </a:p>
        </p:txBody>
      </p:sp>
      <p:sp>
        <p:nvSpPr>
          <p:cNvPr id="139" name="Google Shape;13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9300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How create a </a:t>
            </a:r>
            <a:r>
              <a:rPr lang="en-IN" dirty="0" err="1" smtClean="0"/>
              <a:t>blazor</a:t>
            </a:r>
            <a:r>
              <a:rPr lang="en-IN" dirty="0" smtClean="0"/>
              <a:t> app?</a:t>
            </a:r>
          </a:p>
          <a:p>
            <a:pPr marL="0" lvl="0" indent="0" algn="l" rtl="0">
              <a:spcBef>
                <a:spcPts val="0"/>
              </a:spcBef>
              <a:spcAft>
                <a:spcPts val="0"/>
              </a:spcAft>
              <a:buNone/>
            </a:pPr>
            <a:endParaRPr lang="en-IN" dirty="0" smtClean="0"/>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Creating a </a:t>
            </a:r>
            <a:r>
              <a:rPr lang="en-US" dirty="0" err="1" smtClean="0"/>
              <a:t>Blazor</a:t>
            </a:r>
            <a:r>
              <a:rPr lang="en-US" dirty="0" smtClean="0"/>
              <a:t> app is like setting up your own digital canvas. Begin by ensuring you have Visual Studio installed, your virtual workshop. Open it, create a new project, and choose the "</a:t>
            </a:r>
            <a:r>
              <a:rPr lang="en-US" dirty="0" err="1" smtClean="0"/>
              <a:t>Blazor</a:t>
            </a:r>
            <a:r>
              <a:rPr lang="en-US" dirty="0" smtClean="0"/>
              <a:t> App" template, providing the basic structure for your web creation. Configure the project details, decide on the hosting model (server or client), and explore the project folders, much like navigating rooms in your creative space. Finally, hit 'Run,' and witness your app come to life in your web browser. It's a fascinating journey of turning ideas into interactive web experiences using the power of C# and </a:t>
            </a:r>
            <a:r>
              <a:rPr lang="en-US" dirty="0" err="1" smtClean="0"/>
              <a:t>Blazor</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endParaRPr lang="en-US" dirty="0" smtClean="0"/>
          </a:p>
          <a:p>
            <a:pPr marL="0" lvl="0" indent="0" algn="l" rtl="0">
              <a:spcBef>
                <a:spcPts val="0"/>
              </a:spcBef>
              <a:spcAft>
                <a:spcPts val="0"/>
              </a:spcAft>
              <a:buNone/>
            </a:pPr>
            <a:endParaRPr lang="en-US" dirty="0" smtClean="0"/>
          </a:p>
          <a:p>
            <a:pPr marL="0" lvl="0" indent="0" algn="l" rtl="0">
              <a:spcBef>
                <a:spcPts val="0"/>
              </a:spcBef>
              <a:spcAft>
                <a:spcPts val="0"/>
              </a:spcAft>
              <a:buNone/>
            </a:pPr>
            <a:endParaRPr lang="en-US" dirty="0" smtClean="0"/>
          </a:p>
          <a:p>
            <a:pPr marL="0" lvl="0" indent="0" algn="l" rtl="0">
              <a:spcBef>
                <a:spcPts val="0"/>
              </a:spcBef>
              <a:spcAft>
                <a:spcPts val="0"/>
              </a:spcAft>
              <a:buNone/>
            </a:pPr>
            <a:endParaRPr dirty="0"/>
          </a:p>
        </p:txBody>
      </p:sp>
      <p:sp>
        <p:nvSpPr>
          <p:cNvPr id="150" name="Google Shape;15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3507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err="1" smtClean="0"/>
              <a:t>Blazor</a:t>
            </a:r>
            <a:r>
              <a:rPr lang="en-IN" dirty="0" smtClean="0"/>
              <a:t> Hosting Models : </a:t>
            </a:r>
          </a:p>
          <a:p>
            <a:pPr marL="0" lvl="0" indent="0" algn="l" rtl="0">
              <a:spcBef>
                <a:spcPts val="0"/>
              </a:spcBef>
              <a:spcAft>
                <a:spcPts val="0"/>
              </a:spcAft>
              <a:buNone/>
            </a:pPr>
            <a:endParaRPr lang="en-IN" dirty="0" smtClean="0"/>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err="1" smtClean="0"/>
              <a:t>Blazor</a:t>
            </a:r>
            <a:r>
              <a:rPr lang="en-US" dirty="0" smtClean="0"/>
              <a:t> offers two hosting models, each catering to different needs in web development. The first is </a:t>
            </a:r>
            <a:r>
              <a:rPr lang="en-US" dirty="0" err="1" smtClean="0"/>
              <a:t>Blazor</a:t>
            </a:r>
            <a:r>
              <a:rPr lang="en-US" dirty="0" smtClean="0"/>
              <a:t> </a:t>
            </a:r>
            <a:r>
              <a:rPr lang="en-US" dirty="0" err="1" smtClean="0"/>
              <a:t>WebAssembly</a:t>
            </a:r>
            <a:r>
              <a:rPr lang="en-US" dirty="0" smtClean="0"/>
              <a:t>, akin to a client-side hosting model. Picture this as your app's intelligence traveling with it, executing directly in the user's browser. On the flip side, there's </a:t>
            </a:r>
            <a:r>
              <a:rPr lang="en-US" dirty="0" err="1" smtClean="0"/>
              <a:t>Blazor</a:t>
            </a:r>
            <a:r>
              <a:rPr lang="en-US" dirty="0" smtClean="0"/>
              <a:t> Server, representing a server-side hosting model. Here, the app's logic resides on the server, communicating the results to the client. It's like choosing between sending the brain with the message (</a:t>
            </a:r>
            <a:r>
              <a:rPr lang="en-US" dirty="0" err="1" smtClean="0"/>
              <a:t>WebAssembly</a:t>
            </a:r>
            <a:r>
              <a:rPr lang="en-US" dirty="0" smtClean="0"/>
              <a:t>) or letting the server do the thinking (Server). Both models have their strengths, and the choice depends on the specific requirements of your project.</a:t>
            </a:r>
            <a:endParaRPr dirty="0"/>
          </a:p>
        </p:txBody>
      </p:sp>
      <p:sp>
        <p:nvSpPr>
          <p:cNvPr id="161" name="Google Shape;1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69327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err="1" smtClean="0"/>
              <a:t>Blazor</a:t>
            </a:r>
            <a:r>
              <a:rPr lang="en-IN" dirty="0" smtClean="0"/>
              <a:t> </a:t>
            </a:r>
            <a:r>
              <a:rPr lang="en-IN" dirty="0" err="1" smtClean="0"/>
              <a:t>WebAssembly</a:t>
            </a:r>
            <a:r>
              <a:rPr lang="en-IN" dirty="0" smtClean="0"/>
              <a:t>:</a:t>
            </a:r>
            <a:r>
              <a:rPr lang="en-IN" baseline="0" dirty="0" smtClean="0"/>
              <a:t> </a:t>
            </a:r>
          </a:p>
          <a:p>
            <a:pPr marL="0" lvl="0" indent="0" algn="l" rtl="0">
              <a:spcBef>
                <a:spcPts val="0"/>
              </a:spcBef>
              <a:spcAft>
                <a:spcPts val="0"/>
              </a:spcAft>
              <a:buNone/>
            </a:pPr>
            <a:endParaRPr lang="en-IN" dirty="0" smtClean="0"/>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err="1" smtClean="0"/>
              <a:t>Blazor</a:t>
            </a:r>
            <a:r>
              <a:rPr lang="en-US" dirty="0" smtClean="0"/>
              <a:t> </a:t>
            </a:r>
            <a:r>
              <a:rPr lang="en-US" dirty="0" err="1" smtClean="0"/>
              <a:t>WebAssembly</a:t>
            </a:r>
            <a:r>
              <a:rPr lang="en-US" dirty="0" smtClean="0"/>
              <a:t>, the client-side maestro, allows applications to execute directly in your web browser using </a:t>
            </a:r>
            <a:r>
              <a:rPr lang="en-US" dirty="0" err="1" smtClean="0"/>
              <a:t>WebAssembly</a:t>
            </a:r>
            <a:r>
              <a:rPr lang="en-US" dirty="0" smtClean="0"/>
              <a:t> magic. Imagine this as delivering the entire intelligence of your application - the compiled code, its dependencies, and the .NET runtime - straight to the user's browser. It's like the app carrying its own toolkit, capable of running entirely on the client's machine without the need for a constant connection to the server. This independence brings a responsive and seamless experience, as if the application is a self-sufficient entity on the user's device.</a:t>
            </a:r>
            <a:endParaRPr dirty="0"/>
          </a:p>
        </p:txBody>
      </p:sp>
      <p:sp>
        <p:nvSpPr>
          <p:cNvPr id="173" name="Google Shape;17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1076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Advantages and disadvantages :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IN" dirty="0" smtClean="0"/>
              <a:t>Advantages :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No Active Server Connection Required:</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One of the major perks is the independence from constant server connection. Once the app is loaded, it can operate on the client's machine without the need for a persistent server link.</a:t>
            </a:r>
          </a:p>
          <a:p>
            <a:pPr marL="0" lvl="0" indent="0" algn="l" rtl="0">
              <a:spcBef>
                <a:spcPts val="0"/>
              </a:spcBef>
              <a:spcAft>
                <a:spcPts val="0"/>
              </a:spcAft>
              <a:buNone/>
            </a:pPr>
            <a:r>
              <a:rPr lang="en-US" dirty="0" smtClean="0"/>
              <a:t>Utilizes Client Resources and Capabilities: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Blazor</a:t>
            </a:r>
            <a:r>
              <a:rPr lang="en-US" dirty="0" smtClean="0"/>
              <a:t> </a:t>
            </a:r>
            <a:r>
              <a:rPr lang="en-US" dirty="0" err="1" smtClean="0"/>
              <a:t>WebAssembly</a:t>
            </a:r>
            <a:r>
              <a:rPr lang="en-US" dirty="0" smtClean="0"/>
              <a:t> maximizes the capabilities of the client's device. It harnesses the processing power and resources available on the user's browser, contributing to a responsive and dynamic user experience.</a:t>
            </a:r>
          </a:p>
          <a:p>
            <a:pPr marL="0" lvl="0" indent="0" algn="l" rtl="0">
              <a:spcBef>
                <a:spcPts val="0"/>
              </a:spcBef>
              <a:spcAft>
                <a:spcPts val="0"/>
              </a:spcAft>
              <a:buNone/>
            </a:pPr>
            <a:r>
              <a:rPr lang="en-US" dirty="0" smtClean="0"/>
              <a:t>No Full ASP.NET Core Web Server Necessary:</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Unlike traditional server-side applications, </a:t>
            </a:r>
            <a:r>
              <a:rPr lang="en-US" dirty="0" err="1" smtClean="0"/>
              <a:t>Blazor</a:t>
            </a:r>
            <a:r>
              <a:rPr lang="en-US" dirty="0" smtClean="0"/>
              <a:t> </a:t>
            </a:r>
            <a:r>
              <a:rPr lang="en-US" dirty="0" err="1" smtClean="0"/>
              <a:t>WebAssembly</a:t>
            </a:r>
            <a:r>
              <a:rPr lang="en-US" dirty="0" smtClean="0"/>
              <a:t> doesn't mandate a full-blown ASP.NET Core web server. This means a lighter server footprint, offering flexibility in deployment.</a:t>
            </a:r>
          </a:p>
          <a:p>
            <a:pPr marL="0" lvl="0" indent="0" algn="l" rtl="0">
              <a:spcBef>
                <a:spcPts val="0"/>
              </a:spcBef>
              <a:spcAft>
                <a:spcPts val="0"/>
              </a:spcAft>
              <a:buNone/>
            </a:pPr>
            <a:r>
              <a:rPr lang="en-US" dirty="0" smtClean="0"/>
              <a:t>Versatile Hosting Options: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Blazor</a:t>
            </a:r>
            <a:r>
              <a:rPr lang="en-US" dirty="0" smtClean="0"/>
              <a:t> </a:t>
            </a:r>
            <a:r>
              <a:rPr lang="en-US" dirty="0" err="1" smtClean="0"/>
              <a:t>WebAssembly</a:t>
            </a:r>
            <a:r>
              <a:rPr lang="en-US" dirty="0" smtClean="0"/>
              <a:t> apps can be hosted in various environments, whether it's on your own web server, in the cloud using services like Azure, or even distributed globally through Content Delivery Networks (CDN).</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IN" dirty="0" smtClean="0"/>
              <a:t>Disadvantages :</a:t>
            </a:r>
            <a:r>
              <a:rPr lang="en-IN" baseline="0" dirty="0" smtClean="0"/>
              <a:t>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Longer Initial Request Time: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The very first request to load a </a:t>
            </a:r>
            <a:r>
              <a:rPr lang="en-US" dirty="0" err="1" smtClean="0"/>
              <a:t>Blazor</a:t>
            </a:r>
            <a:r>
              <a:rPr lang="en-US" dirty="0" smtClean="0"/>
              <a:t> </a:t>
            </a:r>
            <a:r>
              <a:rPr lang="en-US" dirty="0" err="1" smtClean="0"/>
              <a:t>WebAssembly</a:t>
            </a:r>
            <a:r>
              <a:rPr lang="en-US" dirty="0" smtClean="0"/>
              <a:t> app typically takes longer compared to subsequent interactions. This delay is due to the need to download and initialize the application and its dependencies.</a:t>
            </a:r>
          </a:p>
          <a:p>
            <a:pPr marL="0" lvl="0" indent="0" algn="l" rtl="0">
              <a:spcBef>
                <a:spcPts val="0"/>
              </a:spcBef>
              <a:spcAft>
                <a:spcPts val="0"/>
              </a:spcAft>
              <a:buNone/>
            </a:pPr>
            <a:r>
              <a:rPr lang="en-US" dirty="0" smtClean="0"/>
              <a:t>Restricted to Browser Capabilities: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The capabilities of the </a:t>
            </a:r>
            <a:r>
              <a:rPr lang="en-US" dirty="0" err="1" smtClean="0"/>
              <a:t>Blazor</a:t>
            </a:r>
            <a:r>
              <a:rPr lang="en-US" dirty="0" smtClean="0"/>
              <a:t> </a:t>
            </a:r>
            <a:r>
              <a:rPr lang="en-US" dirty="0" err="1" smtClean="0"/>
              <a:t>WebAssembly</a:t>
            </a:r>
            <a:r>
              <a:rPr lang="en-US" dirty="0" smtClean="0"/>
              <a:t> app are constrained by the capabilities of the user's browser. This might limit certain advanced features that could be available in more powerful server-side scenarios.</a:t>
            </a:r>
          </a:p>
          <a:p>
            <a:pPr marL="0" lvl="0" indent="0" algn="l" rtl="0">
              <a:spcBef>
                <a:spcPts val="0"/>
              </a:spcBef>
              <a:spcAft>
                <a:spcPts val="0"/>
              </a:spcAft>
              <a:buNone/>
            </a:pPr>
            <a:r>
              <a:rPr lang="en-US" dirty="0" smtClean="0"/>
              <a:t>Client Hardware and Software Requirements: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For optimal performance, </a:t>
            </a:r>
            <a:r>
              <a:rPr lang="en-US" dirty="0" err="1" smtClean="0"/>
              <a:t>Blazor</a:t>
            </a:r>
            <a:r>
              <a:rPr lang="en-US" dirty="0" smtClean="0"/>
              <a:t> </a:t>
            </a:r>
            <a:r>
              <a:rPr lang="en-US" dirty="0" err="1" smtClean="0"/>
              <a:t>WebAssembly</a:t>
            </a:r>
            <a:r>
              <a:rPr lang="en-US" dirty="0" smtClean="0"/>
              <a:t> requires capable client hardware and software. Older browsers or devices may not provide the best experience, necessitating a certain level of client-side capability.</a:t>
            </a:r>
            <a:endParaRPr dirty="0"/>
          </a:p>
        </p:txBody>
      </p:sp>
      <p:sp>
        <p:nvSpPr>
          <p:cNvPr id="186" name="Google Shape;18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4085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Server side hosting Model :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In the Server-Side Hosting Model of </a:t>
            </a:r>
            <a:r>
              <a:rPr lang="en-US" dirty="0" err="1" smtClean="0"/>
              <a:t>Blazor</a:t>
            </a:r>
            <a:r>
              <a:rPr lang="en-US" dirty="0" smtClean="0"/>
              <a:t>, the application orchestrates its performance dance on the server. Here's the play-by-play: A dynamic </a:t>
            </a:r>
            <a:r>
              <a:rPr lang="en-US" dirty="0" err="1" smtClean="0"/>
              <a:t>SignalR</a:t>
            </a:r>
            <a:r>
              <a:rPr lang="en-US" dirty="0" smtClean="0"/>
              <a:t> connection forms the communication bridge between the client and server. When a user-triggered event, say a button click, occurs on the client, this event information is swiftly dispatched to the server via </a:t>
            </a:r>
            <a:r>
              <a:rPr lang="en-US" dirty="0" err="1" smtClean="0"/>
              <a:t>SignalR</a:t>
            </a:r>
            <a:r>
              <a:rPr lang="en-US" dirty="0" smtClean="0"/>
              <a:t>. Here's the brilliance - the server then takes charge, handling the event and calculating only the difference (diff) in the generated HTML. Instead of sending the entire HTML back, it sends just the changes to the client over the </a:t>
            </a:r>
            <a:r>
              <a:rPr lang="en-US" dirty="0" err="1" smtClean="0"/>
              <a:t>SignalR</a:t>
            </a:r>
            <a:r>
              <a:rPr lang="en-US" dirty="0" smtClean="0"/>
              <a:t> connection. Think of it like sending only the script changes for a movie rather than the entire film. This selective update makes the application feel faster and more responsive to users, enhancing their overall experience. It's a smart, behind-the-scenes choreography that keeps the user engaged without unnecessary data transfer.</a:t>
            </a:r>
            <a:endParaRPr lang="en-IN" dirty="0" smtClean="0"/>
          </a:p>
          <a:p>
            <a:pPr marL="0" lvl="0" indent="0" algn="l" rtl="0">
              <a:spcBef>
                <a:spcPts val="0"/>
              </a:spcBef>
              <a:spcAft>
                <a:spcPts val="0"/>
              </a:spcAft>
              <a:buNone/>
            </a:pPr>
            <a:endParaRPr dirty="0"/>
          </a:p>
        </p:txBody>
      </p:sp>
      <p:sp>
        <p:nvSpPr>
          <p:cNvPr id="198" name="Google Shape;19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63396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Advantages and disadvantages</a:t>
            </a:r>
            <a:r>
              <a:rPr lang="en-IN" baseline="0" dirty="0" smtClean="0"/>
              <a:t> :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IN" dirty="0" smtClean="0"/>
              <a:t>Advantages :</a:t>
            </a:r>
            <a:r>
              <a:rPr lang="en-IN" baseline="0" dirty="0" smtClean="0"/>
              <a:t> </a:t>
            </a:r>
          </a:p>
          <a:p>
            <a:pPr marL="0" lvl="0" indent="0" algn="l" rtl="0">
              <a:spcBef>
                <a:spcPts val="0"/>
              </a:spcBef>
              <a:spcAft>
                <a:spcPts val="0"/>
              </a:spcAft>
              <a:buNone/>
            </a:pPr>
            <a:endParaRPr lang="en-IN" baseline="0" dirty="0" smtClean="0"/>
          </a:p>
          <a:p>
            <a:pPr marL="0" lvl="0" indent="0" algn="l" rtl="0">
              <a:spcBef>
                <a:spcPts val="0"/>
              </a:spcBef>
              <a:spcAft>
                <a:spcPts val="0"/>
              </a:spcAft>
              <a:buNone/>
            </a:pPr>
            <a:r>
              <a:rPr lang="en-US" baseline="0" dirty="0" smtClean="0"/>
              <a:t>Faster Initial Load:</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The application loads faster initially since the client only needs to download the essential UI components, and the heavy lifting happens on the server.</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Leverages Server Capabilities:</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Takes full advantage of server-side capabilities, utilizing server resources for processing and executing application logic.</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Minimal Client Requirements:</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Users only need a browser to access the application, as most of the processing is handled on the server side.</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Enhanced Security:</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Security is bolstered as the application code remains on the server, reducing the risk of exposing sensitive information to the client.</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IN" baseline="0" dirty="0" smtClean="0"/>
              <a:t>Disadvantages : </a:t>
            </a:r>
          </a:p>
          <a:p>
            <a:pPr marL="0" lvl="0" indent="0" algn="l" rtl="0">
              <a:spcBef>
                <a:spcPts val="0"/>
              </a:spcBef>
              <a:spcAft>
                <a:spcPts val="0"/>
              </a:spcAft>
              <a:buNone/>
            </a:pPr>
            <a:endParaRPr lang="en-IN" baseline="0" dirty="0" smtClean="0"/>
          </a:p>
          <a:p>
            <a:pPr marL="0" lvl="0" indent="0" algn="l" rtl="0">
              <a:spcBef>
                <a:spcPts val="0"/>
              </a:spcBef>
              <a:spcAft>
                <a:spcPts val="0"/>
              </a:spcAft>
              <a:buNone/>
            </a:pPr>
            <a:r>
              <a:rPr lang="en-US" baseline="0" dirty="0" smtClean="0"/>
              <a:t>Dependence on ASP.NET Core Web Server:</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Requires a full ASP.NET Core web server to host the application, limiting deployment options compared to more versatile hosting in </a:t>
            </a:r>
            <a:r>
              <a:rPr lang="en-US" baseline="0" dirty="0" err="1" smtClean="0"/>
              <a:t>Blazor</a:t>
            </a:r>
            <a:r>
              <a:rPr lang="en-US" baseline="0" dirty="0" smtClean="0"/>
              <a:t> </a:t>
            </a:r>
            <a:r>
              <a:rPr lang="en-US" baseline="0" dirty="0" err="1" smtClean="0"/>
              <a:t>WebAssembly</a:t>
            </a:r>
            <a:r>
              <a:rPr lang="en-US" baseline="0" dirty="0" smtClean="0"/>
              <a:t>.</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Active Connection Requirement:</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Relies on an active connection to the server, meaning users need to be online for the application to function.</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Higher Latency:</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Involves a round trip to the server for each user interaction, leading to higher latency compared to client-side models, potentially impacting real-time responsiveness.</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Scalability Challenges:</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Scaling server-side hosted applications can be challenging, as increased user load directly impacts server resources. This might require additional measures for efficient scaling.</a:t>
            </a:r>
            <a:endParaRPr lang="en-IN" baseline="0" dirty="0" smtClean="0"/>
          </a:p>
          <a:p>
            <a:pPr marL="0" lvl="0" indent="0" algn="l" rtl="0">
              <a:spcBef>
                <a:spcPts val="0"/>
              </a:spcBef>
              <a:spcAft>
                <a:spcPts val="0"/>
              </a:spcAft>
              <a:buNone/>
            </a:pPr>
            <a:endParaRPr lang="en-IN" baseline="0" dirty="0" smtClean="0"/>
          </a:p>
          <a:p>
            <a:pPr marL="0" lvl="0" indent="0" algn="l" rtl="0">
              <a:spcBef>
                <a:spcPts val="0"/>
              </a:spcBef>
              <a:spcAft>
                <a:spcPts val="0"/>
              </a:spcAft>
              <a:buNone/>
            </a:pPr>
            <a:endParaRPr lang="en-IN" dirty="0" smtClean="0"/>
          </a:p>
        </p:txBody>
      </p:sp>
      <p:sp>
        <p:nvSpPr>
          <p:cNvPr id="211" name="Google Shape;21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9953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err="1" smtClean="0"/>
              <a:t>Blazor</a:t>
            </a:r>
            <a:r>
              <a:rPr lang="en-IN" dirty="0" smtClean="0"/>
              <a:t> Project structure :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1.Program.cs - The Entry Point: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Picture </a:t>
            </a:r>
            <a:r>
              <a:rPr lang="en-US" dirty="0" err="1" smtClean="0"/>
              <a:t>Program.cs</a:t>
            </a:r>
            <a:r>
              <a:rPr lang="en-US" dirty="0" smtClean="0"/>
              <a:t> as the backstage manager of our </a:t>
            </a:r>
            <a:r>
              <a:rPr lang="en-US" dirty="0" err="1" smtClean="0"/>
              <a:t>Blazor</a:t>
            </a:r>
            <a:r>
              <a:rPr lang="en-US" dirty="0" smtClean="0"/>
              <a:t> show. It holds the Main() method, the entry point for both types of </a:t>
            </a:r>
            <a:r>
              <a:rPr lang="en-US" dirty="0" err="1" smtClean="0"/>
              <a:t>Blazor</a:t>
            </a:r>
            <a:r>
              <a:rPr lang="en-US" dirty="0" smtClean="0"/>
              <a:t> projects – </a:t>
            </a:r>
            <a:r>
              <a:rPr lang="en-US" dirty="0" err="1" smtClean="0"/>
              <a:t>WebAssembly</a:t>
            </a:r>
            <a:r>
              <a:rPr lang="en-US" dirty="0" smtClean="0"/>
              <a:t> and Server. It's where the curtain lifts and our application begins.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2. </a:t>
            </a:r>
            <a:r>
              <a:rPr lang="en-US" dirty="0" err="1" smtClean="0"/>
              <a:t>wwwroot</a:t>
            </a:r>
            <a:r>
              <a:rPr lang="en-US" dirty="0" smtClean="0"/>
              <a:t> - The Asset Repository:</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Now, let's step into </a:t>
            </a:r>
            <a:r>
              <a:rPr lang="en-US" dirty="0" err="1" smtClean="0"/>
              <a:t>wwwroot</a:t>
            </a:r>
            <a:r>
              <a:rPr lang="en-US" dirty="0" smtClean="0"/>
              <a:t> – the storage room for all things static. This is where images, stylesheets, and other static files reside. It's like the dressing room for our application's visual elements.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3. </a:t>
            </a:r>
            <a:r>
              <a:rPr lang="en-US" dirty="0" err="1" smtClean="0"/>
              <a:t>App.razor</a:t>
            </a:r>
            <a:r>
              <a:rPr lang="en-US" dirty="0" smtClean="0"/>
              <a:t> - The Maestro Component: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App.razor</a:t>
            </a:r>
            <a:r>
              <a:rPr lang="en-US" dirty="0" smtClean="0"/>
              <a:t> is the conductor of our application symphony. As the root component, it orchestrates everything. It utilizes the built-in Router component, setting the stage for client-side routing. Think of it as the musical score determining how our application's scenes unfold.</a:t>
            </a:r>
          </a:p>
          <a:p>
            <a:pPr marL="0" lvl="0" indent="0" algn="l" rtl="0">
              <a:spcBef>
                <a:spcPts val="0"/>
              </a:spcBef>
              <a:spcAft>
                <a:spcPts val="0"/>
              </a:spcAft>
              <a:buNone/>
            </a:pPr>
            <a:endParaRPr lang="en-US" dirty="0" smtClean="0"/>
          </a:p>
          <a:p>
            <a:pPr marL="0" lvl="0" indent="0" algn="l" rtl="0">
              <a:spcBef>
                <a:spcPts val="0"/>
              </a:spcBef>
              <a:spcAft>
                <a:spcPts val="0"/>
              </a:spcAft>
              <a:buNone/>
            </a:pPr>
            <a:endParaRPr lang="en-US" dirty="0" smtClean="0"/>
          </a:p>
          <a:p>
            <a:pPr marL="0" lvl="0" indent="0" algn="l" rtl="0">
              <a:spcBef>
                <a:spcPts val="0"/>
              </a:spcBef>
              <a:spcAft>
                <a:spcPts val="0"/>
              </a:spcAft>
              <a:buNone/>
            </a:pPr>
            <a:endParaRPr lang="en-US" dirty="0" smtClean="0"/>
          </a:p>
          <a:p>
            <a:pPr marL="0" lvl="0" indent="0" algn="l" rtl="0">
              <a:spcBef>
                <a:spcPts val="0"/>
              </a:spcBef>
              <a:spcAft>
                <a:spcPts val="0"/>
              </a:spcAft>
              <a:buNone/>
            </a:pPr>
            <a:endParaRPr lang="en-US" dirty="0" smtClean="0"/>
          </a:p>
          <a:p>
            <a:pPr marL="0" lvl="0" indent="0" algn="l" rtl="0">
              <a:spcBef>
                <a:spcPts val="0"/>
              </a:spcBef>
              <a:spcAft>
                <a:spcPts val="0"/>
              </a:spcAft>
              <a:buNone/>
            </a:pPr>
            <a:endParaRPr dirty="0"/>
          </a:p>
        </p:txBody>
      </p:sp>
      <p:sp>
        <p:nvSpPr>
          <p:cNvPr id="223" name="Google Shape;22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14817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4.Pages Folder - The Storytelling Arena:</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Head over to the Pages folder – this is where our application's story unfolds. It houses the _Host razor page, a crucial starting point for our app, and various routable components (.razor files). Each of these components represents a scene or functionality in our </a:t>
            </a:r>
            <a:r>
              <a:rPr lang="en-US" dirty="0" err="1" smtClean="0"/>
              <a:t>Blazor</a:t>
            </a:r>
            <a:r>
              <a:rPr lang="en-US" dirty="0" smtClean="0"/>
              <a:t> app, bringing our narrative to life.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5. Shared Folder - Collaboration Space: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Now, let's peek into the Shared folder – a collaborative space for shared components. Here, we find the </a:t>
            </a:r>
            <a:r>
              <a:rPr lang="en-US" dirty="0" err="1" smtClean="0"/>
              <a:t>MainLayout</a:t>
            </a:r>
            <a:r>
              <a:rPr lang="en-US" dirty="0" smtClean="0"/>
              <a:t> component (</a:t>
            </a:r>
            <a:r>
              <a:rPr lang="en-US" dirty="0" err="1" smtClean="0"/>
              <a:t>MainLayout.razor</a:t>
            </a:r>
            <a:r>
              <a:rPr lang="en-US" dirty="0" smtClean="0"/>
              <a:t>), acting as the visual template for our app's layout. Additionally, we have the </a:t>
            </a:r>
            <a:r>
              <a:rPr lang="en-US" dirty="0" err="1" smtClean="0"/>
              <a:t>NavMenu</a:t>
            </a:r>
            <a:r>
              <a:rPr lang="en-US" dirty="0" smtClean="0"/>
              <a:t> component (</a:t>
            </a:r>
            <a:r>
              <a:rPr lang="en-US" dirty="0" err="1" smtClean="0"/>
              <a:t>NavMenu.razor</a:t>
            </a:r>
            <a:r>
              <a:rPr lang="en-US" dirty="0" smtClean="0"/>
              <a:t>), serving as the navigator for our app's users. It's like the shared props and set design that make each scene seamless and cohesive.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6. _</a:t>
            </a:r>
            <a:r>
              <a:rPr lang="en-US" dirty="0" err="1" smtClean="0"/>
              <a:t>Imports.razor</a:t>
            </a:r>
            <a:r>
              <a:rPr lang="en-US" dirty="0" smtClean="0"/>
              <a:t> - The Efficiency Booster:</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Finally, meet _</a:t>
            </a:r>
            <a:r>
              <a:rPr lang="en-US" dirty="0" err="1" smtClean="0"/>
              <a:t>Imports.razor</a:t>
            </a:r>
            <a:r>
              <a:rPr lang="en-US" dirty="0" smtClean="0"/>
              <a:t> – the efficiency booster. It's like a backstage pass that contains common namespaces shared by our razor components. By having them here, we avoid the need to include them in every single razor component file. It streamlines our code, making it cleaner and more maintainable.</a:t>
            </a:r>
            <a:endParaRPr dirty="0"/>
          </a:p>
        </p:txBody>
      </p:sp>
      <p:sp>
        <p:nvSpPr>
          <p:cNvPr id="236" name="Google Shape;23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4515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7. </a:t>
            </a:r>
            <a:r>
              <a:rPr lang="en-US" dirty="0" err="1" smtClean="0"/>
              <a:t>wwwroot</a:t>
            </a:r>
            <a:r>
              <a:rPr lang="en-US" dirty="0" smtClean="0"/>
              <a:t>/index.html - The </a:t>
            </a:r>
            <a:r>
              <a:rPr lang="en-US" dirty="0" err="1" smtClean="0"/>
              <a:t>WebAssembly</a:t>
            </a:r>
            <a:r>
              <a:rPr lang="en-US" dirty="0" smtClean="0"/>
              <a:t> Welcome Mat: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Step into </a:t>
            </a:r>
            <a:r>
              <a:rPr lang="en-US" dirty="0" err="1" smtClean="0"/>
              <a:t>wwwroot</a:t>
            </a:r>
            <a:r>
              <a:rPr lang="en-US" dirty="0" smtClean="0"/>
              <a:t>, and you'll find index.html, the heart of a </a:t>
            </a:r>
            <a:r>
              <a:rPr lang="en-US" dirty="0" err="1" smtClean="0"/>
              <a:t>Blazor</a:t>
            </a:r>
            <a:r>
              <a:rPr lang="en-US" dirty="0" smtClean="0"/>
              <a:t> </a:t>
            </a:r>
            <a:r>
              <a:rPr lang="en-US" dirty="0" err="1" smtClean="0"/>
              <a:t>WebAssembly</a:t>
            </a:r>
            <a:r>
              <a:rPr lang="en-US" dirty="0" smtClean="0"/>
              <a:t> project. This is where the journey begins, serving as the root page. It's like the welcoming doormat of our </a:t>
            </a:r>
            <a:r>
              <a:rPr lang="en-US" dirty="0" err="1" smtClean="0"/>
              <a:t>WebAssembly</a:t>
            </a:r>
            <a:r>
              <a:rPr lang="en-US" dirty="0" smtClean="0"/>
              <a:t>-powered app, inviting users to step into the </a:t>
            </a:r>
            <a:r>
              <a:rPr lang="en-US" dirty="0" err="1" smtClean="0"/>
              <a:t>Blazor</a:t>
            </a:r>
            <a:r>
              <a:rPr lang="en-US" dirty="0" smtClean="0"/>
              <a:t> experience.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8. </a:t>
            </a:r>
            <a:r>
              <a:rPr lang="en-US" dirty="0" err="1" smtClean="0"/>
              <a:t>Startup.cs</a:t>
            </a:r>
            <a:r>
              <a:rPr lang="en-US" dirty="0" smtClean="0"/>
              <a:t> - Crafting the App's Genesis: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Enter </a:t>
            </a:r>
            <a:r>
              <a:rPr lang="en-US" dirty="0" err="1" smtClean="0"/>
              <a:t>Startup.cs</a:t>
            </a:r>
            <a:r>
              <a:rPr lang="en-US" dirty="0" smtClean="0"/>
              <a:t>, the mastermind behind our app's startup logic. It wears two hats - </a:t>
            </a:r>
            <a:r>
              <a:rPr lang="en-US" dirty="0" err="1" smtClean="0"/>
              <a:t>ConfigureServices</a:t>
            </a:r>
            <a:r>
              <a:rPr lang="en-US" dirty="0" smtClean="0"/>
              <a:t> configures the application's Dependency Injection (DI) services, ensuring components talk seamlessly. Meanwhile, Configure sets up the app's request processing pipeline, orchestrating how it handles incoming requests. It's like the architect laying the groundwork for our app's structure and functionality.</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9. Pages/_</a:t>
            </a:r>
            <a:r>
              <a:rPr lang="en-US" dirty="0" err="1" smtClean="0"/>
              <a:t>Host.cshtml</a:t>
            </a:r>
            <a:r>
              <a:rPr lang="en-US" dirty="0" smtClean="0"/>
              <a:t> - The Razor Root Page: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Lastly, open the Pages folder to discover _</a:t>
            </a:r>
            <a:r>
              <a:rPr lang="en-US" dirty="0" err="1" smtClean="0"/>
              <a:t>Host.cshtml</a:t>
            </a:r>
            <a:r>
              <a:rPr lang="en-US" dirty="0" smtClean="0"/>
              <a:t> – the razor root page of our application. It's specified by calling </a:t>
            </a:r>
            <a:r>
              <a:rPr lang="en-US" dirty="0" err="1" smtClean="0"/>
              <a:t>MapFallbackToPage</a:t>
            </a:r>
            <a:r>
              <a:rPr lang="en-US" dirty="0" smtClean="0"/>
              <a:t>("/_Host") method, acting as the home base. Implemented as a razor page, it sets the stage for our </a:t>
            </a:r>
            <a:r>
              <a:rPr lang="en-US" dirty="0" err="1" smtClean="0"/>
              <a:t>Blazor</a:t>
            </a:r>
            <a:r>
              <a:rPr lang="en-US" dirty="0" smtClean="0"/>
              <a:t> </a:t>
            </a:r>
            <a:r>
              <a:rPr lang="en-US" dirty="0" err="1" smtClean="0"/>
              <a:t>WebAssembly</a:t>
            </a:r>
            <a:r>
              <a:rPr lang="en-US" dirty="0" smtClean="0"/>
              <a:t> project, providing the foundation for the user interface.</a:t>
            </a:r>
            <a:endParaRPr dirty="0"/>
          </a:p>
        </p:txBody>
      </p:sp>
      <p:sp>
        <p:nvSpPr>
          <p:cNvPr id="249" name="Google Shape;24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17610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10. Data Folder - The </a:t>
            </a:r>
            <a:r>
              <a:rPr lang="en-US" dirty="0" err="1" smtClean="0"/>
              <a:t>WeatherForecast</a:t>
            </a:r>
            <a:r>
              <a:rPr lang="en-US" dirty="0" smtClean="0"/>
              <a:t> Warehouse: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Dive into the Data folder within a </a:t>
            </a:r>
            <a:r>
              <a:rPr lang="en-US" dirty="0" err="1" smtClean="0"/>
              <a:t>Blazor</a:t>
            </a:r>
            <a:r>
              <a:rPr lang="en-US" dirty="0" smtClean="0"/>
              <a:t> Server project, and you'll discover a treasure trove of code files related to the </a:t>
            </a:r>
            <a:r>
              <a:rPr lang="en-US" dirty="0" err="1" smtClean="0"/>
              <a:t>WeatherForecast</a:t>
            </a:r>
            <a:r>
              <a:rPr lang="en-US" dirty="0" smtClean="0"/>
              <a:t> service. Think of this folder as the warehouse where our application stores and manages data related to weather forecasts. It's where the magic happens behind the scenes to keep users updated on the latest weather conditions.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11. </a:t>
            </a:r>
            <a:r>
              <a:rPr lang="en-US" dirty="0" err="1" smtClean="0"/>
              <a:t>appsettings.json</a:t>
            </a:r>
            <a:r>
              <a:rPr lang="en-US" dirty="0" smtClean="0"/>
              <a:t> - The Configuration Keeper:</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Now, let's explore </a:t>
            </a:r>
            <a:r>
              <a:rPr lang="en-US" dirty="0" err="1" smtClean="0"/>
              <a:t>appsettings.json</a:t>
            </a:r>
            <a:r>
              <a:rPr lang="en-US" dirty="0" smtClean="0"/>
              <a:t> – the keeper of configuration settings in a </a:t>
            </a:r>
            <a:r>
              <a:rPr lang="en-US" dirty="0" err="1" smtClean="0"/>
              <a:t>Blazor</a:t>
            </a:r>
            <a:r>
              <a:rPr lang="en-US" dirty="0" smtClean="0"/>
              <a:t> Server project. It's like a control panel where we store various configurations needed for our application to run smoothly. Whether it's database connections, API keys, or any other settings, </a:t>
            </a:r>
            <a:r>
              <a:rPr lang="en-US" dirty="0" err="1" smtClean="0"/>
              <a:t>appsettings.json</a:t>
            </a:r>
            <a:r>
              <a:rPr lang="en-US" dirty="0" smtClean="0"/>
              <a:t> is the go-to file for managing them.</a:t>
            </a:r>
            <a:endParaRPr dirty="0"/>
          </a:p>
        </p:txBody>
      </p:sp>
      <p:sp>
        <p:nvSpPr>
          <p:cNvPr id="261" name="Google Shape;26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119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ASP.NET Core razor components: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Components - The Blueprint of </a:t>
            </a:r>
            <a:r>
              <a:rPr lang="en-US" dirty="0" err="1" smtClean="0"/>
              <a:t>Blazor</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Components are the heart and soul of a </a:t>
            </a:r>
            <a:r>
              <a:rPr lang="en-US" dirty="0" err="1" smtClean="0"/>
              <a:t>Blazor</a:t>
            </a:r>
            <a:r>
              <a:rPr lang="en-US" dirty="0" smtClean="0"/>
              <a:t> application. Picture them as the building blocks that define the structure, behavior, and appearance of various parts of your app. Whether it's a button, a form, or an entire section, components are the architects that bring your app to life.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 Nesting and Reusability:</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What's fascinating is that components can be nested within each other. It's like having smaller Lego pieces fitting perfectly into a larger structure. This nesting capability allows for creating complex and modular designs. Additionally, components can be reused across different parts of the app, enhancing efficiency in development.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Extension: .razor - The Signature File Format: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Recognizing a component is easy – just look for the .razor extension. This extension signifies that you're dealing with a special kind of file that defines a </a:t>
            </a:r>
            <a:r>
              <a:rPr lang="en-US" dirty="0" err="1" smtClean="0"/>
              <a:t>Blazor</a:t>
            </a:r>
            <a:r>
              <a:rPr lang="en-US" dirty="0" smtClean="0"/>
              <a:t> component. It's like the signature that tells you, "This is where the magic happens.“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 Naming Conventions: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One little quirk to remember – when naming components, they cannot start with a lowercase character. It's like a naming rule that ensures clarity and consistency in your code.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 Share the Wealth - Cross-Project Component Sharing:</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Perhaps the most exciting part is that if you design your components wisely, they can be shared not just within a single project but across multiple projects. It's like having a set of universal building blocks that architects can use in various constructions.</a:t>
            </a:r>
            <a:endParaRPr lang="en-IN" dirty="0" smtClean="0"/>
          </a:p>
          <a:p>
            <a:pPr marL="0" lvl="0" indent="0" algn="l" rtl="0">
              <a:spcBef>
                <a:spcPts val="0"/>
              </a:spcBef>
              <a:spcAft>
                <a:spcPts val="0"/>
              </a:spcAft>
              <a:buNone/>
            </a:pPr>
            <a:endParaRPr lang="en-IN" dirty="0" smtClean="0"/>
          </a:p>
          <a:p>
            <a:pPr marL="0" lvl="0" indent="0" algn="l" rtl="0">
              <a:spcBef>
                <a:spcPts val="0"/>
              </a:spcBef>
              <a:spcAft>
                <a:spcPts val="0"/>
              </a:spcAft>
              <a:buNone/>
            </a:pPr>
            <a:endParaRPr dirty="0"/>
          </a:p>
        </p:txBody>
      </p:sp>
      <p:sp>
        <p:nvSpPr>
          <p:cNvPr id="271" name="Google Shape;27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45148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Component is combination of two things :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Component Composition:</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At its core, a </a:t>
            </a:r>
            <a:r>
              <a:rPr lang="en-US" dirty="0" err="1" smtClean="0"/>
              <a:t>Blazor</a:t>
            </a:r>
            <a:r>
              <a:rPr lang="en-US" dirty="0" smtClean="0"/>
              <a:t> component is a harmonious blend of two essential elements. First, we have the HTML markup, serving as the visual identity that defines how the component looks and feels. This is where we design the user interface, specifying buttons, forms, and other visual elements.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The Brain Behind - C# Code: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Complementing the HTML markup is the C# code, which acts as the processing logic for the component. It's the brain behind the beauty, defining how the component behaves, handles user interactions, and processes data. This dynamic duo of HTML and C# creates a powerful synergy within each component.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 Rendering Magic - @page Directive: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Now, let's talk about how these components come to life. A component is rendered by specifying its path in the @page directive. It's like providing the GPS coordinates for where your component should appear in the grand stage of your </a:t>
            </a:r>
            <a:r>
              <a:rPr lang="en-US" dirty="0" err="1" smtClean="0"/>
              <a:t>Blazor</a:t>
            </a:r>
            <a:r>
              <a:rPr lang="en-US" dirty="0" smtClean="0"/>
              <a:t> application</a:t>
            </a:r>
            <a:endParaRPr lang="en-IN" dirty="0" smtClean="0"/>
          </a:p>
          <a:p>
            <a:pPr marL="0" lvl="0" indent="0" algn="l" rtl="0">
              <a:spcBef>
                <a:spcPts val="0"/>
              </a:spcBef>
              <a:spcAft>
                <a:spcPts val="0"/>
              </a:spcAft>
              <a:buNone/>
            </a:pPr>
            <a:endParaRPr dirty="0"/>
          </a:p>
        </p:txBody>
      </p:sp>
      <p:sp>
        <p:nvSpPr>
          <p:cNvPr id="294" name="Google Shape;29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53160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Thank you for joining this</a:t>
            </a:r>
            <a:r>
              <a:rPr lang="en-IN" baseline="0" dirty="0" smtClean="0"/>
              <a:t> session.</a:t>
            </a:r>
            <a:endParaRPr dirty="0"/>
          </a:p>
        </p:txBody>
      </p:sp>
      <p:sp>
        <p:nvSpPr>
          <p:cNvPr id="304" name="Google Shape;30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2745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7" name="Google Shape;37;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9"/>
          <p:cNvSpPr>
            <a:spLocks noGrp="1"/>
          </p:cNvSpPr>
          <p:nvPr>
            <p:ph type="pic" idx="2"/>
          </p:nvPr>
        </p:nvSpPr>
        <p:spPr>
          <a:xfrm>
            <a:off x="5183188" y="987425"/>
            <a:ext cx="6172200" cy="4873625"/>
          </a:xfrm>
          <a:prstGeom prst="rect">
            <a:avLst/>
          </a:prstGeom>
          <a:noFill/>
          <a:ln>
            <a:noFill/>
          </a:ln>
        </p:spPr>
      </p:sp>
      <p:sp>
        <p:nvSpPr>
          <p:cNvPr id="68" name="Google Shape;68;p2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913130" y="560070"/>
            <a:ext cx="7381240" cy="295021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8800"/>
              <a:buFont typeface="Calibri"/>
              <a:buNone/>
            </a:pPr>
            <a:r>
              <a:rPr lang="en-GB" sz="8800" b="1">
                <a:solidFill>
                  <a:schemeClr val="dk1"/>
                </a:solidFill>
              </a:rPr>
              <a:t>BLAZOR</a:t>
            </a:r>
            <a:endParaRPr sz="8800" b="1">
              <a:solidFill>
                <a:schemeClr val="dk1"/>
              </a:solidFill>
            </a:endParaRPr>
          </a:p>
        </p:txBody>
      </p:sp>
      <p:pic>
        <p:nvPicPr>
          <p:cNvPr id="89" name="Google Shape;89;p1" descr="10798281_19362653 (1)"/>
          <p:cNvPicPr preferRelativeResize="0"/>
          <p:nvPr/>
        </p:nvPicPr>
        <p:blipFill rotWithShape="1">
          <a:blip r:embed="rId3">
            <a:alphaModFix/>
          </a:blip>
          <a:srcRect/>
          <a:stretch/>
        </p:blipFill>
        <p:spPr>
          <a:xfrm>
            <a:off x="6795770" y="2489835"/>
            <a:ext cx="5280660" cy="3520440"/>
          </a:xfrm>
          <a:prstGeom prst="rect">
            <a:avLst/>
          </a:prstGeom>
          <a:noFill/>
          <a:ln>
            <a:noFill/>
          </a:ln>
        </p:spPr>
      </p:pic>
      <p:pic>
        <p:nvPicPr>
          <p:cNvPr id="90" name="Google Shape;90;p1" descr="Aitrich-Logo-Transparent-BG-1536x504"/>
          <p:cNvPicPr preferRelativeResize="0"/>
          <p:nvPr/>
        </p:nvPicPr>
        <p:blipFill rotWithShape="1">
          <a:blip r:embed="rId4">
            <a:alphaModFix/>
          </a:blip>
          <a:srcRect/>
          <a:stretch/>
        </p:blipFill>
        <p:spPr>
          <a:xfrm>
            <a:off x="140970" y="6254750"/>
            <a:ext cx="1383030" cy="46926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838200" y="3003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Contents</a:t>
            </a:r>
            <a:endParaRPr>
              <a:solidFill>
                <a:schemeClr val="dk2"/>
              </a:solidFill>
              <a:latin typeface="Bell MT"/>
              <a:ea typeface="Bell MT"/>
              <a:cs typeface="Bell MT"/>
              <a:sym typeface="Bell MT"/>
            </a:endParaRPr>
          </a:p>
        </p:txBody>
      </p:sp>
      <p:sp>
        <p:nvSpPr>
          <p:cNvPr id="96" name="Google Shape;96;p2"/>
          <p:cNvSpPr/>
          <p:nvPr/>
        </p:nvSpPr>
        <p:spPr>
          <a:xfrm>
            <a:off x="1494155" y="2676525"/>
            <a:ext cx="899795" cy="725170"/>
          </a:xfrm>
          <a:prstGeom prst="diamond">
            <a:avLst/>
          </a:prstGeom>
          <a:solidFill>
            <a:srgbClr val="494B4E"/>
          </a:solidFill>
          <a:ln>
            <a:noFill/>
          </a:ln>
          <a:effectLst>
            <a:outerShdw blurRad="431800" sx="104000" sy="104000" algn="ctr" rotWithShape="0">
              <a:schemeClr val="dk2">
                <a:alpha val="24705"/>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0" i="0" u="none" strike="noStrike" cap="none">
                <a:solidFill>
                  <a:schemeClr val="lt1"/>
                </a:solidFill>
                <a:latin typeface="Calibri"/>
                <a:ea typeface="Calibri"/>
                <a:cs typeface="Calibri"/>
                <a:sym typeface="Calibri"/>
              </a:rPr>
              <a:t>02</a:t>
            </a:r>
            <a:endParaRPr sz="1800" b="0" i="0" u="none" strike="noStrike" cap="none">
              <a:solidFill>
                <a:schemeClr val="lt1"/>
              </a:solidFill>
              <a:latin typeface="Calibri"/>
              <a:ea typeface="Calibri"/>
              <a:cs typeface="Calibri"/>
              <a:sym typeface="Calibri"/>
            </a:endParaRPr>
          </a:p>
        </p:txBody>
      </p:sp>
      <p:sp>
        <p:nvSpPr>
          <p:cNvPr id="97" name="Google Shape;97;p2"/>
          <p:cNvSpPr/>
          <p:nvPr/>
        </p:nvSpPr>
        <p:spPr>
          <a:xfrm>
            <a:off x="1462405" y="3595370"/>
            <a:ext cx="838200" cy="694055"/>
          </a:xfrm>
          <a:prstGeom prst="diamond">
            <a:avLst/>
          </a:prstGeom>
          <a:solidFill>
            <a:srgbClr val="494B4E"/>
          </a:solidFill>
          <a:ln>
            <a:noFill/>
          </a:ln>
          <a:effectLst>
            <a:outerShdw blurRad="431800" sx="104000" sy="104000" algn="ctr" rotWithShape="0">
              <a:schemeClr val="dk2">
                <a:alpha val="24705"/>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0" i="0" u="none" strike="noStrike" cap="none">
                <a:solidFill>
                  <a:schemeClr val="lt1"/>
                </a:solidFill>
                <a:latin typeface="Calibri"/>
                <a:ea typeface="Calibri"/>
                <a:cs typeface="Calibri"/>
                <a:sym typeface="Calibri"/>
              </a:rPr>
              <a:t>03</a:t>
            </a:r>
            <a:endParaRPr sz="1800" b="0" i="0" u="none" strike="noStrike" cap="none">
              <a:solidFill>
                <a:schemeClr val="lt1"/>
              </a:solidFill>
              <a:latin typeface="Calibri"/>
              <a:ea typeface="Calibri"/>
              <a:cs typeface="Calibri"/>
              <a:sym typeface="Calibri"/>
            </a:endParaRPr>
          </a:p>
        </p:txBody>
      </p:sp>
      <p:sp>
        <p:nvSpPr>
          <p:cNvPr id="98" name="Google Shape;98;p2"/>
          <p:cNvSpPr/>
          <p:nvPr/>
        </p:nvSpPr>
        <p:spPr>
          <a:xfrm>
            <a:off x="1447165" y="4346575"/>
            <a:ext cx="884555" cy="794385"/>
          </a:xfrm>
          <a:prstGeom prst="diamond">
            <a:avLst/>
          </a:prstGeom>
          <a:solidFill>
            <a:srgbClr val="494B4E"/>
          </a:solidFill>
          <a:ln>
            <a:noFill/>
          </a:ln>
          <a:effectLst>
            <a:outerShdw blurRad="431800" sx="104000" sy="104000" algn="ctr" rotWithShape="0">
              <a:schemeClr val="dk2">
                <a:alpha val="24705"/>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0" i="0" u="none" strike="noStrike" cap="none">
                <a:solidFill>
                  <a:schemeClr val="lt1"/>
                </a:solidFill>
                <a:latin typeface="Calibri"/>
                <a:ea typeface="Calibri"/>
                <a:cs typeface="Calibri"/>
                <a:sym typeface="Calibri"/>
              </a:rPr>
              <a:t>04</a:t>
            </a:r>
            <a:endParaRPr sz="1800" b="0" i="0" u="none" strike="noStrike" cap="none">
              <a:solidFill>
                <a:schemeClr val="lt1"/>
              </a:solidFill>
              <a:latin typeface="Calibri"/>
              <a:ea typeface="Calibri"/>
              <a:cs typeface="Calibri"/>
              <a:sym typeface="Calibri"/>
            </a:endParaRPr>
          </a:p>
        </p:txBody>
      </p:sp>
      <p:sp>
        <p:nvSpPr>
          <p:cNvPr id="99" name="Google Shape;99;p2"/>
          <p:cNvSpPr txBox="1"/>
          <p:nvPr/>
        </p:nvSpPr>
        <p:spPr>
          <a:xfrm>
            <a:off x="2503805" y="1830070"/>
            <a:ext cx="4297045" cy="1014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i="0" u="none" strike="noStrike" cap="none">
                <a:solidFill>
                  <a:srgbClr val="2E75B5"/>
                </a:solidFill>
                <a:latin typeface="Calibri"/>
                <a:ea typeface="Calibri"/>
                <a:cs typeface="Calibri"/>
                <a:sym typeface="Calibri"/>
              </a:rPr>
              <a:t>How we develop web applications today?</a:t>
            </a:r>
            <a:endParaRPr sz="2000" b="1">
              <a:solidFill>
                <a:srgbClr val="2E75B5"/>
              </a:solidFill>
              <a:latin typeface="Calibri"/>
              <a:ea typeface="Calibri"/>
              <a:cs typeface="Calibri"/>
              <a:sym typeface="Calibri"/>
            </a:endParaRPr>
          </a:p>
          <a:p>
            <a:pPr marL="0" marR="0" lvl="0" indent="0" algn="l" rtl="0">
              <a:spcBef>
                <a:spcPts val="0"/>
              </a:spcBef>
              <a:spcAft>
                <a:spcPts val="0"/>
              </a:spcAft>
              <a:buNone/>
            </a:pPr>
            <a:endParaRPr sz="2000" b="1">
              <a:solidFill>
                <a:srgbClr val="2E75B5"/>
              </a:solidFill>
              <a:latin typeface="Calibri"/>
              <a:ea typeface="Calibri"/>
              <a:cs typeface="Calibri"/>
              <a:sym typeface="Calibri"/>
            </a:endParaRPr>
          </a:p>
        </p:txBody>
      </p:sp>
      <p:sp>
        <p:nvSpPr>
          <p:cNvPr id="100" name="Google Shape;100;p2"/>
          <p:cNvSpPr txBox="1"/>
          <p:nvPr/>
        </p:nvSpPr>
        <p:spPr>
          <a:xfrm>
            <a:off x="2510790" y="2844800"/>
            <a:ext cx="4004310"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2E75B5"/>
                </a:solidFill>
                <a:latin typeface="Calibri"/>
                <a:ea typeface="Calibri"/>
                <a:cs typeface="Calibri"/>
                <a:sym typeface="Calibri"/>
              </a:rPr>
              <a:t>Blazor</a:t>
            </a:r>
            <a:endParaRPr sz="2000" b="1">
              <a:solidFill>
                <a:srgbClr val="2E75B5"/>
              </a:solidFill>
              <a:latin typeface="Calibri"/>
              <a:ea typeface="Calibri"/>
              <a:cs typeface="Calibri"/>
              <a:sym typeface="Calibri"/>
            </a:endParaRPr>
          </a:p>
          <a:p>
            <a:pPr marL="0" marR="0" lvl="0" indent="0" algn="l" rtl="0">
              <a:spcBef>
                <a:spcPts val="0"/>
              </a:spcBef>
              <a:spcAft>
                <a:spcPts val="0"/>
              </a:spcAft>
              <a:buNone/>
            </a:pPr>
            <a:endParaRPr sz="2000" b="1">
              <a:solidFill>
                <a:srgbClr val="2E75B5"/>
              </a:solidFill>
              <a:latin typeface="Calibri"/>
              <a:ea typeface="Calibri"/>
              <a:cs typeface="Calibri"/>
              <a:sym typeface="Calibri"/>
            </a:endParaRPr>
          </a:p>
        </p:txBody>
      </p:sp>
      <p:sp>
        <p:nvSpPr>
          <p:cNvPr id="101" name="Google Shape;101;p2"/>
          <p:cNvSpPr txBox="1"/>
          <p:nvPr/>
        </p:nvSpPr>
        <p:spPr>
          <a:xfrm>
            <a:off x="2510790" y="3665855"/>
            <a:ext cx="4575175"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2E75B5"/>
                </a:solidFill>
                <a:latin typeface="Calibri"/>
                <a:ea typeface="Calibri"/>
                <a:cs typeface="Calibri"/>
                <a:sym typeface="Calibri"/>
              </a:rPr>
              <a:t>How can a browser execute C# code?</a:t>
            </a:r>
            <a:endParaRPr sz="2000" b="1">
              <a:solidFill>
                <a:srgbClr val="2E75B5"/>
              </a:solidFill>
              <a:latin typeface="Calibri"/>
              <a:ea typeface="Calibri"/>
              <a:cs typeface="Calibri"/>
              <a:sym typeface="Calibri"/>
            </a:endParaRPr>
          </a:p>
        </p:txBody>
      </p:sp>
      <p:sp>
        <p:nvSpPr>
          <p:cNvPr id="102" name="Google Shape;102;p2"/>
          <p:cNvSpPr txBox="1"/>
          <p:nvPr/>
        </p:nvSpPr>
        <p:spPr>
          <a:xfrm>
            <a:off x="2497455" y="5389245"/>
            <a:ext cx="4396105"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2E75B5"/>
              </a:buClr>
              <a:buSzPts val="2000"/>
              <a:buFont typeface="Calibri"/>
              <a:buNone/>
            </a:pPr>
            <a:r>
              <a:rPr lang="en-GB" sz="2000" b="1">
                <a:solidFill>
                  <a:srgbClr val="2E75B5"/>
                </a:solidFill>
                <a:latin typeface="Calibri"/>
                <a:ea typeface="Calibri"/>
                <a:cs typeface="Calibri"/>
                <a:sym typeface="Calibri"/>
              </a:rPr>
              <a:t>Blazor Hosting Models</a:t>
            </a:r>
            <a:endParaRPr sz="2000" b="1">
              <a:solidFill>
                <a:srgbClr val="2E75B5"/>
              </a:solidFill>
              <a:latin typeface="Calibri"/>
              <a:ea typeface="Calibri"/>
              <a:cs typeface="Calibri"/>
              <a:sym typeface="Calibri"/>
            </a:endParaRPr>
          </a:p>
        </p:txBody>
      </p:sp>
      <p:sp>
        <p:nvSpPr>
          <p:cNvPr id="103" name="Google Shape;103;p2"/>
          <p:cNvSpPr/>
          <p:nvPr/>
        </p:nvSpPr>
        <p:spPr>
          <a:xfrm>
            <a:off x="7019290" y="1788160"/>
            <a:ext cx="916940" cy="725170"/>
          </a:xfrm>
          <a:prstGeom prst="diamond">
            <a:avLst/>
          </a:prstGeom>
          <a:solidFill>
            <a:srgbClr val="494B4E"/>
          </a:solidFill>
          <a:ln>
            <a:noFill/>
          </a:ln>
          <a:effectLst>
            <a:outerShdw blurRad="431800" sx="104000" sy="104000" algn="ctr" rotWithShape="0">
              <a:schemeClr val="dk2">
                <a:alpha val="24705"/>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lt1"/>
                </a:solidFill>
                <a:latin typeface="Calibri"/>
                <a:ea typeface="Calibri"/>
                <a:cs typeface="Calibri"/>
                <a:sym typeface="Calibri"/>
              </a:rPr>
              <a:t>06</a:t>
            </a:r>
            <a:endParaRPr sz="1800">
              <a:solidFill>
                <a:schemeClr val="lt1"/>
              </a:solidFill>
              <a:latin typeface="Calibri"/>
              <a:ea typeface="Calibri"/>
              <a:cs typeface="Calibri"/>
              <a:sym typeface="Calibri"/>
            </a:endParaRPr>
          </a:p>
        </p:txBody>
      </p:sp>
      <p:sp>
        <p:nvSpPr>
          <p:cNvPr id="104" name="Google Shape;104;p2"/>
          <p:cNvSpPr txBox="1"/>
          <p:nvPr/>
        </p:nvSpPr>
        <p:spPr>
          <a:xfrm>
            <a:off x="8154670" y="3772535"/>
            <a:ext cx="3500755"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2E75B5"/>
              </a:buClr>
              <a:buSzPts val="2000"/>
              <a:buFont typeface="Calibri"/>
              <a:buNone/>
            </a:pPr>
            <a:r>
              <a:rPr lang="en-GB" sz="2000" b="1">
                <a:solidFill>
                  <a:srgbClr val="2E75B5"/>
                </a:solidFill>
                <a:latin typeface="Calibri"/>
                <a:ea typeface="Calibri"/>
                <a:cs typeface="Calibri"/>
                <a:sym typeface="Calibri"/>
              </a:rPr>
              <a:t>Razor project structure</a:t>
            </a:r>
            <a:br>
              <a:rPr lang="en-GB" sz="2000" b="1">
                <a:solidFill>
                  <a:srgbClr val="2E75B5"/>
                </a:solidFill>
                <a:latin typeface="Calibri"/>
                <a:ea typeface="Calibri"/>
                <a:cs typeface="Calibri"/>
                <a:sym typeface="Calibri"/>
              </a:rPr>
            </a:br>
            <a:endParaRPr sz="2000" b="1">
              <a:solidFill>
                <a:srgbClr val="2E75B5"/>
              </a:solidFill>
              <a:latin typeface="Calibri"/>
              <a:ea typeface="Calibri"/>
              <a:cs typeface="Calibri"/>
              <a:sym typeface="Calibri"/>
            </a:endParaRPr>
          </a:p>
        </p:txBody>
      </p:sp>
      <p:pic>
        <p:nvPicPr>
          <p:cNvPr id="105" name="Google Shape;105;p2" descr="Aitrich-Logo-Transparent-BG-1536x504"/>
          <p:cNvPicPr preferRelativeResize="0"/>
          <p:nvPr/>
        </p:nvPicPr>
        <p:blipFill rotWithShape="1">
          <a:blip r:embed="rId3">
            <a:alphaModFix/>
          </a:blip>
          <a:srcRect/>
          <a:stretch/>
        </p:blipFill>
        <p:spPr>
          <a:xfrm>
            <a:off x="111125" y="6254750"/>
            <a:ext cx="1383030" cy="469265"/>
          </a:xfrm>
          <a:prstGeom prst="rect">
            <a:avLst/>
          </a:prstGeom>
          <a:noFill/>
          <a:ln>
            <a:noFill/>
          </a:ln>
        </p:spPr>
      </p:pic>
      <p:sp>
        <p:nvSpPr>
          <p:cNvPr id="106" name="Google Shape;106;p2"/>
          <p:cNvSpPr/>
          <p:nvPr/>
        </p:nvSpPr>
        <p:spPr>
          <a:xfrm>
            <a:off x="7085965" y="3592195"/>
            <a:ext cx="916940" cy="755015"/>
          </a:xfrm>
          <a:prstGeom prst="diamond">
            <a:avLst/>
          </a:prstGeom>
          <a:solidFill>
            <a:srgbClr val="494B4E"/>
          </a:solidFill>
          <a:ln>
            <a:noFill/>
          </a:ln>
          <a:effectLst>
            <a:outerShdw blurRad="431800" sx="104000" sy="104000" algn="ctr" rotWithShape="0">
              <a:schemeClr val="dk2">
                <a:alpha val="24705"/>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lt1"/>
                </a:solidFill>
                <a:latin typeface="Calibri"/>
                <a:ea typeface="Calibri"/>
                <a:cs typeface="Calibri"/>
                <a:sym typeface="Calibri"/>
              </a:rPr>
              <a:t>08</a:t>
            </a:r>
            <a:endParaRPr sz="1800">
              <a:solidFill>
                <a:schemeClr val="lt1"/>
              </a:solidFill>
              <a:latin typeface="Calibri"/>
              <a:ea typeface="Calibri"/>
              <a:cs typeface="Calibri"/>
              <a:sym typeface="Calibri"/>
            </a:endParaRPr>
          </a:p>
        </p:txBody>
      </p:sp>
      <p:sp>
        <p:nvSpPr>
          <p:cNvPr id="107" name="Google Shape;107;p2"/>
          <p:cNvSpPr/>
          <p:nvPr/>
        </p:nvSpPr>
        <p:spPr>
          <a:xfrm>
            <a:off x="1431290" y="5212080"/>
            <a:ext cx="900430" cy="725170"/>
          </a:xfrm>
          <a:prstGeom prst="diamond">
            <a:avLst/>
          </a:prstGeom>
          <a:solidFill>
            <a:srgbClr val="494B4E"/>
          </a:solidFill>
          <a:ln>
            <a:noFill/>
          </a:ln>
          <a:effectLst>
            <a:outerShdw blurRad="431800" sx="104000" sy="104000" algn="ctr" rotWithShape="0">
              <a:schemeClr val="dk2">
                <a:alpha val="24705"/>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lt1"/>
                </a:solidFill>
                <a:latin typeface="Calibri"/>
                <a:ea typeface="Calibri"/>
                <a:cs typeface="Calibri"/>
                <a:sym typeface="Calibri"/>
              </a:rPr>
              <a:t>05</a:t>
            </a:r>
            <a:endParaRPr sz="1800">
              <a:solidFill>
                <a:schemeClr val="lt1"/>
              </a:solidFill>
              <a:latin typeface="Calibri"/>
              <a:ea typeface="Calibri"/>
              <a:cs typeface="Calibri"/>
              <a:sym typeface="Calibri"/>
            </a:endParaRPr>
          </a:p>
        </p:txBody>
      </p:sp>
      <p:sp>
        <p:nvSpPr>
          <p:cNvPr id="108" name="Google Shape;108;p2"/>
          <p:cNvSpPr txBox="1"/>
          <p:nvPr/>
        </p:nvSpPr>
        <p:spPr>
          <a:xfrm>
            <a:off x="2534285" y="4521835"/>
            <a:ext cx="3893185"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2E75B5"/>
                </a:solidFill>
                <a:latin typeface="Calibri"/>
                <a:ea typeface="Calibri"/>
                <a:cs typeface="Calibri"/>
                <a:sym typeface="Calibri"/>
              </a:rPr>
              <a:t>How Create a Blazor App?</a:t>
            </a:r>
            <a:endParaRPr sz="2000" b="1">
              <a:solidFill>
                <a:srgbClr val="2E75B5"/>
              </a:solidFill>
              <a:latin typeface="Calibri"/>
              <a:ea typeface="Calibri"/>
              <a:cs typeface="Calibri"/>
              <a:sym typeface="Calibri"/>
            </a:endParaRPr>
          </a:p>
          <a:p>
            <a:pPr marL="0" marR="0" lvl="0" indent="0" algn="l" rtl="0">
              <a:spcBef>
                <a:spcPts val="0"/>
              </a:spcBef>
              <a:spcAft>
                <a:spcPts val="0"/>
              </a:spcAft>
              <a:buNone/>
            </a:pPr>
            <a:endParaRPr sz="2000" b="1">
              <a:solidFill>
                <a:srgbClr val="2E75B5"/>
              </a:solidFill>
              <a:latin typeface="Calibri"/>
              <a:ea typeface="Calibri"/>
              <a:cs typeface="Calibri"/>
              <a:sym typeface="Calibri"/>
            </a:endParaRPr>
          </a:p>
        </p:txBody>
      </p:sp>
      <p:sp>
        <p:nvSpPr>
          <p:cNvPr id="109" name="Google Shape;109;p2"/>
          <p:cNvSpPr/>
          <p:nvPr/>
        </p:nvSpPr>
        <p:spPr>
          <a:xfrm>
            <a:off x="1462405" y="1757680"/>
            <a:ext cx="916940" cy="725170"/>
          </a:xfrm>
          <a:prstGeom prst="diamond">
            <a:avLst/>
          </a:prstGeom>
          <a:solidFill>
            <a:srgbClr val="494B4E"/>
          </a:solidFill>
          <a:ln>
            <a:noFill/>
          </a:ln>
          <a:effectLst>
            <a:outerShdw blurRad="431800" sx="104000" sy="104000" algn="ctr" rotWithShape="0">
              <a:schemeClr val="dk2">
                <a:alpha val="24705"/>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lt1"/>
                </a:solidFill>
                <a:latin typeface="Calibri"/>
                <a:ea typeface="Calibri"/>
                <a:cs typeface="Calibri"/>
                <a:sym typeface="Calibri"/>
              </a:rPr>
              <a:t>01</a:t>
            </a:r>
            <a:endParaRPr sz="1800">
              <a:solidFill>
                <a:schemeClr val="lt1"/>
              </a:solidFill>
              <a:latin typeface="Calibri"/>
              <a:ea typeface="Calibri"/>
              <a:cs typeface="Calibri"/>
              <a:sym typeface="Calibri"/>
            </a:endParaRPr>
          </a:p>
        </p:txBody>
      </p:sp>
      <p:sp>
        <p:nvSpPr>
          <p:cNvPr id="110" name="Google Shape;110;p2"/>
          <p:cNvSpPr/>
          <p:nvPr/>
        </p:nvSpPr>
        <p:spPr>
          <a:xfrm>
            <a:off x="7085965" y="2675255"/>
            <a:ext cx="916940" cy="755015"/>
          </a:xfrm>
          <a:prstGeom prst="diamond">
            <a:avLst/>
          </a:prstGeom>
          <a:solidFill>
            <a:srgbClr val="494B4E"/>
          </a:solidFill>
          <a:ln>
            <a:noFill/>
          </a:ln>
          <a:effectLst>
            <a:outerShdw blurRad="431800" sx="104000" sy="104000" algn="ctr" rotWithShape="0">
              <a:schemeClr val="dk2">
                <a:alpha val="24705"/>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lt1"/>
                </a:solidFill>
                <a:latin typeface="Calibri"/>
                <a:ea typeface="Calibri"/>
                <a:cs typeface="Calibri"/>
                <a:sym typeface="Calibri"/>
              </a:rPr>
              <a:t>07</a:t>
            </a:r>
            <a:endParaRPr sz="1800">
              <a:solidFill>
                <a:schemeClr val="lt1"/>
              </a:solidFill>
              <a:latin typeface="Calibri"/>
              <a:ea typeface="Calibri"/>
              <a:cs typeface="Calibri"/>
              <a:sym typeface="Calibri"/>
            </a:endParaRPr>
          </a:p>
        </p:txBody>
      </p:sp>
      <p:sp>
        <p:nvSpPr>
          <p:cNvPr id="111" name="Google Shape;111;p2"/>
          <p:cNvSpPr/>
          <p:nvPr/>
        </p:nvSpPr>
        <p:spPr>
          <a:xfrm>
            <a:off x="7085965" y="4479290"/>
            <a:ext cx="916940" cy="755015"/>
          </a:xfrm>
          <a:prstGeom prst="diamond">
            <a:avLst/>
          </a:prstGeom>
          <a:solidFill>
            <a:srgbClr val="494B4E"/>
          </a:solidFill>
          <a:ln>
            <a:noFill/>
          </a:ln>
          <a:effectLst>
            <a:outerShdw blurRad="431800" sx="104000" sy="104000" algn="ctr" rotWithShape="0">
              <a:schemeClr val="dk2">
                <a:alpha val="24705"/>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lt1"/>
                </a:solidFill>
                <a:latin typeface="Calibri"/>
                <a:ea typeface="Calibri"/>
                <a:cs typeface="Calibri"/>
                <a:sym typeface="Calibri"/>
              </a:rPr>
              <a:t>09</a:t>
            </a:r>
            <a:endParaRPr sz="1800">
              <a:solidFill>
                <a:schemeClr val="lt1"/>
              </a:solidFill>
              <a:latin typeface="Calibri"/>
              <a:ea typeface="Calibri"/>
              <a:cs typeface="Calibri"/>
              <a:sym typeface="Calibri"/>
            </a:endParaRPr>
          </a:p>
        </p:txBody>
      </p:sp>
      <p:sp>
        <p:nvSpPr>
          <p:cNvPr id="112" name="Google Shape;112;p2"/>
          <p:cNvSpPr txBox="1"/>
          <p:nvPr/>
        </p:nvSpPr>
        <p:spPr>
          <a:xfrm>
            <a:off x="8154670" y="4657725"/>
            <a:ext cx="3753485"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2E75B5"/>
                </a:solidFill>
                <a:latin typeface="Calibri"/>
                <a:ea typeface="Calibri"/>
                <a:cs typeface="Calibri"/>
                <a:sym typeface="Calibri"/>
              </a:rPr>
              <a:t>ASP.NET Core razor components</a:t>
            </a:r>
            <a:endParaRPr sz="2000" b="1">
              <a:solidFill>
                <a:srgbClr val="2E75B5"/>
              </a:solidFill>
              <a:latin typeface="Calibri"/>
              <a:ea typeface="Calibri"/>
              <a:cs typeface="Calibri"/>
              <a:sym typeface="Calibri"/>
            </a:endParaRPr>
          </a:p>
        </p:txBody>
      </p:sp>
      <p:sp>
        <p:nvSpPr>
          <p:cNvPr id="113" name="Google Shape;113;p2"/>
          <p:cNvSpPr txBox="1"/>
          <p:nvPr/>
        </p:nvSpPr>
        <p:spPr>
          <a:xfrm>
            <a:off x="8221345" y="1945640"/>
            <a:ext cx="3686810" cy="6451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a:solidFill>
                  <a:srgbClr val="2E75B5"/>
                </a:solidFill>
                <a:latin typeface="Calibri"/>
                <a:ea typeface="Calibri"/>
                <a:cs typeface="Calibri"/>
                <a:sym typeface="Calibri"/>
              </a:rPr>
              <a:t>Blazor WebAssembly</a:t>
            </a:r>
            <a:endParaRPr sz="1800" b="1">
              <a:solidFill>
                <a:srgbClr val="2E75B5"/>
              </a:solidFill>
              <a:latin typeface="Calibri"/>
              <a:ea typeface="Calibri"/>
              <a:cs typeface="Calibri"/>
              <a:sym typeface="Calibri"/>
            </a:endParaRPr>
          </a:p>
          <a:p>
            <a:pPr marL="0" marR="0" lvl="0" indent="0" algn="l" rtl="0">
              <a:spcBef>
                <a:spcPts val="0"/>
              </a:spcBef>
              <a:spcAft>
                <a:spcPts val="0"/>
              </a:spcAft>
              <a:buNone/>
            </a:pPr>
            <a:endParaRPr sz="1800" b="1">
              <a:solidFill>
                <a:srgbClr val="2E75B5"/>
              </a:solidFill>
              <a:latin typeface="Calibri"/>
              <a:ea typeface="Calibri"/>
              <a:cs typeface="Calibri"/>
              <a:sym typeface="Calibri"/>
            </a:endParaRPr>
          </a:p>
        </p:txBody>
      </p:sp>
      <p:sp>
        <p:nvSpPr>
          <p:cNvPr id="114" name="Google Shape;114;p2"/>
          <p:cNvSpPr txBox="1"/>
          <p:nvPr/>
        </p:nvSpPr>
        <p:spPr>
          <a:xfrm>
            <a:off x="8154670" y="2858770"/>
            <a:ext cx="2839085" cy="6451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a:solidFill>
                  <a:srgbClr val="2E75B5"/>
                </a:solidFill>
                <a:latin typeface="Calibri"/>
                <a:ea typeface="Calibri"/>
                <a:cs typeface="Calibri"/>
                <a:sym typeface="Calibri"/>
              </a:rPr>
              <a:t>Server side hosting Model</a:t>
            </a:r>
            <a:endParaRPr sz="1800" b="1">
              <a:solidFill>
                <a:schemeClr val="dk2"/>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anim calcmode="lin" valueType="num">
                                      <p:cBhvr additive="base">
                                        <p:cTn id="7" dur="500"/>
                                        <p:tgtEl>
                                          <p:spTgt spid="96"/>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97"/>
                                        </p:tgtEl>
                                        <p:attrNameLst>
                                          <p:attrName>style.visibility</p:attrName>
                                        </p:attrNameLst>
                                      </p:cBhvr>
                                      <p:to>
                                        <p:strVal val="visible"/>
                                      </p:to>
                                    </p:set>
                                    <p:anim calcmode="lin" valueType="num">
                                      <p:cBhvr additive="base">
                                        <p:cTn id="10" dur="500"/>
                                        <p:tgtEl>
                                          <p:spTgt spid="97"/>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98"/>
                                        </p:tgtEl>
                                        <p:attrNameLst>
                                          <p:attrName>style.visibility</p:attrName>
                                        </p:attrNameLst>
                                      </p:cBhvr>
                                      <p:to>
                                        <p:strVal val="visible"/>
                                      </p:to>
                                    </p:set>
                                    <p:anim calcmode="lin" valueType="num">
                                      <p:cBhvr additive="base">
                                        <p:cTn id="13" dur="500"/>
                                        <p:tgtEl>
                                          <p:spTgt spid="98"/>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99"/>
                                        </p:tgtEl>
                                        <p:attrNameLst>
                                          <p:attrName>style.visibility</p:attrName>
                                        </p:attrNameLst>
                                      </p:cBhvr>
                                      <p:to>
                                        <p:strVal val="visible"/>
                                      </p:to>
                                    </p:set>
                                    <p:anim calcmode="lin" valueType="num">
                                      <p:cBhvr additive="base">
                                        <p:cTn id="16" dur="500"/>
                                        <p:tgtEl>
                                          <p:spTgt spid="99"/>
                                        </p:tgtEl>
                                        <p:attrNameLst>
                                          <p:attrName>ppt_y</p:attrName>
                                        </p:attrNameLst>
                                      </p:cBhvr>
                                      <p:tavLst>
                                        <p:tav tm="0">
                                          <p:val>
                                            <p:strVal val="#ppt_y+1"/>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0"/>
                                        </p:tgtEl>
                                        <p:attrNameLst>
                                          <p:attrName>style.visibility</p:attrName>
                                        </p:attrNameLst>
                                      </p:cBhvr>
                                      <p:to>
                                        <p:strVal val="visible"/>
                                      </p:to>
                                    </p:set>
                                    <p:anim calcmode="lin" valueType="num">
                                      <p:cBhvr additive="base">
                                        <p:cTn id="19" dur="500"/>
                                        <p:tgtEl>
                                          <p:spTgt spid="100"/>
                                        </p:tgtEl>
                                        <p:attrNameLst>
                                          <p:attrName>ppt_y</p:attrName>
                                        </p:attrNameLst>
                                      </p:cBhvr>
                                      <p:tavLst>
                                        <p:tav tm="0">
                                          <p:val>
                                            <p:strVal val="#ppt_y+1"/>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101"/>
                                        </p:tgtEl>
                                        <p:attrNameLst>
                                          <p:attrName>style.visibility</p:attrName>
                                        </p:attrNameLst>
                                      </p:cBhvr>
                                      <p:to>
                                        <p:strVal val="visible"/>
                                      </p:to>
                                    </p:set>
                                    <p:anim calcmode="lin" valueType="num">
                                      <p:cBhvr additive="base">
                                        <p:cTn id="22" dur="500"/>
                                        <p:tgtEl>
                                          <p:spTgt spid="101"/>
                                        </p:tgtEl>
                                        <p:attrNameLst>
                                          <p:attrName>ppt_y</p:attrName>
                                        </p:attrNameLst>
                                      </p:cBhvr>
                                      <p:tavLst>
                                        <p:tav tm="0">
                                          <p:val>
                                            <p:strVal val="#ppt_y+1"/>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02"/>
                                        </p:tgtEl>
                                        <p:attrNameLst>
                                          <p:attrName>style.visibility</p:attrName>
                                        </p:attrNameLst>
                                      </p:cBhvr>
                                      <p:to>
                                        <p:strVal val="visible"/>
                                      </p:to>
                                    </p:set>
                                    <p:anim calcmode="lin" valueType="num">
                                      <p:cBhvr additive="base">
                                        <p:cTn id="25" dur="500"/>
                                        <p:tgtEl>
                                          <p:spTgt spid="102"/>
                                        </p:tgtEl>
                                        <p:attrNameLst>
                                          <p:attrName>ppt_y</p:attrName>
                                        </p:attrNameLst>
                                      </p:cBhvr>
                                      <p:tavLst>
                                        <p:tav tm="0">
                                          <p:val>
                                            <p:strVal val="#ppt_y+1"/>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07"/>
                                        </p:tgtEl>
                                        <p:attrNameLst>
                                          <p:attrName>style.visibility</p:attrName>
                                        </p:attrNameLst>
                                      </p:cBhvr>
                                      <p:to>
                                        <p:strVal val="visible"/>
                                      </p:to>
                                    </p:set>
                                    <p:anim calcmode="lin" valueType="num">
                                      <p:cBhvr additive="base">
                                        <p:cTn id="28" dur="500"/>
                                        <p:tgtEl>
                                          <p:spTgt spid="107"/>
                                        </p:tgtEl>
                                        <p:attrNameLst>
                                          <p:attrName>ppt_y</p:attrName>
                                        </p:attrNameLst>
                                      </p:cBhvr>
                                      <p:tavLst>
                                        <p:tav tm="0">
                                          <p:val>
                                            <p:strVal val="#ppt_y+1"/>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8"/>
                                        </p:tgtEl>
                                        <p:attrNameLst>
                                          <p:attrName>style.visibility</p:attrName>
                                        </p:attrNameLst>
                                      </p:cBhvr>
                                      <p:to>
                                        <p:strVal val="visible"/>
                                      </p:to>
                                    </p:set>
                                    <p:anim calcmode="lin" valueType="num">
                                      <p:cBhvr additive="base">
                                        <p:cTn id="31" dur="500"/>
                                        <p:tgtEl>
                                          <p:spTgt spid="108"/>
                                        </p:tgtEl>
                                        <p:attrNameLst>
                                          <p:attrName>ppt_y</p:attrName>
                                        </p:attrNameLst>
                                      </p:cBhvr>
                                      <p:tavLst>
                                        <p:tav tm="0">
                                          <p:val>
                                            <p:strVal val="#ppt_y+1"/>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109"/>
                                        </p:tgtEl>
                                        <p:attrNameLst>
                                          <p:attrName>style.visibility</p:attrName>
                                        </p:attrNameLst>
                                      </p:cBhvr>
                                      <p:to>
                                        <p:strVal val="visible"/>
                                      </p:to>
                                    </p:set>
                                    <p:anim calcmode="lin" valueType="num">
                                      <p:cBhvr additive="base">
                                        <p:cTn id="34" dur="500"/>
                                        <p:tgtEl>
                                          <p:spTgt spid="109"/>
                                        </p:tgtEl>
                                        <p:attrNameLst>
                                          <p:attrName>ppt_y</p:attrName>
                                        </p:attrNameLst>
                                      </p:cBhvr>
                                      <p:tavLst>
                                        <p:tav tm="0">
                                          <p:val>
                                            <p:strVal val="#ppt_y+1"/>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03"/>
                                        </p:tgtEl>
                                        <p:attrNameLst>
                                          <p:attrName>style.visibility</p:attrName>
                                        </p:attrNameLst>
                                      </p:cBhvr>
                                      <p:to>
                                        <p:strVal val="visible"/>
                                      </p:to>
                                    </p:set>
                                    <p:anim calcmode="lin" valueType="num">
                                      <p:cBhvr additive="base">
                                        <p:cTn id="37" dur="500"/>
                                        <p:tgtEl>
                                          <p:spTgt spid="103"/>
                                        </p:tgtEl>
                                        <p:attrNameLst>
                                          <p:attrName>ppt_y</p:attrName>
                                        </p:attrNameLst>
                                      </p:cBhvr>
                                      <p:tavLst>
                                        <p:tav tm="0">
                                          <p:val>
                                            <p:strVal val="#ppt_y+1"/>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113"/>
                                        </p:tgtEl>
                                        <p:attrNameLst>
                                          <p:attrName>style.visibility</p:attrName>
                                        </p:attrNameLst>
                                      </p:cBhvr>
                                      <p:to>
                                        <p:strVal val="visible"/>
                                      </p:to>
                                    </p:set>
                                    <p:anim calcmode="lin" valueType="num">
                                      <p:cBhvr additive="base">
                                        <p:cTn id="40" dur="500"/>
                                        <p:tgtEl>
                                          <p:spTgt spid="113"/>
                                        </p:tgtEl>
                                        <p:attrNameLst>
                                          <p:attrName>ppt_y</p:attrName>
                                        </p:attrNameLst>
                                      </p:cBhvr>
                                      <p:tavLst>
                                        <p:tav tm="0">
                                          <p:val>
                                            <p:strVal val="#ppt_y+1"/>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10"/>
                                        </p:tgtEl>
                                        <p:attrNameLst>
                                          <p:attrName>style.visibility</p:attrName>
                                        </p:attrNameLst>
                                      </p:cBhvr>
                                      <p:to>
                                        <p:strVal val="visible"/>
                                      </p:to>
                                    </p:set>
                                    <p:anim calcmode="lin" valueType="num">
                                      <p:cBhvr additive="base">
                                        <p:cTn id="43" dur="500"/>
                                        <p:tgtEl>
                                          <p:spTgt spid="110"/>
                                        </p:tgtEl>
                                        <p:attrNameLst>
                                          <p:attrName>ppt_y</p:attrName>
                                        </p:attrNameLst>
                                      </p:cBhvr>
                                      <p:tavLst>
                                        <p:tav tm="0">
                                          <p:val>
                                            <p:strVal val="#ppt_y+1"/>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114"/>
                                        </p:tgtEl>
                                        <p:attrNameLst>
                                          <p:attrName>style.visibility</p:attrName>
                                        </p:attrNameLst>
                                      </p:cBhvr>
                                      <p:to>
                                        <p:strVal val="visible"/>
                                      </p:to>
                                    </p:set>
                                    <p:anim calcmode="lin" valueType="num">
                                      <p:cBhvr additive="base">
                                        <p:cTn id="46" dur="500"/>
                                        <p:tgtEl>
                                          <p:spTgt spid="114"/>
                                        </p:tgtEl>
                                        <p:attrNameLst>
                                          <p:attrName>ppt_y</p:attrName>
                                        </p:attrNameLst>
                                      </p:cBhvr>
                                      <p:tavLst>
                                        <p:tav tm="0">
                                          <p:val>
                                            <p:strVal val="#ppt_y+1"/>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06"/>
                                        </p:tgtEl>
                                        <p:attrNameLst>
                                          <p:attrName>style.visibility</p:attrName>
                                        </p:attrNameLst>
                                      </p:cBhvr>
                                      <p:to>
                                        <p:strVal val="visible"/>
                                      </p:to>
                                    </p:set>
                                    <p:anim calcmode="lin" valueType="num">
                                      <p:cBhvr additive="base">
                                        <p:cTn id="49" dur="500"/>
                                        <p:tgtEl>
                                          <p:spTgt spid="106"/>
                                        </p:tgtEl>
                                        <p:attrNameLst>
                                          <p:attrName>ppt_y</p:attrName>
                                        </p:attrNameLst>
                                      </p:cBhvr>
                                      <p:tavLst>
                                        <p:tav tm="0">
                                          <p:val>
                                            <p:strVal val="#ppt_y+1"/>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104"/>
                                        </p:tgtEl>
                                        <p:attrNameLst>
                                          <p:attrName>style.visibility</p:attrName>
                                        </p:attrNameLst>
                                      </p:cBhvr>
                                      <p:to>
                                        <p:strVal val="visible"/>
                                      </p:to>
                                    </p:set>
                                    <p:anim calcmode="lin" valueType="num">
                                      <p:cBhvr additive="base">
                                        <p:cTn id="52" dur="500"/>
                                        <p:tgtEl>
                                          <p:spTgt spid="104"/>
                                        </p:tgtEl>
                                        <p:attrNameLst>
                                          <p:attrName>ppt_y</p:attrName>
                                        </p:attrNameLst>
                                      </p:cBhvr>
                                      <p:tavLst>
                                        <p:tav tm="0">
                                          <p:val>
                                            <p:strVal val="#ppt_y+1"/>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11"/>
                                        </p:tgtEl>
                                        <p:attrNameLst>
                                          <p:attrName>style.visibility</p:attrName>
                                        </p:attrNameLst>
                                      </p:cBhvr>
                                      <p:to>
                                        <p:strVal val="visible"/>
                                      </p:to>
                                    </p:set>
                                    <p:anim calcmode="lin" valueType="num">
                                      <p:cBhvr additive="base">
                                        <p:cTn id="55" dur="500"/>
                                        <p:tgtEl>
                                          <p:spTgt spid="111"/>
                                        </p:tgtEl>
                                        <p:attrNameLst>
                                          <p:attrName>ppt_y</p:attrName>
                                        </p:attrNameLst>
                                      </p:cBhvr>
                                      <p:tavLst>
                                        <p:tav tm="0">
                                          <p:val>
                                            <p:strVal val="#ppt_y+1"/>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112"/>
                                        </p:tgtEl>
                                        <p:attrNameLst>
                                          <p:attrName>style.visibility</p:attrName>
                                        </p:attrNameLst>
                                      </p:cBhvr>
                                      <p:to>
                                        <p:strVal val="visible"/>
                                      </p:to>
                                    </p:set>
                                    <p:anim calcmode="lin" valueType="num">
                                      <p:cBhvr additive="base">
                                        <p:cTn id="58" dur="500"/>
                                        <p:tgtEl>
                                          <p:spTgt spid="1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a:spLocks noGrp="1"/>
          </p:cNvSpPr>
          <p:nvPr>
            <p:ph type="title"/>
          </p:nvPr>
        </p:nvSpPr>
        <p:spPr>
          <a:xfrm>
            <a:off x="528320" y="365125"/>
            <a:ext cx="10825480" cy="13258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How we develop web applications today?</a:t>
            </a:r>
            <a:endParaRPr>
              <a:solidFill>
                <a:schemeClr val="dk2"/>
              </a:solidFill>
              <a:latin typeface="Bell MT"/>
              <a:ea typeface="Bell MT"/>
              <a:cs typeface="Bell MT"/>
              <a:sym typeface="Bell MT"/>
            </a:endParaRPr>
          </a:p>
        </p:txBody>
      </p:sp>
      <p:pic>
        <p:nvPicPr>
          <p:cNvPr id="120" name="Google Shape;120;p3" descr="what is blazor"/>
          <p:cNvPicPr preferRelativeResize="0">
            <a:picLocks noGrp="1"/>
          </p:cNvPicPr>
          <p:nvPr>
            <p:ph type="body" idx="1"/>
          </p:nvPr>
        </p:nvPicPr>
        <p:blipFill rotWithShape="1">
          <a:blip r:embed="rId3">
            <a:alphaModFix/>
          </a:blip>
          <a:srcRect/>
          <a:stretch/>
        </p:blipFill>
        <p:spPr>
          <a:xfrm>
            <a:off x="7153275" y="2684145"/>
            <a:ext cx="4798060" cy="2362200"/>
          </a:xfrm>
          <a:prstGeom prst="rect">
            <a:avLst/>
          </a:prstGeom>
          <a:noFill/>
          <a:ln>
            <a:noFill/>
          </a:ln>
        </p:spPr>
      </p:pic>
      <p:sp>
        <p:nvSpPr>
          <p:cNvPr id="121" name="Google Shape;121;p3"/>
          <p:cNvSpPr txBox="1"/>
          <p:nvPr/>
        </p:nvSpPr>
        <p:spPr>
          <a:xfrm>
            <a:off x="421640" y="1990725"/>
            <a:ext cx="6732270" cy="40925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rgbClr val="0070C0"/>
                </a:solidFill>
                <a:latin typeface="Calibri"/>
                <a:ea typeface="Calibri"/>
                <a:cs typeface="Calibri"/>
                <a:sym typeface="Calibri"/>
              </a:rPr>
              <a:t>For server-side development, we use programming languages like C#, Java, PHP etc.</a:t>
            </a:r>
            <a:endParaRPr sz="2000" b="1" dirty="0">
              <a:solidFill>
                <a:srgbClr val="0070C0"/>
              </a:solidFill>
              <a:latin typeface="Calibri"/>
              <a:ea typeface="Calibri"/>
              <a:cs typeface="Calibri"/>
              <a:sym typeface="Calibri"/>
            </a:endParaRPr>
          </a:p>
          <a:p>
            <a:pPr marL="0" marR="0" lvl="0" indent="0" algn="l" rtl="0">
              <a:spcBef>
                <a:spcPts val="0"/>
              </a:spcBef>
              <a:spcAft>
                <a:spcPts val="0"/>
              </a:spcAft>
              <a:buNone/>
            </a:pPr>
            <a:endParaRPr sz="2000" b="1" dirty="0">
              <a:solidFill>
                <a:srgbClr val="0070C0"/>
              </a:solidFill>
              <a:latin typeface="Calibri"/>
              <a:ea typeface="Calibri"/>
              <a:cs typeface="Calibri"/>
              <a:sym typeface="Calibri"/>
            </a:endParaRPr>
          </a:p>
          <a:p>
            <a:pPr marL="0" marR="0" lvl="0" indent="0" algn="l" rtl="0">
              <a:spcBef>
                <a:spcPts val="0"/>
              </a:spcBef>
              <a:spcAft>
                <a:spcPts val="0"/>
              </a:spcAft>
              <a:buNone/>
            </a:pPr>
            <a:r>
              <a:rPr lang="en-GB" sz="2000" b="1" dirty="0">
                <a:solidFill>
                  <a:srgbClr val="0070C0"/>
                </a:solidFill>
                <a:latin typeface="Calibri"/>
                <a:ea typeface="Calibri"/>
                <a:cs typeface="Calibri"/>
                <a:sym typeface="Calibri"/>
              </a:rPr>
              <a:t>For the client-side development we use JavaScript frameworks like Angular, React, </a:t>
            </a:r>
            <a:r>
              <a:rPr lang="en-GB" sz="2000" b="1" dirty="0" err="1">
                <a:solidFill>
                  <a:srgbClr val="0070C0"/>
                </a:solidFill>
                <a:latin typeface="Calibri"/>
                <a:ea typeface="Calibri"/>
                <a:cs typeface="Calibri"/>
                <a:sym typeface="Calibri"/>
              </a:rPr>
              <a:t>Vue</a:t>
            </a:r>
            <a:r>
              <a:rPr lang="en-GB" sz="2000" b="1" dirty="0">
                <a:solidFill>
                  <a:srgbClr val="0070C0"/>
                </a:solidFill>
                <a:latin typeface="Calibri"/>
                <a:ea typeface="Calibri"/>
                <a:cs typeface="Calibri"/>
                <a:sym typeface="Calibri"/>
              </a:rPr>
              <a:t> etc.</a:t>
            </a:r>
            <a:endParaRPr sz="2000" b="1" dirty="0">
              <a:solidFill>
                <a:srgbClr val="0070C0"/>
              </a:solidFill>
              <a:latin typeface="Calibri"/>
              <a:ea typeface="Calibri"/>
              <a:cs typeface="Calibri"/>
              <a:sym typeface="Calibri"/>
            </a:endParaRPr>
          </a:p>
          <a:p>
            <a:pPr marL="0" marR="0" lvl="0" indent="0" algn="l" rtl="0">
              <a:spcBef>
                <a:spcPts val="0"/>
              </a:spcBef>
              <a:spcAft>
                <a:spcPts val="0"/>
              </a:spcAft>
              <a:buNone/>
            </a:pPr>
            <a:endParaRPr sz="2000" b="1" dirty="0">
              <a:solidFill>
                <a:srgbClr val="0070C0"/>
              </a:solidFill>
              <a:latin typeface="Calibri"/>
              <a:ea typeface="Calibri"/>
              <a:cs typeface="Calibri"/>
              <a:sym typeface="Calibri"/>
            </a:endParaRPr>
          </a:p>
          <a:p>
            <a:pPr marL="0" marR="0" lvl="0" indent="0" algn="l" rtl="0">
              <a:spcBef>
                <a:spcPts val="0"/>
              </a:spcBef>
              <a:spcAft>
                <a:spcPts val="0"/>
              </a:spcAft>
              <a:buNone/>
            </a:pPr>
            <a:r>
              <a:rPr lang="en-GB" sz="2000" b="1" dirty="0">
                <a:solidFill>
                  <a:srgbClr val="0070C0"/>
                </a:solidFill>
                <a:latin typeface="Calibri"/>
                <a:ea typeface="Calibri"/>
                <a:cs typeface="Calibri"/>
                <a:sym typeface="Calibri"/>
              </a:rPr>
              <a:t>To stay in the business as a developer and remain competitive, it's inevitable we learn both a server-side programming language and a client-side programming language.</a:t>
            </a:r>
            <a:endParaRPr sz="2000" b="1" dirty="0">
              <a:solidFill>
                <a:srgbClr val="0070C0"/>
              </a:solidFill>
              <a:latin typeface="Calibri"/>
              <a:ea typeface="Calibri"/>
              <a:cs typeface="Calibri"/>
              <a:sym typeface="Calibri"/>
            </a:endParaRPr>
          </a:p>
          <a:p>
            <a:pPr marL="0" marR="0" lvl="0" indent="0" algn="l" rtl="0">
              <a:spcBef>
                <a:spcPts val="0"/>
              </a:spcBef>
              <a:spcAft>
                <a:spcPts val="0"/>
              </a:spcAft>
              <a:buNone/>
            </a:pPr>
            <a:endParaRPr sz="2000" b="1" dirty="0">
              <a:solidFill>
                <a:srgbClr val="0070C0"/>
              </a:solidFill>
              <a:latin typeface="Calibri"/>
              <a:ea typeface="Calibri"/>
              <a:cs typeface="Calibri"/>
              <a:sym typeface="Calibri"/>
            </a:endParaRPr>
          </a:p>
          <a:p>
            <a:pPr marL="0" marR="0" lvl="0" indent="0" algn="l" rtl="0">
              <a:spcBef>
                <a:spcPts val="0"/>
              </a:spcBef>
              <a:spcAft>
                <a:spcPts val="0"/>
              </a:spcAft>
              <a:buNone/>
            </a:pPr>
            <a:r>
              <a:rPr lang="en-GB" sz="2000" b="1" dirty="0">
                <a:solidFill>
                  <a:srgbClr val="0070C0"/>
                </a:solidFill>
                <a:latin typeface="Calibri"/>
                <a:ea typeface="Calibri"/>
                <a:cs typeface="Calibri"/>
                <a:sym typeface="Calibri"/>
              </a:rPr>
              <a:t>But the question is, why should we learn and use 2 different sets of programming languages and frameworks.</a:t>
            </a:r>
            <a:endParaRPr sz="2000" b="1" dirty="0">
              <a:solidFill>
                <a:srgbClr val="0070C0"/>
              </a:solidFill>
              <a:latin typeface="Calibri"/>
              <a:ea typeface="Calibri"/>
              <a:cs typeface="Calibri"/>
              <a:sym typeface="Calibri"/>
            </a:endParaRPr>
          </a:p>
          <a:p>
            <a:pPr marL="0" marR="0" lvl="0" indent="0" algn="l" rtl="0">
              <a:spcBef>
                <a:spcPts val="0"/>
              </a:spcBef>
              <a:spcAft>
                <a:spcPts val="0"/>
              </a:spcAft>
              <a:buNone/>
            </a:pPr>
            <a:endParaRPr sz="2000" b="1" dirty="0">
              <a:solidFill>
                <a:srgbClr val="0070C0"/>
              </a:solidFill>
              <a:latin typeface="Calibri"/>
              <a:ea typeface="Calibri"/>
              <a:cs typeface="Calibri"/>
              <a:sym typeface="Calibri"/>
            </a:endParaRPr>
          </a:p>
        </p:txBody>
      </p:sp>
      <p:pic>
        <p:nvPicPr>
          <p:cNvPr id="122" name="Google Shape;122;p3" descr="Aitrich-Logo-Transparent-BG-1536x504"/>
          <p:cNvPicPr preferRelativeResize="0"/>
          <p:nvPr/>
        </p:nvPicPr>
        <p:blipFill rotWithShape="1">
          <a:blip r:embed="rId4">
            <a:alphaModFix/>
          </a:blip>
          <a:srcRect/>
          <a:stretch/>
        </p:blipFill>
        <p:spPr>
          <a:xfrm>
            <a:off x="111125" y="6254750"/>
            <a:ext cx="1383030" cy="46926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 calcmode="lin" valueType="num">
                                      <p:cBhvr additive="base">
                                        <p:cTn id="7" dur="500"/>
                                        <p:tgtEl>
                                          <p:spTgt spid="1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4"/>
          <p:cNvSpPr txBox="1">
            <a:spLocks noGrp="1"/>
          </p:cNvSpPr>
          <p:nvPr>
            <p:ph type="title"/>
          </p:nvPr>
        </p:nvSpPr>
        <p:spPr>
          <a:xfrm>
            <a:off x="732790" y="25463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2"/>
              </a:buClr>
              <a:buSzPct val="100000"/>
              <a:buFont typeface="Bell MT"/>
              <a:buNone/>
            </a:pPr>
            <a:r>
              <a:rPr lang="en-GB" sz="4890">
                <a:solidFill>
                  <a:schemeClr val="dk2"/>
                </a:solidFill>
                <a:latin typeface="Bell MT"/>
                <a:ea typeface="Bell MT"/>
                <a:cs typeface="Bell MT"/>
                <a:sym typeface="Bell MT"/>
              </a:rPr>
              <a:t>Blazor</a:t>
            </a:r>
            <a:r>
              <a:rPr lang="en-GB"/>
              <a:t/>
            </a:r>
            <a:br>
              <a:rPr lang="en-GB"/>
            </a:br>
            <a:endParaRPr/>
          </a:p>
        </p:txBody>
      </p:sp>
      <p:sp>
        <p:nvSpPr>
          <p:cNvPr id="128" name="Google Shape;128;p4"/>
          <p:cNvSpPr/>
          <p:nvPr/>
        </p:nvSpPr>
        <p:spPr>
          <a:xfrm>
            <a:off x="633730" y="1691005"/>
            <a:ext cx="6882130" cy="1026795"/>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2"/>
              </a:solidFill>
              <a:latin typeface="Calibri"/>
              <a:ea typeface="Calibri"/>
              <a:cs typeface="Calibri"/>
              <a:sym typeface="Calibri"/>
            </a:endParaRPr>
          </a:p>
        </p:txBody>
      </p:sp>
      <p:sp>
        <p:nvSpPr>
          <p:cNvPr id="129" name="Google Shape;129;p4"/>
          <p:cNvSpPr txBox="1"/>
          <p:nvPr/>
        </p:nvSpPr>
        <p:spPr>
          <a:xfrm>
            <a:off x="732790" y="1778635"/>
            <a:ext cx="6530340" cy="1014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err="1">
                <a:solidFill>
                  <a:schemeClr val="lt1"/>
                </a:solidFill>
                <a:latin typeface="Calibri"/>
                <a:ea typeface="Calibri"/>
                <a:cs typeface="Calibri"/>
                <a:sym typeface="Calibri"/>
              </a:rPr>
              <a:t>Blazor</a:t>
            </a:r>
            <a:r>
              <a:rPr lang="en-GB" sz="2000" b="1" dirty="0">
                <a:solidFill>
                  <a:schemeClr val="lt1"/>
                </a:solidFill>
                <a:latin typeface="Calibri"/>
                <a:ea typeface="Calibri"/>
                <a:cs typeface="Calibri"/>
                <a:sym typeface="Calibri"/>
              </a:rPr>
              <a:t> is one of the frameworks for the </a:t>
            </a:r>
            <a:r>
              <a:rPr lang="en-GB" sz="2000" b="1" dirty="0" err="1">
                <a:solidFill>
                  <a:schemeClr val="lt1"/>
                </a:solidFill>
                <a:latin typeface="Calibri"/>
                <a:ea typeface="Calibri"/>
                <a:cs typeface="Calibri"/>
                <a:sym typeface="Calibri"/>
              </a:rPr>
              <a:t>.Net</a:t>
            </a:r>
            <a:r>
              <a:rPr lang="en-GB" sz="2000" b="1" dirty="0">
                <a:solidFill>
                  <a:schemeClr val="lt1"/>
                </a:solidFill>
                <a:latin typeface="Calibri"/>
                <a:ea typeface="Calibri"/>
                <a:cs typeface="Calibri"/>
                <a:sym typeface="Calibri"/>
              </a:rPr>
              <a:t> family for web development.</a:t>
            </a:r>
            <a:r>
              <a:rPr lang="en-GB" sz="2000" dirty="0">
                <a:solidFill>
                  <a:schemeClr val="lt1"/>
                </a:solidFill>
                <a:latin typeface="Calibri"/>
                <a:ea typeface="Calibri"/>
                <a:cs typeface="Calibri"/>
                <a:sym typeface="Calibri"/>
              </a:rPr>
              <a:t> </a:t>
            </a:r>
            <a:endParaRPr sz="2000" dirty="0">
              <a:solidFill>
                <a:schemeClr val="lt1"/>
              </a:solidFill>
              <a:latin typeface="Calibri"/>
              <a:ea typeface="Calibri"/>
              <a:cs typeface="Calibri"/>
              <a:sym typeface="Calibri"/>
            </a:endParaRPr>
          </a:p>
          <a:p>
            <a:pPr marL="0" marR="0" lvl="0" indent="0" algn="l" rtl="0">
              <a:spcBef>
                <a:spcPts val="0"/>
              </a:spcBef>
              <a:spcAft>
                <a:spcPts val="0"/>
              </a:spcAft>
              <a:buNone/>
            </a:pPr>
            <a:endParaRPr sz="2000" dirty="0">
              <a:solidFill>
                <a:schemeClr val="lt1"/>
              </a:solidFill>
              <a:latin typeface="Calibri"/>
              <a:ea typeface="Calibri"/>
              <a:cs typeface="Calibri"/>
              <a:sym typeface="Calibri"/>
            </a:endParaRPr>
          </a:p>
        </p:txBody>
      </p:sp>
      <p:sp>
        <p:nvSpPr>
          <p:cNvPr id="130" name="Google Shape;130;p4"/>
          <p:cNvSpPr/>
          <p:nvPr/>
        </p:nvSpPr>
        <p:spPr>
          <a:xfrm>
            <a:off x="633730" y="2991485"/>
            <a:ext cx="6882130" cy="1083945"/>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4"/>
          <p:cNvSpPr txBox="1"/>
          <p:nvPr/>
        </p:nvSpPr>
        <p:spPr>
          <a:xfrm>
            <a:off x="841375" y="3166110"/>
            <a:ext cx="7119620"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lt1"/>
                </a:solidFill>
                <a:latin typeface="Calibri"/>
                <a:ea typeface="Calibri"/>
                <a:cs typeface="Calibri"/>
                <a:sym typeface="Calibri"/>
              </a:rPr>
              <a:t>With </a:t>
            </a:r>
            <a:r>
              <a:rPr lang="en-GB" sz="2000" b="1" dirty="0" err="1">
                <a:solidFill>
                  <a:schemeClr val="lt1"/>
                </a:solidFill>
                <a:latin typeface="Calibri"/>
                <a:ea typeface="Calibri"/>
                <a:cs typeface="Calibri"/>
                <a:sym typeface="Calibri"/>
              </a:rPr>
              <a:t>Blazor</a:t>
            </a:r>
            <a:r>
              <a:rPr lang="en-GB" sz="2000" b="1" dirty="0">
                <a:solidFill>
                  <a:schemeClr val="lt1"/>
                </a:solidFill>
                <a:latin typeface="Calibri"/>
                <a:ea typeface="Calibri"/>
                <a:cs typeface="Calibri"/>
                <a:sym typeface="Calibri"/>
              </a:rPr>
              <a:t> we can now build interactive web UIs using C# instead of JavaScript</a:t>
            </a:r>
            <a:endParaRPr sz="2000" b="1" dirty="0">
              <a:solidFill>
                <a:schemeClr val="lt1"/>
              </a:solidFill>
              <a:latin typeface="Calibri"/>
              <a:ea typeface="Calibri"/>
              <a:cs typeface="Calibri"/>
              <a:sym typeface="Calibri"/>
            </a:endParaRPr>
          </a:p>
        </p:txBody>
      </p:sp>
      <p:sp>
        <p:nvSpPr>
          <p:cNvPr id="132" name="Google Shape;132;p4"/>
          <p:cNvSpPr/>
          <p:nvPr/>
        </p:nvSpPr>
        <p:spPr>
          <a:xfrm>
            <a:off x="633730" y="4460875"/>
            <a:ext cx="6882765" cy="110744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4"/>
          <p:cNvSpPr txBox="1"/>
          <p:nvPr/>
        </p:nvSpPr>
        <p:spPr>
          <a:xfrm>
            <a:off x="841375" y="4629150"/>
            <a:ext cx="5784215"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lt1"/>
                </a:solidFill>
                <a:latin typeface="Calibri"/>
                <a:ea typeface="Calibri"/>
                <a:cs typeface="Calibri"/>
                <a:sym typeface="Calibri"/>
              </a:rPr>
              <a:t>C# code can be executed both on the server and in the client browser.</a:t>
            </a:r>
            <a:endParaRPr sz="2000" b="1" dirty="0">
              <a:solidFill>
                <a:schemeClr val="lt1"/>
              </a:solidFill>
              <a:latin typeface="Calibri"/>
              <a:ea typeface="Calibri"/>
              <a:cs typeface="Calibri"/>
              <a:sym typeface="Calibri"/>
            </a:endParaRPr>
          </a:p>
        </p:txBody>
      </p:sp>
      <p:sp>
        <p:nvSpPr>
          <p:cNvPr id="134" name="Google Shape;134;p4"/>
          <p:cNvSpPr txBox="1"/>
          <p:nvPr/>
        </p:nvSpPr>
        <p:spPr>
          <a:xfrm>
            <a:off x="11195685" y="2349500"/>
            <a:ext cx="30988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35" name="Google Shape;135;p4" descr="Aitrich-Logo-Transparent-BG-1536x504"/>
          <p:cNvPicPr preferRelativeResize="0"/>
          <p:nvPr/>
        </p:nvPicPr>
        <p:blipFill rotWithShape="1">
          <a:blip r:embed="rId3">
            <a:alphaModFix/>
          </a:blip>
          <a:srcRect/>
          <a:stretch/>
        </p:blipFill>
        <p:spPr>
          <a:xfrm>
            <a:off x="156210" y="6344920"/>
            <a:ext cx="1383030" cy="392430"/>
          </a:xfrm>
          <a:prstGeom prst="rect">
            <a:avLst/>
          </a:prstGeom>
          <a:noFill/>
          <a:ln>
            <a:noFill/>
          </a:ln>
        </p:spPr>
      </p:pic>
      <p:pic>
        <p:nvPicPr>
          <p:cNvPr id="136" name="Google Shape;136;p4" descr="why should we use blazor"/>
          <p:cNvPicPr preferRelativeResize="0">
            <a:picLocks noGrp="1"/>
          </p:cNvPicPr>
          <p:nvPr>
            <p:ph type="body" idx="2"/>
          </p:nvPr>
        </p:nvPicPr>
        <p:blipFill rotWithShape="1">
          <a:blip r:embed="rId4">
            <a:alphaModFix/>
          </a:blip>
          <a:srcRect/>
          <a:stretch/>
        </p:blipFill>
        <p:spPr>
          <a:xfrm>
            <a:off x="7681595" y="2290445"/>
            <a:ext cx="4445635" cy="24574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1"/>
                                        </p:tgtEl>
                                        <p:attrNameLst>
                                          <p:attrName>style.visibility</p:attrName>
                                        </p:attrNameLst>
                                      </p:cBhvr>
                                      <p:to>
                                        <p:strVal val="visible"/>
                                      </p:to>
                                    </p:set>
                                    <p:anim calcmode="lin" valueType="num">
                                      <p:cBhvr additive="base">
                                        <p:cTn id="7" dur="500"/>
                                        <p:tgtEl>
                                          <p:spTgt spid="131"/>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30"/>
                                        </p:tgtEl>
                                        <p:attrNameLst>
                                          <p:attrName>style.visibility</p:attrName>
                                        </p:attrNameLst>
                                      </p:cBhvr>
                                      <p:to>
                                        <p:strVal val="visible"/>
                                      </p:to>
                                    </p:set>
                                    <p:anim calcmode="lin" valueType="num">
                                      <p:cBhvr additive="base">
                                        <p:cTn id="10" dur="500"/>
                                        <p:tgtEl>
                                          <p:spTgt spid="130"/>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33"/>
                                        </p:tgtEl>
                                        <p:attrNameLst>
                                          <p:attrName>style.visibility</p:attrName>
                                        </p:attrNameLst>
                                      </p:cBhvr>
                                      <p:to>
                                        <p:strVal val="visible"/>
                                      </p:to>
                                    </p:set>
                                    <p:anim calcmode="lin" valueType="num">
                                      <p:cBhvr additive="base">
                                        <p:cTn id="15" dur="500"/>
                                        <p:tgtEl>
                                          <p:spTgt spid="133"/>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32"/>
                                        </p:tgtEl>
                                        <p:attrNameLst>
                                          <p:attrName>style.visibility</p:attrName>
                                        </p:attrNameLst>
                                      </p:cBhvr>
                                      <p:to>
                                        <p:strVal val="visible"/>
                                      </p:to>
                                    </p:set>
                                    <p:anim calcmode="lin" valueType="num">
                                      <p:cBhvr additive="base">
                                        <p:cTn id="18" dur="500"/>
                                        <p:tgtEl>
                                          <p:spTgt spid="1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How can a browser execute C# code?</a:t>
            </a:r>
            <a:endParaRPr>
              <a:solidFill>
                <a:schemeClr val="dk2"/>
              </a:solidFill>
              <a:latin typeface="Bell MT"/>
              <a:ea typeface="Bell MT"/>
              <a:cs typeface="Bell MT"/>
              <a:sym typeface="Bell MT"/>
            </a:endParaRPr>
          </a:p>
        </p:txBody>
      </p:sp>
      <p:pic>
        <p:nvPicPr>
          <p:cNvPr id="142" name="Google Shape;142;p5" descr="7741860_3700376 (1)"/>
          <p:cNvPicPr preferRelativeResize="0">
            <a:picLocks noGrp="1"/>
          </p:cNvPicPr>
          <p:nvPr>
            <p:ph type="body" idx="1"/>
          </p:nvPr>
        </p:nvPicPr>
        <p:blipFill rotWithShape="1">
          <a:blip r:embed="rId3">
            <a:alphaModFix/>
          </a:blip>
          <a:srcRect/>
          <a:stretch/>
        </p:blipFill>
        <p:spPr>
          <a:xfrm>
            <a:off x="7650480" y="1664970"/>
            <a:ext cx="4351655" cy="4351655"/>
          </a:xfrm>
          <a:prstGeom prst="rect">
            <a:avLst/>
          </a:prstGeom>
          <a:noFill/>
          <a:ln>
            <a:noFill/>
          </a:ln>
        </p:spPr>
      </p:pic>
      <p:sp>
        <p:nvSpPr>
          <p:cNvPr id="143" name="Google Shape;143;p5"/>
          <p:cNvSpPr/>
          <p:nvPr/>
        </p:nvSpPr>
        <p:spPr>
          <a:xfrm>
            <a:off x="953135" y="1895475"/>
            <a:ext cx="5589270" cy="143129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 name="Google Shape;144;p5"/>
          <p:cNvSpPr txBox="1"/>
          <p:nvPr/>
        </p:nvSpPr>
        <p:spPr>
          <a:xfrm>
            <a:off x="1318895" y="2258060"/>
            <a:ext cx="4858385"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err="1">
                <a:solidFill>
                  <a:schemeClr val="lt1"/>
                </a:solidFill>
                <a:latin typeface="Calibri"/>
                <a:ea typeface="Calibri"/>
                <a:cs typeface="Calibri"/>
                <a:sym typeface="Calibri"/>
              </a:rPr>
              <a:t>Blazor</a:t>
            </a:r>
            <a:r>
              <a:rPr lang="en-GB" sz="2000" b="1" dirty="0">
                <a:solidFill>
                  <a:schemeClr val="lt1"/>
                </a:solidFill>
                <a:latin typeface="Calibri"/>
                <a:ea typeface="Calibri"/>
                <a:cs typeface="Calibri"/>
                <a:sym typeface="Calibri"/>
              </a:rPr>
              <a:t> can run C# code directly in the browser, using </a:t>
            </a:r>
            <a:r>
              <a:rPr lang="en-GB" sz="2000" b="1" dirty="0" err="1">
                <a:solidFill>
                  <a:schemeClr val="lt1"/>
                </a:solidFill>
                <a:latin typeface="Calibri"/>
                <a:ea typeface="Calibri"/>
                <a:cs typeface="Calibri"/>
                <a:sym typeface="Calibri"/>
              </a:rPr>
              <a:t>WebAssembly</a:t>
            </a:r>
            <a:r>
              <a:rPr lang="en-GB" sz="2000" b="1" dirty="0">
                <a:solidFill>
                  <a:schemeClr val="lt1"/>
                </a:solidFill>
                <a:latin typeface="Calibri"/>
                <a:ea typeface="Calibri"/>
                <a:cs typeface="Calibri"/>
                <a:sym typeface="Calibri"/>
              </a:rPr>
              <a:t>.</a:t>
            </a:r>
            <a:endParaRPr sz="2000" b="1" dirty="0">
              <a:solidFill>
                <a:schemeClr val="lt1"/>
              </a:solidFill>
              <a:latin typeface="Calibri"/>
              <a:ea typeface="Calibri"/>
              <a:cs typeface="Calibri"/>
              <a:sym typeface="Calibri"/>
            </a:endParaRPr>
          </a:p>
        </p:txBody>
      </p:sp>
      <p:sp>
        <p:nvSpPr>
          <p:cNvPr id="145" name="Google Shape;145;p5"/>
          <p:cNvSpPr/>
          <p:nvPr/>
        </p:nvSpPr>
        <p:spPr>
          <a:xfrm>
            <a:off x="953770" y="3700780"/>
            <a:ext cx="5589270" cy="143129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6" name="Google Shape;146;p5"/>
          <p:cNvSpPr txBox="1"/>
          <p:nvPr/>
        </p:nvSpPr>
        <p:spPr>
          <a:xfrm>
            <a:off x="1319530" y="3825240"/>
            <a:ext cx="5032375" cy="15684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err="1">
                <a:solidFill>
                  <a:schemeClr val="lt1"/>
                </a:solidFill>
                <a:latin typeface="Calibri"/>
                <a:ea typeface="Calibri"/>
                <a:cs typeface="Calibri"/>
                <a:sym typeface="Calibri"/>
              </a:rPr>
              <a:t>WebAssembly</a:t>
            </a:r>
            <a:r>
              <a:rPr lang="en-GB" sz="2000" b="1" dirty="0">
                <a:solidFill>
                  <a:schemeClr val="lt1"/>
                </a:solidFill>
                <a:latin typeface="Calibri"/>
                <a:ea typeface="Calibri"/>
                <a:cs typeface="Calibri"/>
                <a:sym typeface="Calibri"/>
              </a:rPr>
              <a:t> is based on open web standards. So it is a native part of all modern browsers including mobile browsers.</a:t>
            </a:r>
            <a:endParaRPr sz="2000" b="1" dirty="0">
              <a:solidFill>
                <a:schemeClr val="lt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47" name="Google Shape;147;p5" descr="Aitrich-Logo-Transparent-BG-1536x504"/>
          <p:cNvPicPr preferRelativeResize="0"/>
          <p:nvPr/>
        </p:nvPicPr>
        <p:blipFill rotWithShape="1">
          <a:blip r:embed="rId4">
            <a:alphaModFix/>
          </a:blip>
          <a:srcRect/>
          <a:stretch/>
        </p:blipFill>
        <p:spPr>
          <a:xfrm>
            <a:off x="111125" y="6254750"/>
            <a:ext cx="1383030" cy="46926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anim calcmode="lin" valueType="num">
                                      <p:cBhvr additive="base">
                                        <p:cTn id="7" dur="500"/>
                                        <p:tgtEl>
                                          <p:spTgt spid="146"/>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45"/>
                                        </p:tgtEl>
                                        <p:attrNameLst>
                                          <p:attrName>style.visibility</p:attrName>
                                        </p:attrNameLst>
                                      </p:cBhvr>
                                      <p:to>
                                        <p:strVal val="visible"/>
                                      </p:to>
                                    </p:set>
                                    <p:anim calcmode="lin" valueType="num">
                                      <p:cBhvr additive="base">
                                        <p:cTn id="10" dur="500"/>
                                        <p:tgtEl>
                                          <p:spTgt spid="1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6"/>
          <p:cNvSpPr txBox="1">
            <a:spLocks noGrp="1"/>
          </p:cNvSpPr>
          <p:nvPr>
            <p:ph type="title"/>
          </p:nvPr>
        </p:nvSpPr>
        <p:spPr>
          <a:xfrm>
            <a:off x="823595"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How Create a Blazor App?</a:t>
            </a:r>
            <a:endParaRPr>
              <a:solidFill>
                <a:schemeClr val="dk2"/>
              </a:solidFill>
              <a:latin typeface="Bell MT"/>
              <a:ea typeface="Bell MT"/>
              <a:cs typeface="Bell MT"/>
              <a:sym typeface="Bell MT"/>
            </a:endParaRPr>
          </a:p>
        </p:txBody>
      </p:sp>
      <p:sp>
        <p:nvSpPr>
          <p:cNvPr id="153" name="Google Shape;153;p6"/>
          <p:cNvSpPr txBox="1">
            <a:spLocks noGrp="1"/>
          </p:cNvSpPr>
          <p:nvPr>
            <p:ph type="body" idx="1"/>
          </p:nvPr>
        </p:nvSpPr>
        <p:spPr>
          <a:xfrm>
            <a:off x="838200" y="1825625"/>
            <a:ext cx="3884295" cy="4351655"/>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pic>
        <p:nvPicPr>
          <p:cNvPr id="154" name="Google Shape;154;p6" descr="Picture1"/>
          <p:cNvPicPr preferRelativeResize="0"/>
          <p:nvPr/>
        </p:nvPicPr>
        <p:blipFill rotWithShape="1">
          <a:blip r:embed="rId3">
            <a:alphaModFix/>
          </a:blip>
          <a:srcRect/>
          <a:stretch/>
        </p:blipFill>
        <p:spPr>
          <a:xfrm>
            <a:off x="5544820" y="1825625"/>
            <a:ext cx="5425440" cy="3898900"/>
          </a:xfrm>
          <a:prstGeom prst="rect">
            <a:avLst/>
          </a:prstGeom>
          <a:noFill/>
          <a:ln>
            <a:noFill/>
          </a:ln>
        </p:spPr>
      </p:pic>
      <p:pic>
        <p:nvPicPr>
          <p:cNvPr id="155" name="Google Shape;155;p6" descr="Capture9"/>
          <p:cNvPicPr preferRelativeResize="0">
            <a:picLocks noGrp="1"/>
          </p:cNvPicPr>
          <p:nvPr>
            <p:ph type="body" idx="2"/>
          </p:nvPr>
        </p:nvPicPr>
        <p:blipFill rotWithShape="1">
          <a:blip r:embed="rId4">
            <a:alphaModFix/>
          </a:blip>
          <a:srcRect/>
          <a:stretch/>
        </p:blipFill>
        <p:spPr>
          <a:xfrm>
            <a:off x="5544820" y="2063750"/>
            <a:ext cx="5424805" cy="3660775"/>
          </a:xfrm>
          <a:prstGeom prst="rect">
            <a:avLst/>
          </a:prstGeom>
          <a:noFill/>
          <a:ln>
            <a:noFill/>
          </a:ln>
        </p:spPr>
      </p:pic>
      <p:sp>
        <p:nvSpPr>
          <p:cNvPr id="156" name="Google Shape;156;p6"/>
          <p:cNvSpPr/>
          <p:nvPr/>
        </p:nvSpPr>
        <p:spPr>
          <a:xfrm>
            <a:off x="838200" y="2063750"/>
            <a:ext cx="4180205" cy="143383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7" name="Google Shape;157;p6"/>
          <p:cNvSpPr txBox="1"/>
          <p:nvPr/>
        </p:nvSpPr>
        <p:spPr>
          <a:xfrm>
            <a:off x="1245870" y="2424430"/>
            <a:ext cx="3364865" cy="1014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chemeClr val="lt1"/>
                </a:solidFill>
                <a:latin typeface="Calibri"/>
                <a:ea typeface="Calibri"/>
                <a:cs typeface="Calibri"/>
                <a:sym typeface="Calibri"/>
              </a:rPr>
              <a:t>The IDE Used for creating Blazor App is Visual Studio.</a:t>
            </a:r>
            <a:endParaRPr sz="2000" b="1">
              <a:solidFill>
                <a:schemeClr val="lt1"/>
              </a:solidFill>
              <a:latin typeface="Calibri"/>
              <a:ea typeface="Calibri"/>
              <a:cs typeface="Calibri"/>
              <a:sym typeface="Calibri"/>
            </a:endParaRPr>
          </a:p>
          <a:p>
            <a:pPr marL="0" marR="0" lvl="0" indent="0" algn="l" rtl="0">
              <a:spcBef>
                <a:spcPts val="0"/>
              </a:spcBef>
              <a:spcAft>
                <a:spcPts val="0"/>
              </a:spcAft>
              <a:buNone/>
            </a:pPr>
            <a:endParaRPr sz="2000" b="1">
              <a:solidFill>
                <a:schemeClr val="lt1"/>
              </a:solidFill>
              <a:latin typeface="Calibri"/>
              <a:ea typeface="Calibri"/>
              <a:cs typeface="Calibri"/>
              <a:sym typeface="Calibri"/>
            </a:endParaRPr>
          </a:p>
        </p:txBody>
      </p:sp>
      <p:pic>
        <p:nvPicPr>
          <p:cNvPr id="158" name="Google Shape;158;p6" descr="Aitrich-Logo-Transparent-BG-1536x504"/>
          <p:cNvPicPr preferRelativeResize="0"/>
          <p:nvPr/>
        </p:nvPicPr>
        <p:blipFill rotWithShape="1">
          <a:blip r:embed="rId5">
            <a:alphaModFix/>
          </a:blip>
          <a:srcRect/>
          <a:stretch/>
        </p:blipFill>
        <p:spPr>
          <a:xfrm>
            <a:off x="156210" y="6344920"/>
            <a:ext cx="1383030" cy="39243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anim calcmode="lin" valueType="num">
                                      <p:cBhvr additive="base">
                                        <p:cTn id="7" dur="500"/>
                                        <p:tgtEl>
                                          <p:spTgt spid="155"/>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54"/>
                                        </p:tgtEl>
                                        <p:attrNameLst>
                                          <p:attrName>style.visibility</p:attrName>
                                        </p:attrNameLst>
                                      </p:cBhvr>
                                      <p:to>
                                        <p:strVal val="visible"/>
                                      </p:to>
                                    </p:set>
                                    <p:anim calcmode="lin" valueType="num">
                                      <p:cBhvr additive="base">
                                        <p:cTn id="10" dur="500"/>
                                        <p:tgtEl>
                                          <p:spTgt spid="154"/>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57"/>
                                        </p:tgtEl>
                                        <p:attrNameLst>
                                          <p:attrName>style.visibility</p:attrName>
                                        </p:attrNameLst>
                                      </p:cBhvr>
                                      <p:to>
                                        <p:strVal val="visible"/>
                                      </p:to>
                                    </p:set>
                                    <p:anim calcmode="lin" valueType="num">
                                      <p:cBhvr additive="base">
                                        <p:cTn id="15" dur="500"/>
                                        <p:tgtEl>
                                          <p:spTgt spid="157"/>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56"/>
                                        </p:tgtEl>
                                        <p:attrNameLst>
                                          <p:attrName>style.visibility</p:attrName>
                                        </p:attrNameLst>
                                      </p:cBhvr>
                                      <p:to>
                                        <p:strVal val="visible"/>
                                      </p:to>
                                    </p:set>
                                    <p:anim calcmode="lin" valueType="num">
                                      <p:cBhvr additive="base">
                                        <p:cTn id="18" dur="500"/>
                                        <p:tgtEl>
                                          <p:spTgt spid="1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2"/>
              </a:buClr>
              <a:buSzPct val="100000"/>
              <a:buFont typeface="Bell MT"/>
              <a:buNone/>
            </a:pPr>
            <a:r>
              <a:rPr lang="en-GB" sz="4890" dirty="0" err="1">
                <a:solidFill>
                  <a:schemeClr val="dk2"/>
                </a:solidFill>
                <a:latin typeface="Bell MT"/>
                <a:ea typeface="Bell MT"/>
                <a:cs typeface="Bell MT"/>
                <a:sym typeface="Bell MT"/>
              </a:rPr>
              <a:t>Blazor</a:t>
            </a:r>
            <a:r>
              <a:rPr lang="en-GB" sz="4890" dirty="0">
                <a:solidFill>
                  <a:schemeClr val="dk2"/>
                </a:solidFill>
                <a:latin typeface="Bell MT"/>
                <a:ea typeface="Bell MT"/>
                <a:cs typeface="Bell MT"/>
                <a:sym typeface="Bell MT"/>
              </a:rPr>
              <a:t> Hosting Models</a:t>
            </a:r>
            <a:r>
              <a:rPr lang="en-GB" dirty="0"/>
              <a:t/>
            </a:r>
            <a:br>
              <a:rPr lang="en-GB" dirty="0"/>
            </a:br>
            <a:endParaRPr dirty="0"/>
          </a:p>
        </p:txBody>
      </p:sp>
      <p:pic>
        <p:nvPicPr>
          <p:cNvPr id="164" name="Google Shape;164;p7" descr="21743693_6481241"/>
          <p:cNvPicPr preferRelativeResize="0">
            <a:picLocks noGrp="1"/>
          </p:cNvPicPr>
          <p:nvPr>
            <p:ph type="body" idx="1"/>
          </p:nvPr>
        </p:nvPicPr>
        <p:blipFill rotWithShape="1">
          <a:blip r:embed="rId3">
            <a:alphaModFix/>
          </a:blip>
          <a:srcRect/>
          <a:stretch/>
        </p:blipFill>
        <p:spPr>
          <a:xfrm>
            <a:off x="6533515" y="1691005"/>
            <a:ext cx="4351655" cy="4351655"/>
          </a:xfrm>
          <a:prstGeom prst="rect">
            <a:avLst/>
          </a:prstGeom>
          <a:noFill/>
          <a:ln>
            <a:noFill/>
          </a:ln>
        </p:spPr>
      </p:pic>
      <p:sp>
        <p:nvSpPr>
          <p:cNvPr id="165" name="Google Shape;165;p7"/>
          <p:cNvSpPr/>
          <p:nvPr/>
        </p:nvSpPr>
        <p:spPr>
          <a:xfrm>
            <a:off x="1069975" y="2651125"/>
            <a:ext cx="694690" cy="694055"/>
          </a:xfrm>
          <a:prstGeom prst="rightArrow">
            <a:avLst>
              <a:gd name="adj1" fmla="val 50000"/>
              <a:gd name="adj2" fmla="val 50000"/>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 name="Google Shape;166;p7"/>
          <p:cNvSpPr txBox="1"/>
          <p:nvPr/>
        </p:nvSpPr>
        <p:spPr>
          <a:xfrm>
            <a:off x="934720" y="1691005"/>
            <a:ext cx="6050915" cy="4603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chemeClr val="dk1"/>
                </a:solidFill>
                <a:latin typeface="Calibri"/>
                <a:ea typeface="Calibri"/>
                <a:cs typeface="Calibri"/>
                <a:sym typeface="Calibri"/>
              </a:rPr>
              <a:t>Blazor offers 2 hosting models:</a:t>
            </a:r>
            <a:endParaRPr sz="2400" b="1">
              <a:solidFill>
                <a:schemeClr val="dk1"/>
              </a:solidFill>
              <a:latin typeface="Calibri"/>
              <a:ea typeface="Calibri"/>
              <a:cs typeface="Calibri"/>
              <a:sym typeface="Calibri"/>
            </a:endParaRPr>
          </a:p>
        </p:txBody>
      </p:sp>
      <p:sp>
        <p:nvSpPr>
          <p:cNvPr id="167" name="Google Shape;167;p7"/>
          <p:cNvSpPr/>
          <p:nvPr/>
        </p:nvSpPr>
        <p:spPr>
          <a:xfrm>
            <a:off x="1069975" y="4121150"/>
            <a:ext cx="694690" cy="694055"/>
          </a:xfrm>
          <a:prstGeom prst="rightArrow">
            <a:avLst>
              <a:gd name="adj1" fmla="val 50000"/>
              <a:gd name="adj2" fmla="val 50000"/>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 name="Google Shape;168;p7"/>
          <p:cNvSpPr txBox="1"/>
          <p:nvPr/>
        </p:nvSpPr>
        <p:spPr>
          <a:xfrm>
            <a:off x="1802765" y="2651125"/>
            <a:ext cx="5017135" cy="8299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chemeClr val="dk1"/>
                </a:solidFill>
                <a:latin typeface="Calibri"/>
                <a:ea typeface="Calibri"/>
                <a:cs typeface="Calibri"/>
                <a:sym typeface="Calibri"/>
              </a:rPr>
              <a:t>Blazor WebAssembly</a:t>
            </a:r>
            <a:endParaRPr sz="2400" b="1">
              <a:solidFill>
                <a:schemeClr val="dk1"/>
              </a:solidFill>
              <a:latin typeface="Calibri"/>
              <a:ea typeface="Calibri"/>
              <a:cs typeface="Calibri"/>
              <a:sym typeface="Calibri"/>
            </a:endParaRPr>
          </a:p>
          <a:p>
            <a:pPr marL="0" marR="0" lvl="0" indent="0" algn="l" rtl="0">
              <a:spcBef>
                <a:spcPts val="0"/>
              </a:spcBef>
              <a:spcAft>
                <a:spcPts val="0"/>
              </a:spcAft>
              <a:buNone/>
            </a:pPr>
            <a:r>
              <a:rPr lang="en-GB" sz="2400" b="1">
                <a:solidFill>
                  <a:schemeClr val="dk1"/>
                </a:solidFill>
                <a:latin typeface="Calibri"/>
                <a:ea typeface="Calibri"/>
                <a:cs typeface="Calibri"/>
                <a:sym typeface="Calibri"/>
              </a:rPr>
              <a:t>(</a:t>
            </a:r>
            <a:r>
              <a:rPr lang="en-GB" sz="2400">
                <a:solidFill>
                  <a:schemeClr val="dk1"/>
                </a:solidFill>
                <a:latin typeface="Calibri"/>
                <a:ea typeface="Calibri"/>
                <a:cs typeface="Calibri"/>
                <a:sym typeface="Calibri"/>
              </a:rPr>
              <a:t> client-side hosting model</a:t>
            </a:r>
            <a:r>
              <a:rPr lang="en-GB" sz="2400" b="1">
                <a:solidFill>
                  <a:schemeClr val="dk1"/>
                </a:solidFill>
                <a:latin typeface="Calibri"/>
                <a:ea typeface="Calibri"/>
                <a:cs typeface="Calibri"/>
                <a:sym typeface="Calibri"/>
              </a:rPr>
              <a:t>)</a:t>
            </a:r>
            <a:r>
              <a:rPr lang="en-GB"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169" name="Google Shape;169;p7"/>
          <p:cNvSpPr txBox="1"/>
          <p:nvPr/>
        </p:nvSpPr>
        <p:spPr>
          <a:xfrm>
            <a:off x="1802765" y="4044315"/>
            <a:ext cx="4472940" cy="8299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chemeClr val="dk1"/>
                </a:solidFill>
                <a:latin typeface="Calibri"/>
                <a:ea typeface="Calibri"/>
                <a:cs typeface="Calibri"/>
                <a:sym typeface="Calibri"/>
              </a:rPr>
              <a:t>Blazor Server</a:t>
            </a:r>
            <a:endParaRPr sz="2400" b="1">
              <a:solidFill>
                <a:schemeClr val="dk1"/>
              </a:solidFill>
              <a:latin typeface="Calibri"/>
              <a:ea typeface="Calibri"/>
              <a:cs typeface="Calibri"/>
              <a:sym typeface="Calibri"/>
            </a:endParaRPr>
          </a:p>
          <a:p>
            <a:pPr marL="0" marR="0" lvl="0" indent="0" algn="l" rtl="0">
              <a:spcBef>
                <a:spcPts val="0"/>
              </a:spcBef>
              <a:spcAft>
                <a:spcPts val="0"/>
              </a:spcAft>
              <a:buNone/>
            </a:pPr>
            <a:r>
              <a:rPr lang="en-GB" sz="2400" b="1">
                <a:solidFill>
                  <a:schemeClr val="dk1"/>
                </a:solidFill>
                <a:latin typeface="Calibri"/>
                <a:ea typeface="Calibri"/>
                <a:cs typeface="Calibri"/>
                <a:sym typeface="Calibri"/>
              </a:rPr>
              <a:t>(</a:t>
            </a:r>
            <a:r>
              <a:rPr lang="en-GB" sz="2400">
                <a:solidFill>
                  <a:schemeClr val="dk1"/>
                </a:solidFill>
                <a:latin typeface="Calibri"/>
                <a:ea typeface="Calibri"/>
                <a:cs typeface="Calibri"/>
                <a:sym typeface="Calibri"/>
              </a:rPr>
              <a:t>Server-side Hosting model)</a:t>
            </a:r>
            <a:endParaRPr sz="2400">
              <a:solidFill>
                <a:schemeClr val="dk1"/>
              </a:solidFill>
              <a:latin typeface="Calibri"/>
              <a:ea typeface="Calibri"/>
              <a:cs typeface="Calibri"/>
              <a:sym typeface="Calibri"/>
            </a:endParaRPr>
          </a:p>
        </p:txBody>
      </p:sp>
      <p:pic>
        <p:nvPicPr>
          <p:cNvPr id="170" name="Google Shape;170;p7" descr="Aitrich-Logo-Transparent-BG-1536x504"/>
          <p:cNvPicPr preferRelativeResize="0"/>
          <p:nvPr/>
        </p:nvPicPr>
        <p:blipFill rotWithShape="1">
          <a:blip r:embed="rId4">
            <a:alphaModFix/>
          </a:blip>
          <a:srcRect/>
          <a:stretch/>
        </p:blipFill>
        <p:spPr>
          <a:xfrm>
            <a:off x="156210" y="6344920"/>
            <a:ext cx="1383030" cy="39243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5"/>
                                        </p:tgtEl>
                                        <p:attrNameLst>
                                          <p:attrName>style.visibility</p:attrName>
                                        </p:attrNameLst>
                                      </p:cBhvr>
                                      <p:to>
                                        <p:strVal val="visible"/>
                                      </p:to>
                                    </p:set>
                                    <p:anim calcmode="lin" valueType="num">
                                      <p:cBhvr additive="base">
                                        <p:cTn id="7" dur="500"/>
                                        <p:tgtEl>
                                          <p:spTgt spid="165"/>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68"/>
                                        </p:tgtEl>
                                        <p:attrNameLst>
                                          <p:attrName>style.visibility</p:attrName>
                                        </p:attrNameLst>
                                      </p:cBhvr>
                                      <p:to>
                                        <p:strVal val="visible"/>
                                      </p:to>
                                    </p:set>
                                    <p:anim calcmode="lin" valueType="num">
                                      <p:cBhvr additive="base">
                                        <p:cTn id="10" dur="500"/>
                                        <p:tgtEl>
                                          <p:spTgt spid="168"/>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69"/>
                                        </p:tgtEl>
                                        <p:attrNameLst>
                                          <p:attrName>style.visibility</p:attrName>
                                        </p:attrNameLst>
                                      </p:cBhvr>
                                      <p:to>
                                        <p:strVal val="visible"/>
                                      </p:to>
                                    </p:set>
                                    <p:anim calcmode="lin" valueType="num">
                                      <p:cBhvr additive="base">
                                        <p:cTn id="15" dur="500"/>
                                        <p:tgtEl>
                                          <p:spTgt spid="169"/>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67"/>
                                        </p:tgtEl>
                                        <p:attrNameLst>
                                          <p:attrName>style.visibility</p:attrName>
                                        </p:attrNameLst>
                                      </p:cBhvr>
                                      <p:to>
                                        <p:strVal val="visible"/>
                                      </p:to>
                                    </p:set>
                                    <p:anim calcmode="lin" valueType="num">
                                      <p:cBhvr additive="base">
                                        <p:cTn id="18" dur="500"/>
                                        <p:tgtEl>
                                          <p:spTgt spid="16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Blazor WebAssembly</a:t>
            </a:r>
            <a:endParaRPr>
              <a:solidFill>
                <a:schemeClr val="dk2"/>
              </a:solidFill>
              <a:latin typeface="Bell MT"/>
              <a:ea typeface="Bell MT"/>
              <a:cs typeface="Bell MT"/>
              <a:sym typeface="Bell MT"/>
            </a:endParaRPr>
          </a:p>
        </p:txBody>
      </p:sp>
      <p:sp>
        <p:nvSpPr>
          <p:cNvPr id="176" name="Google Shape;176;p8"/>
          <p:cNvSpPr/>
          <p:nvPr/>
        </p:nvSpPr>
        <p:spPr>
          <a:xfrm>
            <a:off x="678815" y="2108200"/>
            <a:ext cx="6367145" cy="663575"/>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 name="Google Shape;177;p8"/>
          <p:cNvSpPr txBox="1"/>
          <p:nvPr/>
        </p:nvSpPr>
        <p:spPr>
          <a:xfrm>
            <a:off x="836930" y="2185035"/>
            <a:ext cx="6209665"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lt1"/>
                </a:solidFill>
                <a:latin typeface="Calibri"/>
                <a:ea typeface="Calibri"/>
                <a:cs typeface="Calibri"/>
                <a:sym typeface="Calibri"/>
              </a:rPr>
              <a:t>Application runs directly in the browser on </a:t>
            </a:r>
            <a:r>
              <a:rPr lang="en-GB" sz="2000" b="1" dirty="0" err="1">
                <a:solidFill>
                  <a:schemeClr val="lt1"/>
                </a:solidFill>
                <a:latin typeface="Calibri"/>
                <a:ea typeface="Calibri"/>
                <a:cs typeface="Calibri"/>
                <a:sym typeface="Calibri"/>
              </a:rPr>
              <a:t>WebAssembly</a:t>
            </a:r>
            <a:r>
              <a:rPr lang="en-GB" sz="2000" b="1" dirty="0">
                <a:solidFill>
                  <a:schemeClr val="lt1"/>
                </a:solidFill>
                <a:latin typeface="Calibri"/>
                <a:ea typeface="Calibri"/>
                <a:cs typeface="Calibri"/>
                <a:sym typeface="Calibri"/>
              </a:rPr>
              <a:t>.</a:t>
            </a:r>
            <a:endParaRPr sz="2000" b="1" dirty="0">
              <a:solidFill>
                <a:schemeClr val="lt1"/>
              </a:solidFill>
              <a:latin typeface="Calibri"/>
              <a:ea typeface="Calibri"/>
              <a:cs typeface="Calibri"/>
              <a:sym typeface="Calibri"/>
            </a:endParaRPr>
          </a:p>
          <a:p>
            <a:pPr marL="0" marR="0" lvl="0" indent="0" algn="l" rtl="0">
              <a:spcBef>
                <a:spcPts val="0"/>
              </a:spcBef>
              <a:spcAft>
                <a:spcPts val="0"/>
              </a:spcAft>
              <a:buNone/>
            </a:pPr>
            <a:endParaRPr sz="2000" b="1" dirty="0">
              <a:solidFill>
                <a:schemeClr val="lt1"/>
              </a:solidFill>
              <a:latin typeface="Calibri"/>
              <a:ea typeface="Calibri"/>
              <a:cs typeface="Calibri"/>
              <a:sym typeface="Calibri"/>
            </a:endParaRPr>
          </a:p>
        </p:txBody>
      </p:sp>
      <p:sp>
        <p:nvSpPr>
          <p:cNvPr id="178" name="Google Shape;178;p8"/>
          <p:cNvSpPr/>
          <p:nvPr/>
        </p:nvSpPr>
        <p:spPr>
          <a:xfrm>
            <a:off x="678180" y="2917825"/>
            <a:ext cx="6367780" cy="131318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 name="Google Shape;179;p8"/>
          <p:cNvSpPr txBox="1"/>
          <p:nvPr/>
        </p:nvSpPr>
        <p:spPr>
          <a:xfrm>
            <a:off x="837565" y="3015615"/>
            <a:ext cx="6141720" cy="13220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lt1"/>
                </a:solidFill>
                <a:latin typeface="Calibri"/>
                <a:ea typeface="Calibri"/>
                <a:cs typeface="Calibri"/>
                <a:sym typeface="Calibri"/>
              </a:rPr>
              <a:t> Everything the application needs </a:t>
            </a:r>
            <a:r>
              <a:rPr lang="en-GB" sz="2000" b="1" dirty="0" err="1">
                <a:solidFill>
                  <a:schemeClr val="lt1"/>
                </a:solidFill>
                <a:latin typeface="Calibri"/>
                <a:ea typeface="Calibri"/>
                <a:cs typeface="Calibri"/>
                <a:sym typeface="Calibri"/>
              </a:rPr>
              <a:t>i.e</a:t>
            </a:r>
            <a:r>
              <a:rPr lang="en-GB" sz="2000" b="1" dirty="0">
                <a:solidFill>
                  <a:schemeClr val="lt1"/>
                </a:solidFill>
                <a:latin typeface="Calibri"/>
                <a:ea typeface="Calibri"/>
                <a:cs typeface="Calibri"/>
                <a:sym typeface="Calibri"/>
              </a:rPr>
              <a:t> the compiled application code itself, it's dependencies and the .NET runtime are downloaded to the browser</a:t>
            </a:r>
            <a:endParaRPr sz="2000" b="1" dirty="0">
              <a:solidFill>
                <a:schemeClr val="lt1"/>
              </a:solidFill>
              <a:latin typeface="Calibri"/>
              <a:ea typeface="Calibri"/>
              <a:cs typeface="Calibri"/>
              <a:sym typeface="Calibri"/>
            </a:endParaRPr>
          </a:p>
          <a:p>
            <a:pPr marL="0" marR="0" lvl="0" indent="0" algn="l" rtl="0">
              <a:spcBef>
                <a:spcPts val="0"/>
              </a:spcBef>
              <a:spcAft>
                <a:spcPts val="0"/>
              </a:spcAft>
              <a:buNone/>
            </a:pPr>
            <a:endParaRPr sz="2000" b="1" dirty="0">
              <a:solidFill>
                <a:schemeClr val="lt1"/>
              </a:solidFill>
              <a:latin typeface="Calibri"/>
              <a:ea typeface="Calibri"/>
              <a:cs typeface="Calibri"/>
              <a:sym typeface="Calibri"/>
            </a:endParaRPr>
          </a:p>
        </p:txBody>
      </p:sp>
      <p:sp>
        <p:nvSpPr>
          <p:cNvPr id="180" name="Google Shape;180;p8"/>
          <p:cNvSpPr/>
          <p:nvPr/>
        </p:nvSpPr>
        <p:spPr>
          <a:xfrm>
            <a:off x="678180" y="4377055"/>
            <a:ext cx="6367145" cy="137287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1" name="Google Shape;181;p8"/>
          <p:cNvSpPr txBox="1"/>
          <p:nvPr/>
        </p:nvSpPr>
        <p:spPr>
          <a:xfrm>
            <a:off x="837565" y="4567555"/>
            <a:ext cx="5967095"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lt1"/>
                </a:solidFill>
                <a:latin typeface="Calibri"/>
                <a:ea typeface="Calibri"/>
                <a:cs typeface="Calibri"/>
                <a:sym typeface="Calibri"/>
              </a:rPr>
              <a:t> A </a:t>
            </a:r>
            <a:r>
              <a:rPr lang="en-GB" sz="2000" b="1" dirty="0" err="1">
                <a:solidFill>
                  <a:schemeClr val="lt1"/>
                </a:solidFill>
                <a:latin typeface="Calibri"/>
                <a:ea typeface="Calibri"/>
                <a:cs typeface="Calibri"/>
                <a:sym typeface="Calibri"/>
              </a:rPr>
              <a:t>Blazor</a:t>
            </a:r>
            <a:r>
              <a:rPr lang="en-GB" sz="2000" b="1" dirty="0">
                <a:solidFill>
                  <a:schemeClr val="lt1"/>
                </a:solidFill>
                <a:latin typeface="Calibri"/>
                <a:ea typeface="Calibri"/>
                <a:cs typeface="Calibri"/>
                <a:sym typeface="Calibri"/>
              </a:rPr>
              <a:t> </a:t>
            </a:r>
            <a:r>
              <a:rPr lang="en-GB" sz="2000" b="1" dirty="0" err="1">
                <a:solidFill>
                  <a:schemeClr val="lt1"/>
                </a:solidFill>
                <a:latin typeface="Calibri"/>
                <a:ea typeface="Calibri"/>
                <a:cs typeface="Calibri"/>
                <a:sym typeface="Calibri"/>
              </a:rPr>
              <a:t>WebAssembly</a:t>
            </a:r>
            <a:r>
              <a:rPr lang="en-GB" sz="2000" b="1" dirty="0">
                <a:solidFill>
                  <a:schemeClr val="lt1"/>
                </a:solidFill>
                <a:latin typeface="Calibri"/>
                <a:ea typeface="Calibri"/>
                <a:cs typeface="Calibri"/>
                <a:sym typeface="Calibri"/>
              </a:rPr>
              <a:t> app can run entirely on the client without a connection to the server</a:t>
            </a:r>
            <a:endParaRPr sz="2000" b="1" dirty="0">
              <a:solidFill>
                <a:schemeClr val="lt1"/>
              </a:solidFill>
              <a:latin typeface="Calibri"/>
              <a:ea typeface="Calibri"/>
              <a:cs typeface="Calibri"/>
              <a:sym typeface="Calibri"/>
            </a:endParaRPr>
          </a:p>
        </p:txBody>
      </p:sp>
      <p:pic>
        <p:nvPicPr>
          <p:cNvPr id="182" name="Google Shape;182;p8" descr="Blazor WebAssembly hosting model"/>
          <p:cNvPicPr preferRelativeResize="0">
            <a:picLocks noGrp="1"/>
          </p:cNvPicPr>
          <p:nvPr>
            <p:ph type="body" idx="1"/>
          </p:nvPr>
        </p:nvPicPr>
        <p:blipFill rotWithShape="1">
          <a:blip r:embed="rId3">
            <a:alphaModFix/>
          </a:blip>
          <a:srcRect/>
          <a:stretch/>
        </p:blipFill>
        <p:spPr>
          <a:xfrm>
            <a:off x="7190740" y="2421890"/>
            <a:ext cx="4772025" cy="2305050"/>
          </a:xfrm>
          <a:prstGeom prst="rect">
            <a:avLst/>
          </a:prstGeom>
          <a:noFill/>
          <a:ln>
            <a:noFill/>
          </a:ln>
        </p:spPr>
      </p:pic>
      <p:pic>
        <p:nvPicPr>
          <p:cNvPr id="183" name="Google Shape;183;p8" descr="Aitrich-Logo-Transparent-BG-1536x504"/>
          <p:cNvPicPr preferRelativeResize="0"/>
          <p:nvPr/>
        </p:nvPicPr>
        <p:blipFill rotWithShape="1">
          <a:blip r:embed="rId4">
            <a:alphaModFix/>
          </a:blip>
          <a:srcRect/>
          <a:stretch/>
        </p:blipFill>
        <p:spPr>
          <a:xfrm>
            <a:off x="156210" y="6344920"/>
            <a:ext cx="1383030" cy="39243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anim calcmode="lin" valueType="num">
                                      <p:cBhvr additive="base">
                                        <p:cTn id="7" dur="500"/>
                                        <p:tgtEl>
                                          <p:spTgt spid="179"/>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78"/>
                                        </p:tgtEl>
                                        <p:attrNameLst>
                                          <p:attrName>style.visibility</p:attrName>
                                        </p:attrNameLst>
                                      </p:cBhvr>
                                      <p:to>
                                        <p:strVal val="visible"/>
                                      </p:to>
                                    </p:set>
                                    <p:anim calcmode="lin" valueType="num">
                                      <p:cBhvr additive="base">
                                        <p:cTn id="10" dur="500"/>
                                        <p:tgtEl>
                                          <p:spTgt spid="178"/>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80"/>
                                        </p:tgtEl>
                                        <p:attrNameLst>
                                          <p:attrName>style.visibility</p:attrName>
                                        </p:attrNameLst>
                                      </p:cBhvr>
                                      <p:to>
                                        <p:strVal val="visible"/>
                                      </p:to>
                                    </p:set>
                                    <p:anim calcmode="lin" valueType="num">
                                      <p:cBhvr additive="base">
                                        <p:cTn id="15" dur="500"/>
                                        <p:tgtEl>
                                          <p:spTgt spid="180"/>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81"/>
                                        </p:tgtEl>
                                        <p:attrNameLst>
                                          <p:attrName>style.visibility</p:attrName>
                                        </p:attrNameLst>
                                      </p:cBhvr>
                                      <p:to>
                                        <p:strVal val="visible"/>
                                      </p:to>
                                    </p:set>
                                    <p:anim calcmode="lin" valueType="num">
                                      <p:cBhvr additive="base">
                                        <p:cTn id="18" dur="500"/>
                                        <p:tgtEl>
                                          <p:spTgt spid="1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9" descr="Capture3"/>
          <p:cNvPicPr preferRelativeResize="0">
            <a:picLocks noGrp="1"/>
          </p:cNvPicPr>
          <p:nvPr>
            <p:ph type="body" idx="1"/>
          </p:nvPr>
        </p:nvPicPr>
        <p:blipFill rotWithShape="1">
          <a:blip r:embed="rId3">
            <a:alphaModFix/>
          </a:blip>
          <a:srcRect/>
          <a:stretch/>
        </p:blipFill>
        <p:spPr>
          <a:xfrm>
            <a:off x="419100" y="1631950"/>
            <a:ext cx="1981835" cy="1889760"/>
          </a:xfrm>
          <a:prstGeom prst="rect">
            <a:avLst/>
          </a:prstGeom>
          <a:noFill/>
          <a:ln>
            <a:noFill/>
          </a:ln>
        </p:spPr>
      </p:pic>
      <p:sp>
        <p:nvSpPr>
          <p:cNvPr id="189" name="Google Shape;189;p9"/>
          <p:cNvSpPr/>
          <p:nvPr/>
        </p:nvSpPr>
        <p:spPr>
          <a:xfrm>
            <a:off x="2948940" y="1222375"/>
            <a:ext cx="8891905" cy="2136775"/>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 name="Google Shape;190;p9"/>
          <p:cNvSpPr txBox="1"/>
          <p:nvPr/>
        </p:nvSpPr>
        <p:spPr>
          <a:xfrm>
            <a:off x="3429000" y="1458595"/>
            <a:ext cx="7555230" cy="175323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10000"/>
              </a:lnSpc>
              <a:spcBef>
                <a:spcPts val="0"/>
              </a:spcBef>
              <a:spcAft>
                <a:spcPts val="0"/>
              </a:spcAft>
              <a:buClr>
                <a:schemeClr val="lt1"/>
              </a:buClr>
              <a:buSzPts val="2000"/>
              <a:buFont typeface="Noto Sans Symbols"/>
              <a:buChar char="⮚"/>
            </a:pPr>
            <a:r>
              <a:rPr lang="en-GB" sz="2000" b="1" dirty="0">
                <a:solidFill>
                  <a:schemeClr val="lt1"/>
                </a:solidFill>
                <a:latin typeface="Calibri"/>
                <a:ea typeface="Calibri"/>
                <a:cs typeface="Calibri"/>
                <a:sym typeface="Calibri"/>
              </a:rPr>
              <a:t>Active server connection is not required.</a:t>
            </a:r>
            <a:endParaRPr sz="2000" b="1" dirty="0">
              <a:solidFill>
                <a:schemeClr val="lt1"/>
              </a:solidFill>
              <a:latin typeface="Calibri"/>
              <a:ea typeface="Calibri"/>
              <a:cs typeface="Calibri"/>
              <a:sym typeface="Calibri"/>
            </a:endParaRPr>
          </a:p>
          <a:p>
            <a:pPr marL="342900" marR="0" lvl="0" indent="-342900" algn="l" rtl="0">
              <a:lnSpc>
                <a:spcPct val="110000"/>
              </a:lnSpc>
              <a:spcBef>
                <a:spcPts val="0"/>
              </a:spcBef>
              <a:spcAft>
                <a:spcPts val="0"/>
              </a:spcAft>
              <a:buClr>
                <a:schemeClr val="lt1"/>
              </a:buClr>
              <a:buSzPts val="2000"/>
              <a:buFont typeface="Noto Sans Symbols"/>
              <a:buChar char="⮚"/>
            </a:pPr>
            <a:r>
              <a:rPr lang="en-GB" sz="2000" b="1" dirty="0">
                <a:solidFill>
                  <a:schemeClr val="lt1"/>
                </a:solidFill>
                <a:latin typeface="Calibri"/>
                <a:ea typeface="Calibri"/>
                <a:cs typeface="Calibri"/>
                <a:sym typeface="Calibri"/>
              </a:rPr>
              <a:t>Client Resources and </a:t>
            </a:r>
            <a:r>
              <a:rPr lang="en-GB" sz="2000" b="1" dirty="0" err="1">
                <a:solidFill>
                  <a:schemeClr val="lt1"/>
                </a:solidFill>
                <a:latin typeface="Calibri"/>
                <a:ea typeface="Calibri"/>
                <a:cs typeface="Calibri"/>
                <a:sym typeface="Calibri"/>
              </a:rPr>
              <a:t>Capablities</a:t>
            </a:r>
            <a:r>
              <a:rPr lang="en-GB" sz="2000" b="1" dirty="0">
                <a:solidFill>
                  <a:schemeClr val="lt1"/>
                </a:solidFill>
                <a:latin typeface="Calibri"/>
                <a:ea typeface="Calibri"/>
                <a:cs typeface="Calibri"/>
                <a:sym typeface="Calibri"/>
              </a:rPr>
              <a:t> is used.</a:t>
            </a:r>
            <a:endParaRPr sz="2000" b="1" dirty="0">
              <a:solidFill>
                <a:schemeClr val="lt1"/>
              </a:solidFill>
              <a:latin typeface="Calibri"/>
              <a:ea typeface="Calibri"/>
              <a:cs typeface="Calibri"/>
              <a:sym typeface="Calibri"/>
            </a:endParaRPr>
          </a:p>
          <a:p>
            <a:pPr marL="342900" marR="0" lvl="0" indent="-342900" algn="l" rtl="0">
              <a:lnSpc>
                <a:spcPct val="110000"/>
              </a:lnSpc>
              <a:spcBef>
                <a:spcPts val="0"/>
              </a:spcBef>
              <a:spcAft>
                <a:spcPts val="0"/>
              </a:spcAft>
              <a:buClr>
                <a:schemeClr val="lt1"/>
              </a:buClr>
              <a:buSzPts val="2000"/>
              <a:buFont typeface="Noto Sans Symbols"/>
              <a:buChar char="⮚"/>
            </a:pPr>
            <a:r>
              <a:rPr lang="en-GB" sz="2000" b="1" dirty="0">
                <a:solidFill>
                  <a:schemeClr val="lt1"/>
                </a:solidFill>
                <a:latin typeface="Calibri"/>
                <a:ea typeface="Calibri"/>
                <a:cs typeface="Calibri"/>
                <a:sym typeface="Calibri"/>
              </a:rPr>
              <a:t>Full blown asp.net core web server is not required.</a:t>
            </a:r>
            <a:endParaRPr sz="2000" b="1" dirty="0">
              <a:solidFill>
                <a:schemeClr val="lt1"/>
              </a:solidFill>
              <a:latin typeface="Calibri"/>
              <a:ea typeface="Calibri"/>
              <a:cs typeface="Calibri"/>
              <a:sym typeface="Calibri"/>
            </a:endParaRPr>
          </a:p>
          <a:p>
            <a:pPr marL="342900" marR="0" lvl="0" indent="-342900" algn="l" rtl="0">
              <a:lnSpc>
                <a:spcPct val="110000"/>
              </a:lnSpc>
              <a:spcBef>
                <a:spcPts val="0"/>
              </a:spcBef>
              <a:spcAft>
                <a:spcPts val="0"/>
              </a:spcAft>
              <a:buClr>
                <a:schemeClr val="lt1"/>
              </a:buClr>
              <a:buSzPts val="2000"/>
              <a:buFont typeface="Noto Sans Symbols"/>
              <a:buChar char="⮚"/>
            </a:pPr>
            <a:r>
              <a:rPr lang="en-GB" sz="2000" b="1" dirty="0">
                <a:solidFill>
                  <a:schemeClr val="lt1"/>
                </a:solidFill>
                <a:latin typeface="Calibri"/>
                <a:ea typeface="Calibri"/>
                <a:cs typeface="Calibri"/>
                <a:sym typeface="Calibri"/>
              </a:rPr>
              <a:t>Can be hosted on our own </a:t>
            </a:r>
            <a:r>
              <a:rPr lang="en-GB" sz="2000" b="1" dirty="0" err="1">
                <a:solidFill>
                  <a:schemeClr val="lt1"/>
                </a:solidFill>
                <a:latin typeface="Calibri"/>
                <a:ea typeface="Calibri"/>
                <a:cs typeface="Calibri"/>
                <a:sym typeface="Calibri"/>
              </a:rPr>
              <a:t>webserver,cloud</a:t>
            </a:r>
            <a:r>
              <a:rPr lang="en-GB" sz="2000" b="1" dirty="0">
                <a:solidFill>
                  <a:schemeClr val="lt1"/>
                </a:solidFill>
                <a:latin typeface="Calibri"/>
                <a:ea typeface="Calibri"/>
                <a:cs typeface="Calibri"/>
                <a:sym typeface="Calibri"/>
              </a:rPr>
              <a:t> azure or CDN</a:t>
            </a:r>
            <a:endParaRPr sz="2000" b="1" dirty="0">
              <a:solidFill>
                <a:schemeClr val="lt1"/>
              </a:solidFill>
              <a:latin typeface="Calibri"/>
              <a:ea typeface="Calibri"/>
              <a:cs typeface="Calibri"/>
              <a:sym typeface="Calibri"/>
            </a:endParaRPr>
          </a:p>
          <a:p>
            <a:pPr marL="342900" marR="0" lvl="0" indent="-342900" algn="l" rtl="0">
              <a:spcBef>
                <a:spcPts val="0"/>
              </a:spcBef>
              <a:spcAft>
                <a:spcPts val="0"/>
              </a:spcAft>
              <a:buNone/>
            </a:pPr>
            <a:endParaRPr sz="2000" b="1" dirty="0">
              <a:solidFill>
                <a:schemeClr val="lt1"/>
              </a:solidFill>
              <a:latin typeface="Calibri"/>
              <a:ea typeface="Calibri"/>
              <a:cs typeface="Calibri"/>
              <a:sym typeface="Calibri"/>
            </a:endParaRPr>
          </a:p>
        </p:txBody>
      </p:sp>
      <p:pic>
        <p:nvPicPr>
          <p:cNvPr id="191" name="Google Shape;191;p9" descr="Capture7"/>
          <p:cNvPicPr preferRelativeResize="0">
            <a:picLocks noGrp="1"/>
          </p:cNvPicPr>
          <p:nvPr>
            <p:ph type="body" idx="2"/>
          </p:nvPr>
        </p:nvPicPr>
        <p:blipFill rotWithShape="1">
          <a:blip r:embed="rId4">
            <a:alphaModFix/>
          </a:blip>
          <a:srcRect/>
          <a:stretch/>
        </p:blipFill>
        <p:spPr>
          <a:xfrm>
            <a:off x="254635" y="4394835"/>
            <a:ext cx="2310130" cy="1680845"/>
          </a:xfrm>
          <a:prstGeom prst="rect">
            <a:avLst/>
          </a:prstGeom>
          <a:noFill/>
          <a:ln>
            <a:noFill/>
          </a:ln>
        </p:spPr>
      </p:pic>
      <p:sp>
        <p:nvSpPr>
          <p:cNvPr id="192" name="Google Shape;192;p9"/>
          <p:cNvSpPr/>
          <p:nvPr/>
        </p:nvSpPr>
        <p:spPr>
          <a:xfrm>
            <a:off x="2948940" y="4166870"/>
            <a:ext cx="8891905" cy="2136775"/>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 name="Google Shape;193;p9"/>
          <p:cNvSpPr txBox="1"/>
          <p:nvPr/>
        </p:nvSpPr>
        <p:spPr>
          <a:xfrm>
            <a:off x="3321050" y="4573905"/>
            <a:ext cx="8147685" cy="132207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lt1"/>
              </a:buClr>
              <a:buSzPts val="2000"/>
              <a:buFont typeface="Noto Sans Symbols"/>
              <a:buChar char="⮚"/>
            </a:pPr>
            <a:r>
              <a:rPr lang="en-GB" sz="2000" b="1" dirty="0">
                <a:solidFill>
                  <a:schemeClr val="lt1"/>
                </a:solidFill>
                <a:latin typeface="Calibri"/>
                <a:ea typeface="Calibri"/>
                <a:cs typeface="Calibri"/>
                <a:sym typeface="Calibri"/>
              </a:rPr>
              <a:t>The very First request usually takes longer.</a:t>
            </a:r>
            <a:endParaRPr sz="2000" b="1" dirty="0">
              <a:solidFill>
                <a:schemeClr val="lt1"/>
              </a:solidFill>
              <a:latin typeface="Calibri"/>
              <a:ea typeface="Calibri"/>
              <a:cs typeface="Calibri"/>
              <a:sym typeface="Calibri"/>
            </a:endParaRPr>
          </a:p>
          <a:p>
            <a:pPr marL="342900" marR="0" lvl="0" indent="-342900" algn="l" rtl="0">
              <a:spcBef>
                <a:spcPts val="0"/>
              </a:spcBef>
              <a:spcAft>
                <a:spcPts val="0"/>
              </a:spcAft>
              <a:buClr>
                <a:schemeClr val="lt1"/>
              </a:buClr>
              <a:buSzPts val="2000"/>
              <a:buFont typeface="Noto Sans Symbols"/>
              <a:buChar char="⮚"/>
            </a:pPr>
            <a:r>
              <a:rPr lang="en-GB" sz="2000" b="1" dirty="0">
                <a:solidFill>
                  <a:schemeClr val="lt1"/>
                </a:solidFill>
                <a:latin typeface="Calibri"/>
                <a:ea typeface="Calibri"/>
                <a:cs typeface="Calibri"/>
                <a:sym typeface="Calibri"/>
              </a:rPr>
              <a:t>Restricted to the </a:t>
            </a:r>
            <a:r>
              <a:rPr lang="en-GB" sz="2000" b="1" dirty="0" err="1">
                <a:solidFill>
                  <a:schemeClr val="lt1"/>
                </a:solidFill>
                <a:latin typeface="Calibri"/>
                <a:ea typeface="Calibri"/>
                <a:cs typeface="Calibri"/>
                <a:sym typeface="Calibri"/>
              </a:rPr>
              <a:t>capablities</a:t>
            </a:r>
            <a:r>
              <a:rPr lang="en-GB" sz="2000" b="1" dirty="0">
                <a:solidFill>
                  <a:schemeClr val="lt1"/>
                </a:solidFill>
                <a:latin typeface="Calibri"/>
                <a:ea typeface="Calibri"/>
                <a:cs typeface="Calibri"/>
                <a:sym typeface="Calibri"/>
              </a:rPr>
              <a:t> of the browser.</a:t>
            </a:r>
            <a:endParaRPr sz="2000" b="1" dirty="0">
              <a:solidFill>
                <a:schemeClr val="lt1"/>
              </a:solidFill>
              <a:latin typeface="Calibri"/>
              <a:ea typeface="Calibri"/>
              <a:cs typeface="Calibri"/>
              <a:sym typeface="Calibri"/>
            </a:endParaRPr>
          </a:p>
          <a:p>
            <a:pPr marL="342900" marR="0" lvl="0" indent="-342900" algn="l" rtl="0">
              <a:spcBef>
                <a:spcPts val="0"/>
              </a:spcBef>
              <a:spcAft>
                <a:spcPts val="0"/>
              </a:spcAft>
              <a:buClr>
                <a:schemeClr val="lt1"/>
              </a:buClr>
              <a:buSzPts val="2000"/>
              <a:buFont typeface="Noto Sans Symbols"/>
              <a:buChar char="⮚"/>
            </a:pPr>
            <a:r>
              <a:rPr lang="en-GB" sz="2000" b="1" dirty="0">
                <a:solidFill>
                  <a:schemeClr val="lt1"/>
                </a:solidFill>
                <a:latin typeface="Calibri"/>
                <a:ea typeface="Calibri"/>
                <a:cs typeface="Calibri"/>
                <a:sym typeface="Calibri"/>
              </a:rPr>
              <a:t>Capable client </a:t>
            </a:r>
            <a:r>
              <a:rPr lang="en-GB" sz="2000" b="1" dirty="0" smtClean="0">
                <a:solidFill>
                  <a:schemeClr val="lt1"/>
                </a:solidFill>
                <a:latin typeface="Calibri"/>
                <a:ea typeface="Calibri"/>
                <a:cs typeface="Calibri"/>
                <a:sym typeface="Calibri"/>
              </a:rPr>
              <a:t>hardware </a:t>
            </a:r>
            <a:r>
              <a:rPr lang="en-GB" sz="2000" b="1" dirty="0">
                <a:solidFill>
                  <a:schemeClr val="lt1"/>
                </a:solidFill>
                <a:latin typeface="Calibri"/>
                <a:ea typeface="Calibri"/>
                <a:cs typeface="Calibri"/>
                <a:sym typeface="Calibri"/>
              </a:rPr>
              <a:t>and software is required</a:t>
            </a:r>
            <a:endParaRPr sz="2000" b="1" dirty="0">
              <a:solidFill>
                <a:schemeClr val="lt1"/>
              </a:solidFill>
              <a:latin typeface="Calibri"/>
              <a:ea typeface="Calibri"/>
              <a:cs typeface="Calibri"/>
              <a:sym typeface="Calibri"/>
            </a:endParaRPr>
          </a:p>
          <a:p>
            <a:pPr marL="342900" marR="0" lvl="0" indent="-342900" algn="l" rtl="0">
              <a:spcBef>
                <a:spcPts val="0"/>
              </a:spcBef>
              <a:spcAft>
                <a:spcPts val="0"/>
              </a:spcAft>
              <a:buNone/>
            </a:pPr>
            <a:endParaRPr sz="2000" b="1" dirty="0">
              <a:solidFill>
                <a:schemeClr val="lt1"/>
              </a:solidFill>
              <a:latin typeface="Calibri"/>
              <a:ea typeface="Calibri"/>
              <a:cs typeface="Calibri"/>
              <a:sym typeface="Calibri"/>
            </a:endParaRPr>
          </a:p>
        </p:txBody>
      </p:sp>
      <p:pic>
        <p:nvPicPr>
          <p:cNvPr id="194" name="Google Shape;194;p9" descr="Aitrich-Logo-Transparent-BG-1536x504"/>
          <p:cNvPicPr preferRelativeResize="0"/>
          <p:nvPr/>
        </p:nvPicPr>
        <p:blipFill rotWithShape="1">
          <a:blip r:embed="rId5">
            <a:alphaModFix/>
          </a:blip>
          <a:srcRect/>
          <a:stretch/>
        </p:blipFill>
        <p:spPr>
          <a:xfrm>
            <a:off x="156210" y="6344920"/>
            <a:ext cx="1383030" cy="392430"/>
          </a:xfrm>
          <a:prstGeom prst="rect">
            <a:avLst/>
          </a:prstGeom>
          <a:noFill/>
          <a:ln>
            <a:noFill/>
          </a:ln>
        </p:spPr>
      </p:pic>
      <p:sp>
        <p:nvSpPr>
          <p:cNvPr id="195" name="Google Shape;195;p9"/>
          <p:cNvSpPr txBox="1"/>
          <p:nvPr/>
        </p:nvSpPr>
        <p:spPr>
          <a:xfrm>
            <a:off x="773430" y="418465"/>
            <a:ext cx="10085705" cy="4603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2"/>
                </a:solidFill>
                <a:latin typeface="Bell MT"/>
                <a:ea typeface="Bell MT"/>
                <a:cs typeface="Bell MT"/>
                <a:sym typeface="Bell MT"/>
              </a:rPr>
              <a:t>Advantages and disadvantages</a:t>
            </a:r>
            <a:endParaRPr sz="2400">
              <a:solidFill>
                <a:schemeClr val="dk2"/>
              </a:solidFill>
              <a:latin typeface="Bell MT"/>
              <a:ea typeface="Bell MT"/>
              <a:cs typeface="Bell MT"/>
              <a:sym typeface="Bell MT"/>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anim calcmode="lin" valueType="num">
                                      <p:cBhvr additive="base">
                                        <p:cTn id="7" dur="500"/>
                                        <p:tgtEl>
                                          <p:spTgt spid="191"/>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92"/>
                                        </p:tgtEl>
                                        <p:attrNameLst>
                                          <p:attrName>style.visibility</p:attrName>
                                        </p:attrNameLst>
                                      </p:cBhvr>
                                      <p:to>
                                        <p:strVal val="visible"/>
                                      </p:to>
                                    </p:set>
                                    <p:anim calcmode="lin" valueType="num">
                                      <p:cBhvr additive="base">
                                        <p:cTn id="10" dur="500"/>
                                        <p:tgtEl>
                                          <p:spTgt spid="192"/>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193"/>
                                        </p:tgtEl>
                                        <p:attrNameLst>
                                          <p:attrName>style.visibility</p:attrName>
                                        </p:attrNameLst>
                                      </p:cBhvr>
                                      <p:to>
                                        <p:strVal val="visible"/>
                                      </p:to>
                                    </p:set>
                                    <p:anim calcmode="lin" valueType="num">
                                      <p:cBhvr additive="base">
                                        <p:cTn id="13" dur="500"/>
                                        <p:tgtEl>
                                          <p:spTgt spid="19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0"/>
          <p:cNvSpPr txBox="1">
            <a:spLocks noGrp="1"/>
          </p:cNvSpPr>
          <p:nvPr>
            <p:ph type="title"/>
          </p:nvPr>
        </p:nvSpPr>
        <p:spPr>
          <a:xfrm>
            <a:off x="652780" y="273050"/>
            <a:ext cx="10701020" cy="141795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Bell MT"/>
              <a:buNone/>
            </a:pPr>
            <a:r>
              <a:rPr lang="en-GB" dirty="0">
                <a:solidFill>
                  <a:schemeClr val="dk2"/>
                </a:solidFill>
                <a:latin typeface="Bell MT"/>
                <a:ea typeface="Bell MT"/>
                <a:cs typeface="Bell MT"/>
                <a:sym typeface="Bell MT"/>
              </a:rPr>
              <a:t>Server side hosting Model</a:t>
            </a:r>
            <a:endParaRPr dirty="0">
              <a:solidFill>
                <a:schemeClr val="dk2"/>
              </a:solidFill>
              <a:latin typeface="Bell MT"/>
              <a:ea typeface="Bell MT"/>
              <a:cs typeface="Bell MT"/>
              <a:sym typeface="Bell MT"/>
            </a:endParaRPr>
          </a:p>
        </p:txBody>
      </p:sp>
      <p:sp>
        <p:nvSpPr>
          <p:cNvPr id="201" name="Google Shape;201;p10"/>
          <p:cNvSpPr/>
          <p:nvPr/>
        </p:nvSpPr>
        <p:spPr>
          <a:xfrm>
            <a:off x="527685" y="2563495"/>
            <a:ext cx="6941820" cy="80010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10"/>
          <p:cNvSpPr txBox="1"/>
          <p:nvPr/>
        </p:nvSpPr>
        <p:spPr>
          <a:xfrm>
            <a:off x="841375" y="2610485"/>
            <a:ext cx="6313805"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lt1"/>
                </a:solidFill>
                <a:latin typeface="Calibri"/>
                <a:ea typeface="Calibri"/>
                <a:cs typeface="Calibri"/>
                <a:sym typeface="Calibri"/>
              </a:rPr>
              <a:t>Between the client and the server a </a:t>
            </a:r>
            <a:r>
              <a:rPr lang="en-GB" sz="2000" b="1" dirty="0" err="1">
                <a:solidFill>
                  <a:schemeClr val="lt1"/>
                </a:solidFill>
                <a:latin typeface="Calibri"/>
                <a:ea typeface="Calibri"/>
                <a:cs typeface="Calibri"/>
                <a:sym typeface="Calibri"/>
              </a:rPr>
              <a:t>SignalR</a:t>
            </a:r>
            <a:r>
              <a:rPr lang="en-GB" sz="2000" b="1" dirty="0">
                <a:solidFill>
                  <a:schemeClr val="lt1"/>
                </a:solidFill>
                <a:latin typeface="Calibri"/>
                <a:ea typeface="Calibri"/>
                <a:cs typeface="Calibri"/>
                <a:sym typeface="Calibri"/>
              </a:rPr>
              <a:t> connection is established. </a:t>
            </a:r>
            <a:endParaRPr sz="2000" b="1" dirty="0">
              <a:solidFill>
                <a:schemeClr val="lt1"/>
              </a:solidFill>
              <a:latin typeface="Calibri"/>
              <a:ea typeface="Calibri"/>
              <a:cs typeface="Calibri"/>
              <a:sym typeface="Calibri"/>
            </a:endParaRPr>
          </a:p>
        </p:txBody>
      </p:sp>
      <p:sp>
        <p:nvSpPr>
          <p:cNvPr id="203" name="Google Shape;203;p10"/>
          <p:cNvSpPr/>
          <p:nvPr/>
        </p:nvSpPr>
        <p:spPr>
          <a:xfrm>
            <a:off x="527685" y="3472180"/>
            <a:ext cx="6941820" cy="276098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 name="Google Shape;204;p10"/>
          <p:cNvSpPr txBox="1"/>
          <p:nvPr/>
        </p:nvSpPr>
        <p:spPr>
          <a:xfrm>
            <a:off x="837565" y="3472180"/>
            <a:ext cx="6537960" cy="28613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lt1"/>
                </a:solidFill>
                <a:latin typeface="Calibri"/>
                <a:ea typeface="Calibri"/>
                <a:cs typeface="Calibri"/>
                <a:sym typeface="Calibri"/>
              </a:rPr>
              <a:t>When an event occurs on the client such as a button click for example, the information about the event is sent to the server over the </a:t>
            </a:r>
            <a:r>
              <a:rPr lang="en-GB" sz="2000" b="1" dirty="0" err="1">
                <a:solidFill>
                  <a:schemeClr val="lt1"/>
                </a:solidFill>
                <a:latin typeface="Calibri"/>
                <a:ea typeface="Calibri"/>
                <a:cs typeface="Calibri"/>
                <a:sym typeface="Calibri"/>
              </a:rPr>
              <a:t>SignalR</a:t>
            </a:r>
            <a:r>
              <a:rPr lang="en-GB" sz="2000" b="1" dirty="0">
                <a:solidFill>
                  <a:schemeClr val="lt1"/>
                </a:solidFill>
                <a:latin typeface="Calibri"/>
                <a:ea typeface="Calibri"/>
                <a:cs typeface="Calibri"/>
                <a:sym typeface="Calibri"/>
              </a:rPr>
              <a:t> connection. The server handles the event and for the generated HTML a diff (difference) is calculated. The entire HTML is not sent again to the client, it's only the diff that is sent to the client over the </a:t>
            </a:r>
            <a:r>
              <a:rPr lang="en-GB" sz="2000" b="1" dirty="0" err="1">
                <a:solidFill>
                  <a:schemeClr val="lt1"/>
                </a:solidFill>
                <a:latin typeface="Calibri"/>
                <a:ea typeface="Calibri"/>
                <a:cs typeface="Calibri"/>
                <a:sym typeface="Calibri"/>
              </a:rPr>
              <a:t>SignalR</a:t>
            </a:r>
            <a:r>
              <a:rPr lang="en-GB" sz="2000" b="1" dirty="0">
                <a:solidFill>
                  <a:schemeClr val="lt1"/>
                </a:solidFill>
                <a:latin typeface="Calibri"/>
                <a:ea typeface="Calibri"/>
                <a:cs typeface="Calibri"/>
                <a:sym typeface="Calibri"/>
              </a:rPr>
              <a:t> connection. The browser then updates the UI. Since only the diff is applied to update the UI, the application feels faster and more responsive to the user.</a:t>
            </a:r>
            <a:endParaRPr sz="2000" b="1" dirty="0">
              <a:solidFill>
                <a:schemeClr val="lt1"/>
              </a:solidFill>
              <a:latin typeface="Calibri"/>
              <a:ea typeface="Calibri"/>
              <a:cs typeface="Calibri"/>
              <a:sym typeface="Calibri"/>
            </a:endParaRPr>
          </a:p>
        </p:txBody>
      </p:sp>
      <p:sp>
        <p:nvSpPr>
          <p:cNvPr id="205" name="Google Shape;205;p10"/>
          <p:cNvSpPr/>
          <p:nvPr/>
        </p:nvSpPr>
        <p:spPr>
          <a:xfrm>
            <a:off x="527685" y="1730375"/>
            <a:ext cx="6941185" cy="724535"/>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0"/>
          <p:cNvSpPr txBox="1"/>
          <p:nvPr/>
        </p:nvSpPr>
        <p:spPr>
          <a:xfrm>
            <a:off x="837565" y="1896745"/>
            <a:ext cx="6510655"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lt1"/>
                </a:solidFill>
                <a:latin typeface="Calibri"/>
                <a:ea typeface="Calibri"/>
                <a:cs typeface="Calibri"/>
                <a:sym typeface="Calibri"/>
              </a:rPr>
              <a:t>Application is executed on the server.</a:t>
            </a:r>
            <a:endParaRPr sz="2000" b="1" dirty="0">
              <a:solidFill>
                <a:schemeClr val="lt1"/>
              </a:solidFill>
              <a:latin typeface="Calibri"/>
              <a:ea typeface="Calibri"/>
              <a:cs typeface="Calibri"/>
              <a:sym typeface="Calibri"/>
            </a:endParaRPr>
          </a:p>
        </p:txBody>
      </p:sp>
      <p:pic>
        <p:nvPicPr>
          <p:cNvPr id="207" name="Google Shape;207;p10" descr="Blazor Server hosting model"/>
          <p:cNvPicPr preferRelativeResize="0">
            <a:picLocks noGrp="1"/>
          </p:cNvPicPr>
          <p:nvPr>
            <p:ph type="body" idx="1"/>
          </p:nvPr>
        </p:nvPicPr>
        <p:blipFill rotWithShape="1">
          <a:blip r:embed="rId3">
            <a:alphaModFix/>
          </a:blip>
          <a:srcRect/>
          <a:stretch/>
        </p:blipFill>
        <p:spPr>
          <a:xfrm>
            <a:off x="7567930" y="2610485"/>
            <a:ext cx="4420235" cy="1806575"/>
          </a:xfrm>
          <a:prstGeom prst="rect">
            <a:avLst/>
          </a:prstGeom>
          <a:noFill/>
          <a:ln>
            <a:noFill/>
          </a:ln>
        </p:spPr>
      </p:pic>
      <p:pic>
        <p:nvPicPr>
          <p:cNvPr id="208" name="Google Shape;208;p10" descr="Aitrich-Logo-Transparent-BG-1536x504"/>
          <p:cNvPicPr preferRelativeResize="0"/>
          <p:nvPr/>
        </p:nvPicPr>
        <p:blipFill rotWithShape="1">
          <a:blip r:embed="rId4">
            <a:alphaModFix/>
          </a:blip>
          <a:srcRect/>
          <a:stretch/>
        </p:blipFill>
        <p:spPr>
          <a:xfrm>
            <a:off x="91440" y="6341745"/>
            <a:ext cx="1247775" cy="3479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anim calcmode="lin" valueType="num">
                                      <p:cBhvr additive="base">
                                        <p:cTn id="7" dur="500"/>
                                        <p:tgtEl>
                                          <p:spTgt spid="202"/>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01"/>
                                        </p:tgtEl>
                                        <p:attrNameLst>
                                          <p:attrName>style.visibility</p:attrName>
                                        </p:attrNameLst>
                                      </p:cBhvr>
                                      <p:to>
                                        <p:strVal val="visible"/>
                                      </p:to>
                                    </p:set>
                                    <p:anim calcmode="lin" valueType="num">
                                      <p:cBhvr additive="base">
                                        <p:cTn id="10" dur="500"/>
                                        <p:tgtEl>
                                          <p:spTgt spid="201"/>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03"/>
                                        </p:tgtEl>
                                        <p:attrNameLst>
                                          <p:attrName>style.visibility</p:attrName>
                                        </p:attrNameLst>
                                      </p:cBhvr>
                                      <p:to>
                                        <p:strVal val="visible"/>
                                      </p:to>
                                    </p:set>
                                    <p:anim calcmode="lin" valueType="num">
                                      <p:cBhvr additive="base">
                                        <p:cTn id="15" dur="500"/>
                                        <p:tgtEl>
                                          <p:spTgt spid="203"/>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204"/>
                                        </p:tgtEl>
                                        <p:attrNameLst>
                                          <p:attrName>style.visibility</p:attrName>
                                        </p:attrNameLst>
                                      </p:cBhvr>
                                      <p:to>
                                        <p:strVal val="visible"/>
                                      </p:to>
                                    </p:set>
                                    <p:anim calcmode="lin" valueType="num">
                                      <p:cBhvr additive="base">
                                        <p:cTn id="18" dur="500"/>
                                        <p:tgtEl>
                                          <p:spTgt spid="2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3" name="Google Shape;213;p11" descr="Capture3"/>
          <p:cNvPicPr preferRelativeResize="0">
            <a:picLocks noGrp="1"/>
          </p:cNvPicPr>
          <p:nvPr>
            <p:ph type="body" idx="1"/>
          </p:nvPr>
        </p:nvPicPr>
        <p:blipFill rotWithShape="1">
          <a:blip r:embed="rId3">
            <a:alphaModFix/>
          </a:blip>
          <a:srcRect/>
          <a:stretch/>
        </p:blipFill>
        <p:spPr>
          <a:xfrm>
            <a:off x="418465" y="1668145"/>
            <a:ext cx="1981835" cy="1889760"/>
          </a:xfrm>
          <a:prstGeom prst="rect">
            <a:avLst/>
          </a:prstGeom>
          <a:noFill/>
          <a:ln>
            <a:noFill/>
          </a:ln>
        </p:spPr>
      </p:pic>
      <p:sp>
        <p:nvSpPr>
          <p:cNvPr id="214" name="Google Shape;214;p11"/>
          <p:cNvSpPr/>
          <p:nvPr/>
        </p:nvSpPr>
        <p:spPr>
          <a:xfrm>
            <a:off x="3152775" y="1579245"/>
            <a:ext cx="7167245" cy="2066925"/>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 name="Google Shape;215;p11"/>
          <p:cNvSpPr txBox="1"/>
          <p:nvPr/>
        </p:nvSpPr>
        <p:spPr>
          <a:xfrm>
            <a:off x="3575685" y="1889760"/>
            <a:ext cx="6307455" cy="178371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10000"/>
              </a:lnSpc>
              <a:spcBef>
                <a:spcPts val="0"/>
              </a:spcBef>
              <a:spcAft>
                <a:spcPts val="0"/>
              </a:spcAft>
              <a:buClr>
                <a:schemeClr val="lt1"/>
              </a:buClr>
              <a:buSzPts val="2000"/>
              <a:buFont typeface="Noto Sans Symbols"/>
              <a:buChar char="⮚"/>
            </a:pPr>
            <a:r>
              <a:rPr lang="en-GB" sz="2000" b="1" dirty="0">
                <a:solidFill>
                  <a:schemeClr val="lt1"/>
                </a:solidFill>
                <a:latin typeface="Calibri"/>
                <a:ea typeface="Calibri"/>
                <a:cs typeface="Calibri"/>
                <a:sym typeface="Calibri"/>
              </a:rPr>
              <a:t>Application loads much faster.</a:t>
            </a:r>
            <a:endParaRPr sz="2000" b="1" dirty="0">
              <a:solidFill>
                <a:schemeClr val="lt1"/>
              </a:solidFill>
              <a:latin typeface="Calibri"/>
              <a:ea typeface="Calibri"/>
              <a:cs typeface="Calibri"/>
              <a:sym typeface="Calibri"/>
            </a:endParaRPr>
          </a:p>
          <a:p>
            <a:pPr marL="285750" marR="0" lvl="0" indent="-285750" algn="l" rtl="0">
              <a:lnSpc>
                <a:spcPct val="110000"/>
              </a:lnSpc>
              <a:spcBef>
                <a:spcPts val="0"/>
              </a:spcBef>
              <a:spcAft>
                <a:spcPts val="0"/>
              </a:spcAft>
              <a:buClr>
                <a:schemeClr val="lt1"/>
              </a:buClr>
              <a:buSzPts val="2000"/>
              <a:buFont typeface="Noto Sans Symbols"/>
              <a:buChar char="⮚"/>
            </a:pPr>
            <a:r>
              <a:rPr lang="en-GB" sz="2000" b="1" dirty="0">
                <a:solidFill>
                  <a:schemeClr val="lt1"/>
                </a:solidFill>
                <a:latin typeface="Calibri"/>
                <a:ea typeface="Calibri"/>
                <a:cs typeface="Calibri"/>
                <a:sym typeface="Calibri"/>
              </a:rPr>
              <a:t>can take full advantages of server </a:t>
            </a:r>
            <a:r>
              <a:rPr lang="en-GB" sz="2000" b="1" dirty="0" err="1">
                <a:solidFill>
                  <a:schemeClr val="lt1"/>
                </a:solidFill>
                <a:latin typeface="Calibri"/>
                <a:ea typeface="Calibri"/>
                <a:cs typeface="Calibri"/>
                <a:sym typeface="Calibri"/>
              </a:rPr>
              <a:t>capablities</a:t>
            </a:r>
            <a:r>
              <a:rPr lang="en-GB" sz="2000" b="1" dirty="0">
                <a:solidFill>
                  <a:schemeClr val="lt1"/>
                </a:solidFill>
                <a:latin typeface="Calibri"/>
                <a:ea typeface="Calibri"/>
                <a:cs typeface="Calibri"/>
                <a:sym typeface="Calibri"/>
              </a:rPr>
              <a:t>.</a:t>
            </a:r>
            <a:endParaRPr sz="2000" b="1" dirty="0">
              <a:solidFill>
                <a:schemeClr val="lt1"/>
              </a:solidFill>
              <a:latin typeface="Calibri"/>
              <a:ea typeface="Calibri"/>
              <a:cs typeface="Calibri"/>
              <a:sym typeface="Calibri"/>
            </a:endParaRPr>
          </a:p>
          <a:p>
            <a:pPr marL="285750" marR="0" lvl="0" indent="-285750" algn="l" rtl="0">
              <a:lnSpc>
                <a:spcPct val="110000"/>
              </a:lnSpc>
              <a:spcBef>
                <a:spcPts val="0"/>
              </a:spcBef>
              <a:spcAft>
                <a:spcPts val="0"/>
              </a:spcAft>
              <a:buClr>
                <a:schemeClr val="lt1"/>
              </a:buClr>
              <a:buSzPts val="2000"/>
              <a:buFont typeface="Noto Sans Symbols"/>
              <a:buChar char="⮚"/>
            </a:pPr>
            <a:r>
              <a:rPr lang="en-GB" sz="2000" b="1" dirty="0">
                <a:solidFill>
                  <a:schemeClr val="lt1"/>
                </a:solidFill>
                <a:latin typeface="Calibri"/>
                <a:ea typeface="Calibri"/>
                <a:cs typeface="Calibri"/>
                <a:sym typeface="Calibri"/>
              </a:rPr>
              <a:t>All the client </a:t>
            </a:r>
            <a:r>
              <a:rPr lang="en-GB" sz="2000" b="1" dirty="0" err="1">
                <a:solidFill>
                  <a:schemeClr val="lt1"/>
                </a:solidFill>
                <a:latin typeface="Calibri"/>
                <a:ea typeface="Calibri"/>
                <a:cs typeface="Calibri"/>
                <a:sym typeface="Calibri"/>
              </a:rPr>
              <a:t>needs,to</a:t>
            </a:r>
            <a:r>
              <a:rPr lang="en-GB" sz="2000" b="1" dirty="0">
                <a:solidFill>
                  <a:schemeClr val="lt1"/>
                </a:solidFill>
                <a:latin typeface="Calibri"/>
                <a:ea typeface="Calibri"/>
                <a:cs typeface="Calibri"/>
                <a:sym typeface="Calibri"/>
              </a:rPr>
              <a:t> use the app is browser.</a:t>
            </a:r>
            <a:endParaRPr sz="2000" b="1" dirty="0">
              <a:solidFill>
                <a:schemeClr val="lt1"/>
              </a:solidFill>
              <a:latin typeface="Calibri"/>
              <a:ea typeface="Calibri"/>
              <a:cs typeface="Calibri"/>
              <a:sym typeface="Calibri"/>
            </a:endParaRPr>
          </a:p>
          <a:p>
            <a:pPr marL="285750" marR="0" lvl="0" indent="-285750" algn="l" rtl="0">
              <a:lnSpc>
                <a:spcPct val="110000"/>
              </a:lnSpc>
              <a:spcBef>
                <a:spcPts val="0"/>
              </a:spcBef>
              <a:spcAft>
                <a:spcPts val="0"/>
              </a:spcAft>
              <a:buClr>
                <a:schemeClr val="lt1"/>
              </a:buClr>
              <a:buSzPts val="2000"/>
              <a:buFont typeface="Noto Sans Symbols"/>
              <a:buChar char="⮚"/>
            </a:pPr>
            <a:r>
              <a:rPr lang="en-GB" sz="2000" b="1" dirty="0">
                <a:solidFill>
                  <a:schemeClr val="lt1"/>
                </a:solidFill>
                <a:latin typeface="Calibri"/>
                <a:ea typeface="Calibri"/>
                <a:cs typeface="Calibri"/>
                <a:sym typeface="Calibri"/>
              </a:rPr>
              <a:t>More secure as the app code is not sent to the client</a:t>
            </a:r>
            <a:endParaRPr sz="2000" b="1" dirty="0">
              <a:solidFill>
                <a:schemeClr val="lt1"/>
              </a:solidFill>
              <a:latin typeface="Calibri"/>
              <a:ea typeface="Calibri"/>
              <a:cs typeface="Calibri"/>
              <a:sym typeface="Calibri"/>
            </a:endParaRPr>
          </a:p>
          <a:p>
            <a:pPr marL="285750" marR="0" lvl="0" indent="-158750" algn="l" rtl="0">
              <a:lnSpc>
                <a:spcPct val="110000"/>
              </a:lnSpc>
              <a:spcBef>
                <a:spcPts val="0"/>
              </a:spcBef>
              <a:spcAft>
                <a:spcPts val="0"/>
              </a:spcAft>
              <a:buClr>
                <a:schemeClr val="dk1"/>
              </a:buClr>
              <a:buSzPts val="2000"/>
              <a:buFont typeface="Noto Sans Symbols"/>
              <a:buNone/>
            </a:pPr>
            <a:endParaRPr sz="2000" b="1" dirty="0">
              <a:solidFill>
                <a:schemeClr val="lt1"/>
              </a:solidFill>
              <a:latin typeface="Calibri"/>
              <a:ea typeface="Calibri"/>
              <a:cs typeface="Calibri"/>
              <a:sym typeface="Calibri"/>
            </a:endParaRPr>
          </a:p>
        </p:txBody>
      </p:sp>
      <p:pic>
        <p:nvPicPr>
          <p:cNvPr id="216" name="Google Shape;216;p11" descr="Capture7"/>
          <p:cNvPicPr preferRelativeResize="0">
            <a:picLocks noGrp="1"/>
          </p:cNvPicPr>
          <p:nvPr>
            <p:ph type="body" idx="1"/>
          </p:nvPr>
        </p:nvPicPr>
        <p:blipFill rotWithShape="1">
          <a:blip r:embed="rId4">
            <a:alphaModFix/>
          </a:blip>
          <a:srcRect/>
          <a:stretch/>
        </p:blipFill>
        <p:spPr>
          <a:xfrm>
            <a:off x="254635" y="4410075"/>
            <a:ext cx="2310130" cy="1680845"/>
          </a:xfrm>
          <a:prstGeom prst="rect">
            <a:avLst/>
          </a:prstGeom>
          <a:noFill/>
          <a:ln>
            <a:noFill/>
          </a:ln>
        </p:spPr>
      </p:pic>
      <p:sp>
        <p:nvSpPr>
          <p:cNvPr id="217" name="Google Shape;217;p11"/>
          <p:cNvSpPr/>
          <p:nvPr/>
        </p:nvSpPr>
        <p:spPr>
          <a:xfrm>
            <a:off x="3152775" y="4023995"/>
            <a:ext cx="7167245" cy="2066925"/>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 name="Google Shape;218;p11"/>
          <p:cNvSpPr txBox="1"/>
          <p:nvPr/>
        </p:nvSpPr>
        <p:spPr>
          <a:xfrm>
            <a:off x="3597910" y="4388485"/>
            <a:ext cx="6171565" cy="163004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lt1"/>
              </a:buClr>
              <a:buSzPts val="2000"/>
              <a:buFont typeface="Noto Sans Symbols"/>
              <a:buChar char="⮚"/>
            </a:pPr>
            <a:r>
              <a:rPr lang="en-GB" sz="2000" b="1" dirty="0" err="1">
                <a:solidFill>
                  <a:schemeClr val="lt1"/>
                </a:solidFill>
                <a:latin typeface="Calibri"/>
                <a:ea typeface="Calibri"/>
                <a:cs typeface="Calibri"/>
                <a:sym typeface="Calibri"/>
              </a:rPr>
              <a:t>Asp.Net</a:t>
            </a:r>
            <a:r>
              <a:rPr lang="en-GB" sz="2000" b="1" dirty="0">
                <a:solidFill>
                  <a:schemeClr val="lt1"/>
                </a:solidFill>
                <a:latin typeface="Calibri"/>
                <a:ea typeface="Calibri"/>
                <a:cs typeface="Calibri"/>
                <a:sym typeface="Calibri"/>
              </a:rPr>
              <a:t> core web server is required.</a:t>
            </a:r>
            <a:endParaRPr sz="2000" b="1" dirty="0">
              <a:solidFill>
                <a:schemeClr val="lt1"/>
              </a:solidFill>
              <a:latin typeface="Calibri"/>
              <a:ea typeface="Calibri"/>
              <a:cs typeface="Calibri"/>
              <a:sym typeface="Calibri"/>
            </a:endParaRPr>
          </a:p>
          <a:p>
            <a:pPr marL="342900" marR="0" lvl="0" indent="-342900" algn="l" rtl="0">
              <a:spcBef>
                <a:spcPts val="0"/>
              </a:spcBef>
              <a:spcAft>
                <a:spcPts val="0"/>
              </a:spcAft>
              <a:buClr>
                <a:schemeClr val="lt1"/>
              </a:buClr>
              <a:buSzPts val="2000"/>
              <a:buFont typeface="Noto Sans Symbols"/>
              <a:buChar char="⮚"/>
            </a:pPr>
            <a:r>
              <a:rPr lang="en-GB" sz="2000" b="1" dirty="0">
                <a:solidFill>
                  <a:schemeClr val="lt1"/>
                </a:solidFill>
                <a:latin typeface="Calibri"/>
                <a:ea typeface="Calibri"/>
                <a:cs typeface="Calibri"/>
                <a:sym typeface="Calibri"/>
              </a:rPr>
              <a:t>An active connection t the server is required.</a:t>
            </a:r>
            <a:endParaRPr sz="2000" b="1" dirty="0">
              <a:solidFill>
                <a:schemeClr val="lt1"/>
              </a:solidFill>
              <a:latin typeface="Calibri"/>
              <a:ea typeface="Calibri"/>
              <a:cs typeface="Calibri"/>
              <a:sym typeface="Calibri"/>
            </a:endParaRPr>
          </a:p>
          <a:p>
            <a:pPr marL="342900" marR="0" lvl="0" indent="-342900" algn="l" rtl="0">
              <a:spcBef>
                <a:spcPts val="0"/>
              </a:spcBef>
              <a:spcAft>
                <a:spcPts val="0"/>
              </a:spcAft>
              <a:buClr>
                <a:schemeClr val="lt1"/>
              </a:buClr>
              <a:buSzPts val="2000"/>
              <a:buFont typeface="Noto Sans Symbols"/>
              <a:buChar char="⮚"/>
            </a:pPr>
            <a:r>
              <a:rPr lang="en-GB" sz="2000" b="1" dirty="0">
                <a:solidFill>
                  <a:schemeClr val="lt1"/>
                </a:solidFill>
                <a:latin typeface="Calibri"/>
                <a:ea typeface="Calibri"/>
                <a:cs typeface="Calibri"/>
                <a:sym typeface="Calibri"/>
              </a:rPr>
              <a:t>Higher latency due to the round trip to the server.</a:t>
            </a:r>
            <a:endParaRPr sz="2000" b="1" dirty="0">
              <a:solidFill>
                <a:schemeClr val="lt1"/>
              </a:solidFill>
              <a:latin typeface="Calibri"/>
              <a:ea typeface="Calibri"/>
              <a:cs typeface="Calibri"/>
              <a:sym typeface="Calibri"/>
            </a:endParaRPr>
          </a:p>
          <a:p>
            <a:pPr marL="342900" marR="0" lvl="0" indent="-342900" algn="l" rtl="0">
              <a:spcBef>
                <a:spcPts val="0"/>
              </a:spcBef>
              <a:spcAft>
                <a:spcPts val="0"/>
              </a:spcAft>
              <a:buClr>
                <a:schemeClr val="lt1"/>
              </a:buClr>
              <a:buSzPts val="2000"/>
              <a:buFont typeface="Noto Sans Symbols"/>
              <a:buChar char="⮚"/>
            </a:pPr>
            <a:r>
              <a:rPr lang="en-GB" sz="2000" b="1" dirty="0" err="1">
                <a:solidFill>
                  <a:schemeClr val="lt1"/>
                </a:solidFill>
                <a:latin typeface="Calibri"/>
                <a:ea typeface="Calibri"/>
                <a:cs typeface="Calibri"/>
                <a:sym typeface="Calibri"/>
              </a:rPr>
              <a:t>Scalablity</a:t>
            </a:r>
            <a:r>
              <a:rPr lang="en-GB" sz="2000" b="1" dirty="0">
                <a:solidFill>
                  <a:schemeClr val="lt1"/>
                </a:solidFill>
                <a:latin typeface="Calibri"/>
                <a:ea typeface="Calibri"/>
                <a:cs typeface="Calibri"/>
                <a:sym typeface="Calibri"/>
              </a:rPr>
              <a:t> can be challenge</a:t>
            </a:r>
            <a:endParaRPr sz="2000" b="1" dirty="0">
              <a:solidFill>
                <a:schemeClr val="lt1"/>
              </a:solidFill>
              <a:latin typeface="Calibri"/>
              <a:ea typeface="Calibri"/>
              <a:cs typeface="Calibri"/>
              <a:sym typeface="Calibri"/>
            </a:endParaRPr>
          </a:p>
          <a:p>
            <a:pPr marL="342900" marR="0" lvl="0" indent="-342900" algn="l" rtl="0">
              <a:spcBef>
                <a:spcPts val="0"/>
              </a:spcBef>
              <a:spcAft>
                <a:spcPts val="0"/>
              </a:spcAft>
              <a:buNone/>
            </a:pPr>
            <a:endParaRPr sz="2000" b="1" dirty="0">
              <a:solidFill>
                <a:schemeClr val="lt1"/>
              </a:solidFill>
              <a:latin typeface="Calibri"/>
              <a:ea typeface="Calibri"/>
              <a:cs typeface="Calibri"/>
              <a:sym typeface="Calibri"/>
            </a:endParaRPr>
          </a:p>
        </p:txBody>
      </p:sp>
      <p:pic>
        <p:nvPicPr>
          <p:cNvPr id="219" name="Google Shape;219;p11" descr="Aitrich-Logo-Transparent-BG-1536x504"/>
          <p:cNvPicPr preferRelativeResize="0"/>
          <p:nvPr/>
        </p:nvPicPr>
        <p:blipFill rotWithShape="1">
          <a:blip r:embed="rId5">
            <a:alphaModFix/>
          </a:blip>
          <a:srcRect/>
          <a:stretch/>
        </p:blipFill>
        <p:spPr>
          <a:xfrm>
            <a:off x="156210" y="6344920"/>
            <a:ext cx="1383030" cy="392430"/>
          </a:xfrm>
          <a:prstGeom prst="rect">
            <a:avLst/>
          </a:prstGeom>
          <a:noFill/>
          <a:ln>
            <a:noFill/>
          </a:ln>
        </p:spPr>
      </p:pic>
      <p:sp>
        <p:nvSpPr>
          <p:cNvPr id="220" name="Google Shape;220;p11"/>
          <p:cNvSpPr txBox="1"/>
          <p:nvPr/>
        </p:nvSpPr>
        <p:spPr>
          <a:xfrm>
            <a:off x="773430" y="418465"/>
            <a:ext cx="10085705" cy="4603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2"/>
                </a:solidFill>
                <a:latin typeface="Bell MT"/>
                <a:ea typeface="Bell MT"/>
                <a:cs typeface="Bell MT"/>
                <a:sym typeface="Bell MT"/>
              </a:rPr>
              <a:t>Advantages and disadvantages</a:t>
            </a:r>
            <a:endParaRPr sz="2400">
              <a:solidFill>
                <a:schemeClr val="dk2"/>
              </a:solidFill>
              <a:latin typeface="Bell MT"/>
              <a:ea typeface="Bell MT"/>
              <a:cs typeface="Bell MT"/>
              <a:sym typeface="Bell MT"/>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6"/>
                                        </p:tgtEl>
                                        <p:attrNameLst>
                                          <p:attrName>style.visibility</p:attrName>
                                        </p:attrNameLst>
                                      </p:cBhvr>
                                      <p:to>
                                        <p:strVal val="visible"/>
                                      </p:to>
                                    </p:set>
                                    <p:anim calcmode="lin" valueType="num">
                                      <p:cBhvr additive="base">
                                        <p:cTn id="7" dur="500"/>
                                        <p:tgtEl>
                                          <p:spTgt spid="216"/>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18"/>
                                        </p:tgtEl>
                                        <p:attrNameLst>
                                          <p:attrName>style.visibility</p:attrName>
                                        </p:attrNameLst>
                                      </p:cBhvr>
                                      <p:to>
                                        <p:strVal val="visible"/>
                                      </p:to>
                                    </p:set>
                                    <p:anim calcmode="lin" valueType="num">
                                      <p:cBhvr additive="base">
                                        <p:cTn id="10" dur="500"/>
                                        <p:tgtEl>
                                          <p:spTgt spid="218"/>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217"/>
                                        </p:tgtEl>
                                        <p:attrNameLst>
                                          <p:attrName>style.visibility</p:attrName>
                                        </p:attrNameLst>
                                      </p:cBhvr>
                                      <p:to>
                                        <p:strVal val="visible"/>
                                      </p:to>
                                    </p:set>
                                    <p:anim calcmode="lin" valueType="num">
                                      <p:cBhvr additive="base">
                                        <p:cTn id="13" dur="500"/>
                                        <p:tgtEl>
                                          <p:spTgt spid="2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2"/>
              </a:buClr>
              <a:buSzPct val="100000"/>
              <a:buFont typeface="Bell MT"/>
              <a:buNone/>
            </a:pPr>
            <a:r>
              <a:rPr lang="en-GB" sz="4890">
                <a:solidFill>
                  <a:schemeClr val="dk2"/>
                </a:solidFill>
                <a:latin typeface="Bell MT"/>
                <a:ea typeface="Bell MT"/>
                <a:cs typeface="Bell MT"/>
                <a:sym typeface="Bell MT"/>
              </a:rPr>
              <a:t>Blazor project structure</a:t>
            </a:r>
            <a:r>
              <a:rPr lang="en-GB"/>
              <a:t/>
            </a:r>
            <a:br>
              <a:rPr lang="en-GB"/>
            </a:br>
            <a:endParaRPr/>
          </a:p>
        </p:txBody>
      </p:sp>
      <p:pic>
        <p:nvPicPr>
          <p:cNvPr id="226" name="Google Shape;226;p12" descr="12083364_Wavy_Bus-19_Single-04"/>
          <p:cNvPicPr preferRelativeResize="0">
            <a:picLocks noGrp="1"/>
          </p:cNvPicPr>
          <p:nvPr>
            <p:ph type="body" idx="1"/>
          </p:nvPr>
        </p:nvPicPr>
        <p:blipFill rotWithShape="1">
          <a:blip r:embed="rId3">
            <a:alphaModFix/>
          </a:blip>
          <a:srcRect/>
          <a:stretch/>
        </p:blipFill>
        <p:spPr>
          <a:xfrm>
            <a:off x="7590155" y="1655445"/>
            <a:ext cx="4351655" cy="4351655"/>
          </a:xfrm>
          <a:prstGeom prst="rect">
            <a:avLst/>
          </a:prstGeom>
          <a:noFill/>
          <a:ln>
            <a:noFill/>
          </a:ln>
        </p:spPr>
      </p:pic>
      <p:sp>
        <p:nvSpPr>
          <p:cNvPr id="227" name="Google Shape;227;p12"/>
          <p:cNvSpPr/>
          <p:nvPr/>
        </p:nvSpPr>
        <p:spPr>
          <a:xfrm>
            <a:off x="859790" y="1655445"/>
            <a:ext cx="6367145" cy="138811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8" name="Google Shape;228;p12"/>
          <p:cNvSpPr txBox="1"/>
          <p:nvPr/>
        </p:nvSpPr>
        <p:spPr>
          <a:xfrm>
            <a:off x="1191895" y="1911350"/>
            <a:ext cx="5733415" cy="9531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err="1">
                <a:solidFill>
                  <a:schemeClr val="dk1"/>
                </a:solidFill>
                <a:latin typeface="Calibri"/>
                <a:ea typeface="Calibri"/>
                <a:cs typeface="Calibri"/>
                <a:sym typeface="Calibri"/>
              </a:rPr>
              <a:t>Program.cs</a:t>
            </a:r>
            <a:r>
              <a:rPr lang="en-GB" sz="1800" b="1" dirty="0" err="1">
                <a:solidFill>
                  <a:schemeClr val="lt1"/>
                </a:solidFill>
                <a:latin typeface="Calibri"/>
                <a:ea typeface="Calibri"/>
                <a:cs typeface="Calibri"/>
                <a:sym typeface="Calibri"/>
              </a:rPr>
              <a:t>:contains</a:t>
            </a:r>
            <a:r>
              <a:rPr lang="en-GB" sz="1800" b="1" dirty="0">
                <a:solidFill>
                  <a:schemeClr val="lt1"/>
                </a:solidFill>
                <a:latin typeface="Calibri"/>
                <a:ea typeface="Calibri"/>
                <a:cs typeface="Calibri"/>
                <a:sym typeface="Calibri"/>
              </a:rPr>
              <a:t> the Main() method which is the entry point for both the project types</a:t>
            </a:r>
            <a:endParaRPr sz="1800" b="1" dirty="0">
              <a:solidFill>
                <a:schemeClr val="lt1"/>
              </a:solidFill>
              <a:latin typeface="Calibri"/>
              <a:ea typeface="Calibri"/>
              <a:cs typeface="Calibri"/>
              <a:sym typeface="Calibri"/>
            </a:endParaRPr>
          </a:p>
          <a:p>
            <a:pPr marL="0" marR="0" lvl="0" indent="0" algn="l" rtl="0">
              <a:spcBef>
                <a:spcPts val="0"/>
              </a:spcBef>
              <a:spcAft>
                <a:spcPts val="0"/>
              </a:spcAft>
              <a:buNone/>
            </a:pPr>
            <a:endParaRPr sz="1800" b="1" dirty="0">
              <a:solidFill>
                <a:schemeClr val="lt1"/>
              </a:solidFill>
              <a:latin typeface="Calibri"/>
              <a:ea typeface="Calibri"/>
              <a:cs typeface="Calibri"/>
              <a:sym typeface="Calibri"/>
            </a:endParaRPr>
          </a:p>
        </p:txBody>
      </p:sp>
      <p:sp>
        <p:nvSpPr>
          <p:cNvPr id="229" name="Google Shape;229;p12"/>
          <p:cNvSpPr/>
          <p:nvPr/>
        </p:nvSpPr>
        <p:spPr>
          <a:xfrm>
            <a:off x="875030" y="3307080"/>
            <a:ext cx="6367145" cy="138811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0" name="Google Shape;230;p12"/>
          <p:cNvSpPr txBox="1"/>
          <p:nvPr/>
        </p:nvSpPr>
        <p:spPr>
          <a:xfrm>
            <a:off x="1116330" y="3493770"/>
            <a:ext cx="5808980" cy="1014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err="1">
                <a:solidFill>
                  <a:schemeClr val="dk1"/>
                </a:solidFill>
                <a:latin typeface="Calibri"/>
                <a:ea typeface="Calibri"/>
                <a:cs typeface="Calibri"/>
                <a:sym typeface="Calibri"/>
              </a:rPr>
              <a:t>wwwroot</a:t>
            </a:r>
            <a:r>
              <a:rPr lang="en-GB" sz="2000" b="1" dirty="0" err="1">
                <a:solidFill>
                  <a:schemeClr val="lt1"/>
                </a:solidFill>
                <a:latin typeface="Calibri"/>
                <a:ea typeface="Calibri"/>
                <a:cs typeface="Calibri"/>
                <a:sym typeface="Calibri"/>
              </a:rPr>
              <a:t>:For</a:t>
            </a:r>
            <a:r>
              <a:rPr lang="en-GB" sz="2000" b="1" dirty="0">
                <a:solidFill>
                  <a:schemeClr val="lt1"/>
                </a:solidFill>
                <a:latin typeface="Calibri"/>
                <a:ea typeface="Calibri"/>
                <a:cs typeface="Calibri"/>
                <a:sym typeface="Calibri"/>
              </a:rPr>
              <a:t> both the project types, this folder contains the static files like images, stylesheets etc.</a:t>
            </a:r>
            <a:endParaRPr sz="2000" b="1" dirty="0">
              <a:solidFill>
                <a:schemeClr val="lt1"/>
              </a:solidFill>
              <a:latin typeface="Calibri"/>
              <a:ea typeface="Calibri"/>
              <a:cs typeface="Calibri"/>
              <a:sym typeface="Calibri"/>
            </a:endParaRPr>
          </a:p>
          <a:p>
            <a:pPr marL="0" marR="0" lvl="0" indent="0" algn="l" rtl="0">
              <a:spcBef>
                <a:spcPts val="0"/>
              </a:spcBef>
              <a:spcAft>
                <a:spcPts val="0"/>
              </a:spcAft>
              <a:buNone/>
            </a:pPr>
            <a:endParaRPr sz="2000" b="1" dirty="0">
              <a:solidFill>
                <a:schemeClr val="lt1"/>
              </a:solidFill>
              <a:latin typeface="Calibri"/>
              <a:ea typeface="Calibri"/>
              <a:cs typeface="Calibri"/>
              <a:sym typeface="Calibri"/>
            </a:endParaRPr>
          </a:p>
        </p:txBody>
      </p:sp>
      <p:sp>
        <p:nvSpPr>
          <p:cNvPr id="231" name="Google Shape;231;p12"/>
          <p:cNvSpPr/>
          <p:nvPr/>
        </p:nvSpPr>
        <p:spPr>
          <a:xfrm>
            <a:off x="875030" y="4958715"/>
            <a:ext cx="6367145" cy="138811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12"/>
          <p:cNvSpPr txBox="1"/>
          <p:nvPr/>
        </p:nvSpPr>
        <p:spPr>
          <a:xfrm>
            <a:off x="1116330" y="5047615"/>
            <a:ext cx="5899785" cy="11988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n-GB" sz="1800" b="1" dirty="0" err="1">
                <a:solidFill>
                  <a:schemeClr val="dk1"/>
                </a:solidFill>
                <a:latin typeface="Calibri"/>
                <a:ea typeface="Calibri"/>
                <a:cs typeface="Calibri"/>
                <a:sym typeface="Calibri"/>
              </a:rPr>
              <a:t>App.razor</a:t>
            </a:r>
            <a:r>
              <a:rPr lang="en-GB" sz="1800" b="1" dirty="0" err="1">
                <a:solidFill>
                  <a:schemeClr val="lt1"/>
                </a:solidFill>
                <a:latin typeface="Calibri"/>
                <a:ea typeface="Calibri"/>
                <a:cs typeface="Calibri"/>
                <a:sym typeface="Calibri"/>
              </a:rPr>
              <a:t>:This</a:t>
            </a:r>
            <a:r>
              <a:rPr lang="en-GB" sz="1800" b="1" dirty="0">
                <a:solidFill>
                  <a:schemeClr val="lt1"/>
                </a:solidFill>
                <a:latin typeface="Calibri"/>
                <a:ea typeface="Calibri"/>
                <a:cs typeface="Calibri"/>
                <a:sym typeface="Calibri"/>
              </a:rPr>
              <a:t> is the root component of the application. It uses the built-in Router component and sets up client-side routing.</a:t>
            </a:r>
            <a:endParaRPr sz="1800" b="1" dirty="0">
              <a:solidFill>
                <a:schemeClr val="lt1"/>
              </a:solidFill>
              <a:latin typeface="Calibri"/>
              <a:ea typeface="Calibri"/>
              <a:cs typeface="Calibri"/>
              <a:sym typeface="Calibri"/>
            </a:endParaRPr>
          </a:p>
          <a:p>
            <a:pPr marL="0" marR="0" lvl="0" indent="0" algn="l" rtl="0">
              <a:spcBef>
                <a:spcPts val="0"/>
              </a:spcBef>
              <a:spcAft>
                <a:spcPts val="0"/>
              </a:spcAft>
              <a:buNone/>
            </a:pPr>
            <a:endParaRPr sz="1800" b="1" dirty="0">
              <a:solidFill>
                <a:schemeClr val="lt1"/>
              </a:solidFill>
              <a:latin typeface="Calibri"/>
              <a:ea typeface="Calibri"/>
              <a:cs typeface="Calibri"/>
              <a:sym typeface="Calibri"/>
            </a:endParaRPr>
          </a:p>
        </p:txBody>
      </p:sp>
      <p:pic>
        <p:nvPicPr>
          <p:cNvPr id="233" name="Google Shape;233;p12" descr="Aitrich-Logo-Transparent-BG-1536x504"/>
          <p:cNvPicPr preferRelativeResize="0"/>
          <p:nvPr/>
        </p:nvPicPr>
        <p:blipFill rotWithShape="1">
          <a:blip r:embed="rId4">
            <a:alphaModFix/>
          </a:blip>
          <a:srcRect/>
          <a:stretch/>
        </p:blipFill>
        <p:spPr>
          <a:xfrm>
            <a:off x="111125" y="6345555"/>
            <a:ext cx="1247775" cy="3479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anim calcmode="lin" valueType="num">
                                      <p:cBhvr additive="base">
                                        <p:cTn id="7" dur="500"/>
                                        <p:tgtEl>
                                          <p:spTgt spid="230"/>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29"/>
                                        </p:tgtEl>
                                        <p:attrNameLst>
                                          <p:attrName>style.visibility</p:attrName>
                                        </p:attrNameLst>
                                      </p:cBhvr>
                                      <p:to>
                                        <p:strVal val="visible"/>
                                      </p:to>
                                    </p:set>
                                    <p:anim calcmode="lin" valueType="num">
                                      <p:cBhvr additive="base">
                                        <p:cTn id="10" dur="500"/>
                                        <p:tgtEl>
                                          <p:spTgt spid="229"/>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32"/>
                                        </p:tgtEl>
                                        <p:attrNameLst>
                                          <p:attrName>style.visibility</p:attrName>
                                        </p:attrNameLst>
                                      </p:cBhvr>
                                      <p:to>
                                        <p:strVal val="visible"/>
                                      </p:to>
                                    </p:set>
                                    <p:anim calcmode="lin" valueType="num">
                                      <p:cBhvr additive="base">
                                        <p:cTn id="15" dur="500"/>
                                        <p:tgtEl>
                                          <p:spTgt spid="232"/>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231"/>
                                        </p:tgtEl>
                                        <p:attrNameLst>
                                          <p:attrName>style.visibility</p:attrName>
                                        </p:attrNameLst>
                                      </p:cBhvr>
                                      <p:to>
                                        <p:strVal val="visible"/>
                                      </p:to>
                                    </p:set>
                                    <p:anim calcmode="lin" valueType="num">
                                      <p:cBhvr additive="base">
                                        <p:cTn id="18" dur="500"/>
                                        <p:tgtEl>
                                          <p:spTgt spid="2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3"/>
          <p:cNvSpPr/>
          <p:nvPr/>
        </p:nvSpPr>
        <p:spPr>
          <a:xfrm>
            <a:off x="482600" y="508635"/>
            <a:ext cx="7106285" cy="138811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9" name="Google Shape;239;p13" descr="11669231_20945821 (1)"/>
          <p:cNvPicPr preferRelativeResize="0">
            <a:picLocks noGrp="1"/>
          </p:cNvPicPr>
          <p:nvPr>
            <p:ph type="body" idx="1"/>
          </p:nvPr>
        </p:nvPicPr>
        <p:blipFill rotWithShape="1">
          <a:blip r:embed="rId3">
            <a:alphaModFix/>
          </a:blip>
          <a:srcRect/>
          <a:stretch/>
        </p:blipFill>
        <p:spPr>
          <a:xfrm>
            <a:off x="7752715" y="2422525"/>
            <a:ext cx="4046855" cy="2698115"/>
          </a:xfrm>
          <a:prstGeom prst="rect">
            <a:avLst/>
          </a:prstGeom>
          <a:noFill/>
          <a:ln>
            <a:noFill/>
          </a:ln>
        </p:spPr>
      </p:pic>
      <p:sp>
        <p:nvSpPr>
          <p:cNvPr id="240" name="Google Shape;240;p13"/>
          <p:cNvSpPr txBox="1"/>
          <p:nvPr/>
        </p:nvSpPr>
        <p:spPr>
          <a:xfrm>
            <a:off x="708660" y="664845"/>
            <a:ext cx="6654800" cy="13220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dk1"/>
                </a:solidFill>
                <a:latin typeface="Calibri"/>
                <a:ea typeface="Calibri"/>
                <a:cs typeface="Calibri"/>
                <a:sym typeface="Calibri"/>
              </a:rPr>
              <a:t>Pages </a:t>
            </a:r>
            <a:r>
              <a:rPr lang="en-GB" sz="2000" b="1" dirty="0" err="1">
                <a:solidFill>
                  <a:schemeClr val="dk1"/>
                </a:solidFill>
                <a:latin typeface="Calibri"/>
                <a:ea typeface="Calibri"/>
                <a:cs typeface="Calibri"/>
                <a:sym typeface="Calibri"/>
              </a:rPr>
              <a:t>folder:</a:t>
            </a:r>
            <a:r>
              <a:rPr lang="en-GB" sz="2000" b="1" dirty="0" err="1">
                <a:solidFill>
                  <a:schemeClr val="lt1"/>
                </a:solidFill>
                <a:latin typeface="Calibri"/>
                <a:ea typeface="Calibri"/>
                <a:cs typeface="Calibri"/>
                <a:sym typeface="Calibri"/>
              </a:rPr>
              <a:t>This</a:t>
            </a:r>
            <a:r>
              <a:rPr lang="en-GB" sz="2000" b="1" dirty="0">
                <a:solidFill>
                  <a:schemeClr val="lt1"/>
                </a:solidFill>
                <a:latin typeface="Calibri"/>
                <a:ea typeface="Calibri"/>
                <a:cs typeface="Calibri"/>
                <a:sym typeface="Calibri"/>
              </a:rPr>
              <a:t> folder contains the _Host razor page and the routable components that make up the </a:t>
            </a:r>
            <a:r>
              <a:rPr lang="en-GB" sz="2000" b="1" dirty="0" err="1">
                <a:solidFill>
                  <a:schemeClr val="lt1"/>
                </a:solidFill>
                <a:latin typeface="Calibri"/>
                <a:ea typeface="Calibri"/>
                <a:cs typeface="Calibri"/>
                <a:sym typeface="Calibri"/>
              </a:rPr>
              <a:t>Blazor</a:t>
            </a:r>
            <a:r>
              <a:rPr lang="en-GB" sz="2000" b="1" dirty="0">
                <a:solidFill>
                  <a:schemeClr val="lt1"/>
                </a:solidFill>
                <a:latin typeface="Calibri"/>
                <a:ea typeface="Calibri"/>
                <a:cs typeface="Calibri"/>
                <a:sym typeface="Calibri"/>
              </a:rPr>
              <a:t> app. The components have the .razor extension.</a:t>
            </a:r>
            <a:endParaRPr sz="2000" b="1" dirty="0">
              <a:solidFill>
                <a:schemeClr val="lt1"/>
              </a:solidFill>
              <a:latin typeface="Calibri"/>
              <a:ea typeface="Calibri"/>
              <a:cs typeface="Calibri"/>
              <a:sym typeface="Calibri"/>
            </a:endParaRPr>
          </a:p>
          <a:p>
            <a:pPr marL="0" marR="0" lvl="0" indent="0" algn="l" rtl="0">
              <a:spcBef>
                <a:spcPts val="0"/>
              </a:spcBef>
              <a:spcAft>
                <a:spcPts val="0"/>
              </a:spcAft>
              <a:buNone/>
            </a:pPr>
            <a:endParaRPr sz="2000" b="1" dirty="0">
              <a:solidFill>
                <a:schemeClr val="lt1"/>
              </a:solidFill>
              <a:latin typeface="Calibri"/>
              <a:ea typeface="Calibri"/>
              <a:cs typeface="Calibri"/>
              <a:sym typeface="Calibri"/>
            </a:endParaRPr>
          </a:p>
        </p:txBody>
      </p:sp>
      <p:sp>
        <p:nvSpPr>
          <p:cNvPr id="241" name="Google Shape;241;p13"/>
          <p:cNvSpPr/>
          <p:nvPr/>
        </p:nvSpPr>
        <p:spPr>
          <a:xfrm>
            <a:off x="467360" y="2373630"/>
            <a:ext cx="7106285" cy="138811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 name="Google Shape;242;p13"/>
          <p:cNvSpPr txBox="1"/>
          <p:nvPr/>
        </p:nvSpPr>
        <p:spPr>
          <a:xfrm>
            <a:off x="753745" y="2606040"/>
            <a:ext cx="660908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3" name="Google Shape;243;p13"/>
          <p:cNvSpPr txBox="1"/>
          <p:nvPr/>
        </p:nvSpPr>
        <p:spPr>
          <a:xfrm>
            <a:off x="617855" y="2422525"/>
            <a:ext cx="6956425" cy="16300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dk1"/>
                </a:solidFill>
                <a:latin typeface="Calibri"/>
                <a:ea typeface="Calibri"/>
                <a:cs typeface="Calibri"/>
                <a:sym typeface="Calibri"/>
              </a:rPr>
              <a:t>Shared </a:t>
            </a:r>
            <a:r>
              <a:rPr lang="en-GB" sz="2000" b="1" dirty="0" err="1">
                <a:solidFill>
                  <a:schemeClr val="dk1"/>
                </a:solidFill>
                <a:latin typeface="Calibri"/>
                <a:ea typeface="Calibri"/>
                <a:cs typeface="Calibri"/>
                <a:sym typeface="Calibri"/>
              </a:rPr>
              <a:t>folder:</a:t>
            </a:r>
            <a:r>
              <a:rPr lang="en-GB" sz="2000" b="1" dirty="0" err="1">
                <a:solidFill>
                  <a:schemeClr val="lt1"/>
                </a:solidFill>
                <a:latin typeface="Calibri"/>
                <a:ea typeface="Calibri"/>
                <a:cs typeface="Calibri"/>
                <a:sym typeface="Calibri"/>
              </a:rPr>
              <a:t>As</a:t>
            </a:r>
            <a:r>
              <a:rPr lang="en-GB" sz="2000" b="1" dirty="0">
                <a:solidFill>
                  <a:schemeClr val="lt1"/>
                </a:solidFill>
                <a:latin typeface="Calibri"/>
                <a:ea typeface="Calibri"/>
                <a:cs typeface="Calibri"/>
                <a:sym typeface="Calibri"/>
              </a:rPr>
              <a:t> the name implies, contains the shared components(</a:t>
            </a:r>
            <a:r>
              <a:rPr lang="en-GB" sz="2000" b="1" dirty="0" err="1">
                <a:solidFill>
                  <a:schemeClr val="lt1"/>
                </a:solidFill>
                <a:latin typeface="Calibri"/>
                <a:ea typeface="Calibri"/>
                <a:cs typeface="Calibri"/>
                <a:sym typeface="Calibri"/>
              </a:rPr>
              <a:t>MainLayout</a:t>
            </a:r>
            <a:r>
              <a:rPr lang="en-GB" sz="2000" b="1" dirty="0">
                <a:solidFill>
                  <a:schemeClr val="lt1"/>
                </a:solidFill>
                <a:latin typeface="Calibri"/>
                <a:ea typeface="Calibri"/>
                <a:cs typeface="Calibri"/>
                <a:sym typeface="Calibri"/>
              </a:rPr>
              <a:t> </a:t>
            </a:r>
            <a:r>
              <a:rPr lang="en-GB" sz="2000" b="1" dirty="0" err="1">
                <a:solidFill>
                  <a:schemeClr val="lt1"/>
                </a:solidFill>
                <a:latin typeface="Calibri"/>
                <a:ea typeface="Calibri"/>
                <a:cs typeface="Calibri"/>
                <a:sym typeface="Calibri"/>
              </a:rPr>
              <a:t>componen</a:t>
            </a:r>
            <a:r>
              <a:rPr lang="en-GB" sz="2000" b="1" dirty="0">
                <a:solidFill>
                  <a:schemeClr val="lt1"/>
                </a:solidFill>
                <a:latin typeface="Calibri"/>
                <a:ea typeface="Calibri"/>
                <a:cs typeface="Calibri"/>
                <a:sym typeface="Calibri"/>
              </a:rPr>
              <a:t>(</a:t>
            </a:r>
            <a:r>
              <a:rPr lang="en-GB" sz="2000" b="1" dirty="0" err="1">
                <a:solidFill>
                  <a:schemeClr val="lt1"/>
                </a:solidFill>
                <a:latin typeface="Calibri"/>
                <a:ea typeface="Calibri"/>
                <a:cs typeface="Calibri"/>
                <a:sym typeface="Calibri"/>
              </a:rPr>
              <a:t>MainLayout.razor</a:t>
            </a:r>
            <a:r>
              <a:rPr lang="en-GB" sz="2000" b="1" dirty="0">
                <a:solidFill>
                  <a:schemeClr val="lt1"/>
                </a:solidFill>
                <a:latin typeface="Calibri"/>
                <a:ea typeface="Calibri"/>
                <a:cs typeface="Calibri"/>
                <a:sym typeface="Calibri"/>
              </a:rPr>
              <a:t>),</a:t>
            </a:r>
            <a:r>
              <a:rPr lang="en-GB" sz="2000" b="1" dirty="0" err="1">
                <a:solidFill>
                  <a:schemeClr val="lt1"/>
                </a:solidFill>
                <a:latin typeface="Calibri"/>
                <a:ea typeface="Calibri"/>
                <a:cs typeface="Calibri"/>
                <a:sym typeface="Calibri"/>
              </a:rPr>
              <a:t>NavMenu</a:t>
            </a:r>
            <a:r>
              <a:rPr lang="en-GB" sz="2000" b="1" dirty="0">
                <a:solidFill>
                  <a:schemeClr val="lt1"/>
                </a:solidFill>
                <a:latin typeface="Calibri"/>
                <a:ea typeface="Calibri"/>
                <a:cs typeface="Calibri"/>
                <a:sym typeface="Calibri"/>
              </a:rPr>
              <a:t> component (</a:t>
            </a:r>
            <a:r>
              <a:rPr lang="en-GB" sz="2000" b="1" dirty="0" err="1">
                <a:solidFill>
                  <a:schemeClr val="lt1"/>
                </a:solidFill>
                <a:latin typeface="Calibri"/>
                <a:ea typeface="Calibri"/>
                <a:cs typeface="Calibri"/>
                <a:sym typeface="Calibri"/>
              </a:rPr>
              <a:t>NavMenu.razor</a:t>
            </a:r>
            <a:r>
              <a:rPr lang="en-GB" sz="2000" b="1" dirty="0">
                <a:solidFill>
                  <a:schemeClr val="lt1"/>
                </a:solidFill>
                <a:latin typeface="Calibri"/>
                <a:ea typeface="Calibri"/>
                <a:cs typeface="Calibri"/>
                <a:sym typeface="Calibri"/>
              </a:rPr>
              <a:t>))</a:t>
            </a:r>
            <a:endParaRPr sz="2000" b="1" dirty="0">
              <a:solidFill>
                <a:schemeClr val="lt1"/>
              </a:solidFill>
              <a:latin typeface="Calibri"/>
              <a:ea typeface="Calibri"/>
              <a:cs typeface="Calibri"/>
              <a:sym typeface="Calibri"/>
            </a:endParaRPr>
          </a:p>
          <a:p>
            <a:pPr marL="0" marR="0" lvl="0" indent="0" algn="l" rtl="0">
              <a:spcBef>
                <a:spcPts val="0"/>
              </a:spcBef>
              <a:spcAft>
                <a:spcPts val="0"/>
              </a:spcAft>
              <a:buNone/>
            </a:pPr>
            <a:endParaRPr sz="2000" b="1" dirty="0">
              <a:solidFill>
                <a:schemeClr val="lt1"/>
              </a:solidFill>
              <a:latin typeface="Calibri"/>
              <a:ea typeface="Calibri"/>
              <a:cs typeface="Calibri"/>
              <a:sym typeface="Calibri"/>
            </a:endParaRPr>
          </a:p>
        </p:txBody>
      </p:sp>
      <p:sp>
        <p:nvSpPr>
          <p:cNvPr id="244" name="Google Shape;244;p13"/>
          <p:cNvSpPr/>
          <p:nvPr/>
        </p:nvSpPr>
        <p:spPr>
          <a:xfrm>
            <a:off x="497205" y="4147820"/>
            <a:ext cx="7106285" cy="138811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 name="Google Shape;245;p13"/>
          <p:cNvSpPr txBox="1"/>
          <p:nvPr/>
        </p:nvSpPr>
        <p:spPr>
          <a:xfrm>
            <a:off x="678180" y="4488180"/>
            <a:ext cx="6714490"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dk1"/>
                </a:solidFill>
                <a:latin typeface="Calibri"/>
                <a:ea typeface="Calibri"/>
                <a:cs typeface="Calibri"/>
                <a:sym typeface="Calibri"/>
              </a:rPr>
              <a:t>_</a:t>
            </a:r>
            <a:r>
              <a:rPr lang="en-GB" sz="2000" b="1" dirty="0" err="1">
                <a:solidFill>
                  <a:schemeClr val="dk1"/>
                </a:solidFill>
                <a:latin typeface="Calibri"/>
                <a:ea typeface="Calibri"/>
                <a:cs typeface="Calibri"/>
                <a:sym typeface="Calibri"/>
              </a:rPr>
              <a:t>Imports.razor:</a:t>
            </a:r>
            <a:r>
              <a:rPr lang="en-GB" sz="2000" b="1" dirty="0" err="1">
                <a:solidFill>
                  <a:schemeClr val="lt1"/>
                </a:solidFill>
                <a:latin typeface="Calibri"/>
                <a:ea typeface="Calibri"/>
                <a:cs typeface="Calibri"/>
                <a:sym typeface="Calibri"/>
              </a:rPr>
              <a:t>contains</a:t>
            </a:r>
            <a:r>
              <a:rPr lang="en-GB" sz="2000" b="1" dirty="0">
                <a:solidFill>
                  <a:schemeClr val="lt1"/>
                </a:solidFill>
                <a:latin typeface="Calibri"/>
                <a:ea typeface="Calibri"/>
                <a:cs typeface="Calibri"/>
                <a:sym typeface="Calibri"/>
              </a:rPr>
              <a:t> the common namespaces so we do not have to include them in every razor component.</a:t>
            </a:r>
            <a:endParaRPr sz="2000" b="1" dirty="0">
              <a:solidFill>
                <a:schemeClr val="lt1"/>
              </a:solidFill>
              <a:latin typeface="Calibri"/>
              <a:ea typeface="Calibri"/>
              <a:cs typeface="Calibri"/>
              <a:sym typeface="Calibri"/>
            </a:endParaRPr>
          </a:p>
        </p:txBody>
      </p:sp>
      <p:pic>
        <p:nvPicPr>
          <p:cNvPr id="246" name="Google Shape;246;p13" descr="Aitrich-Logo-Transparent-BG-1536x504"/>
          <p:cNvPicPr preferRelativeResize="0"/>
          <p:nvPr/>
        </p:nvPicPr>
        <p:blipFill rotWithShape="1">
          <a:blip r:embed="rId4">
            <a:alphaModFix/>
          </a:blip>
          <a:srcRect/>
          <a:stretch/>
        </p:blipFill>
        <p:spPr>
          <a:xfrm>
            <a:off x="111125" y="6345555"/>
            <a:ext cx="1247775" cy="3479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3"/>
                                        </p:tgtEl>
                                        <p:attrNameLst>
                                          <p:attrName>style.visibility</p:attrName>
                                        </p:attrNameLst>
                                      </p:cBhvr>
                                      <p:to>
                                        <p:strVal val="visible"/>
                                      </p:to>
                                    </p:set>
                                    <p:anim calcmode="lin" valueType="num">
                                      <p:cBhvr additive="base">
                                        <p:cTn id="7" dur="500"/>
                                        <p:tgtEl>
                                          <p:spTgt spid="243"/>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41"/>
                                        </p:tgtEl>
                                        <p:attrNameLst>
                                          <p:attrName>style.visibility</p:attrName>
                                        </p:attrNameLst>
                                      </p:cBhvr>
                                      <p:to>
                                        <p:strVal val="visible"/>
                                      </p:to>
                                    </p:set>
                                    <p:anim calcmode="lin" valueType="num">
                                      <p:cBhvr additive="base">
                                        <p:cTn id="10" dur="500"/>
                                        <p:tgtEl>
                                          <p:spTgt spid="241"/>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45"/>
                                        </p:tgtEl>
                                        <p:attrNameLst>
                                          <p:attrName>style.visibility</p:attrName>
                                        </p:attrNameLst>
                                      </p:cBhvr>
                                      <p:to>
                                        <p:strVal val="visible"/>
                                      </p:to>
                                    </p:set>
                                    <p:anim calcmode="lin" valueType="num">
                                      <p:cBhvr additive="base">
                                        <p:cTn id="15" dur="500"/>
                                        <p:tgtEl>
                                          <p:spTgt spid="245"/>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244"/>
                                        </p:tgtEl>
                                        <p:attrNameLst>
                                          <p:attrName>style.visibility</p:attrName>
                                        </p:attrNameLst>
                                      </p:cBhvr>
                                      <p:to>
                                        <p:strVal val="visible"/>
                                      </p:to>
                                    </p:set>
                                    <p:anim calcmode="lin" valueType="num">
                                      <p:cBhvr additive="base">
                                        <p:cTn id="18" dur="500"/>
                                        <p:tgtEl>
                                          <p:spTgt spid="2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4"/>
          <p:cNvSpPr/>
          <p:nvPr/>
        </p:nvSpPr>
        <p:spPr>
          <a:xfrm>
            <a:off x="798830" y="614680"/>
            <a:ext cx="7000875" cy="138811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2" name="Google Shape;252;p14"/>
          <p:cNvSpPr txBox="1"/>
          <p:nvPr/>
        </p:nvSpPr>
        <p:spPr>
          <a:xfrm>
            <a:off x="1078865" y="835660"/>
            <a:ext cx="6156325" cy="1014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err="1">
                <a:solidFill>
                  <a:schemeClr val="dk1"/>
                </a:solidFill>
                <a:latin typeface="Calibri"/>
                <a:ea typeface="Calibri"/>
                <a:cs typeface="Calibri"/>
                <a:sym typeface="Calibri"/>
              </a:rPr>
              <a:t>wwwroot</a:t>
            </a:r>
            <a:r>
              <a:rPr lang="en-GB" sz="2000" b="1" dirty="0">
                <a:solidFill>
                  <a:schemeClr val="dk1"/>
                </a:solidFill>
                <a:latin typeface="Calibri"/>
                <a:ea typeface="Calibri"/>
                <a:cs typeface="Calibri"/>
                <a:sym typeface="Calibri"/>
              </a:rPr>
              <a:t>/</a:t>
            </a:r>
            <a:r>
              <a:rPr lang="en-GB" sz="2000" b="1" dirty="0" err="1">
                <a:solidFill>
                  <a:schemeClr val="dk1"/>
                </a:solidFill>
                <a:latin typeface="Calibri"/>
                <a:ea typeface="Calibri"/>
                <a:cs typeface="Calibri"/>
                <a:sym typeface="Calibri"/>
              </a:rPr>
              <a:t>index.html:</a:t>
            </a:r>
            <a:r>
              <a:rPr lang="en-GB" sz="2000" b="1" dirty="0" err="1">
                <a:solidFill>
                  <a:schemeClr val="lt1"/>
                </a:solidFill>
                <a:latin typeface="Calibri"/>
                <a:ea typeface="Calibri"/>
                <a:cs typeface="Calibri"/>
                <a:sym typeface="Calibri"/>
              </a:rPr>
              <a:t>This</a:t>
            </a:r>
            <a:r>
              <a:rPr lang="en-GB" sz="2000" b="1" dirty="0">
                <a:solidFill>
                  <a:schemeClr val="lt1"/>
                </a:solidFill>
                <a:latin typeface="Calibri"/>
                <a:ea typeface="Calibri"/>
                <a:cs typeface="Calibri"/>
                <a:sym typeface="Calibri"/>
              </a:rPr>
              <a:t> is the root page in a </a:t>
            </a:r>
            <a:r>
              <a:rPr lang="en-GB" sz="2000" b="1" dirty="0" err="1">
                <a:solidFill>
                  <a:schemeClr val="lt1"/>
                </a:solidFill>
                <a:latin typeface="Calibri"/>
                <a:ea typeface="Calibri"/>
                <a:cs typeface="Calibri"/>
                <a:sym typeface="Calibri"/>
              </a:rPr>
              <a:t>Blazor</a:t>
            </a:r>
            <a:r>
              <a:rPr lang="en-GB" sz="2000" b="1" dirty="0">
                <a:solidFill>
                  <a:schemeClr val="lt1"/>
                </a:solidFill>
                <a:latin typeface="Calibri"/>
                <a:ea typeface="Calibri"/>
                <a:cs typeface="Calibri"/>
                <a:sym typeface="Calibri"/>
              </a:rPr>
              <a:t> </a:t>
            </a:r>
            <a:r>
              <a:rPr lang="en-GB" sz="2000" b="1" dirty="0" err="1">
                <a:solidFill>
                  <a:schemeClr val="lt1"/>
                </a:solidFill>
                <a:latin typeface="Calibri"/>
                <a:ea typeface="Calibri"/>
                <a:cs typeface="Calibri"/>
                <a:sym typeface="Calibri"/>
              </a:rPr>
              <a:t>WebAssembly</a:t>
            </a:r>
            <a:r>
              <a:rPr lang="en-GB" sz="2000" b="1" dirty="0">
                <a:solidFill>
                  <a:schemeClr val="lt1"/>
                </a:solidFill>
                <a:latin typeface="Calibri"/>
                <a:ea typeface="Calibri"/>
                <a:cs typeface="Calibri"/>
                <a:sym typeface="Calibri"/>
              </a:rPr>
              <a:t> project and is implemented as an html page.</a:t>
            </a:r>
            <a:endParaRPr sz="2000" b="1" dirty="0">
              <a:solidFill>
                <a:schemeClr val="lt1"/>
              </a:solidFill>
              <a:latin typeface="Calibri"/>
              <a:ea typeface="Calibri"/>
              <a:cs typeface="Calibri"/>
              <a:sym typeface="Calibri"/>
            </a:endParaRPr>
          </a:p>
        </p:txBody>
      </p:sp>
      <p:sp>
        <p:nvSpPr>
          <p:cNvPr id="253" name="Google Shape;253;p14"/>
          <p:cNvSpPr/>
          <p:nvPr/>
        </p:nvSpPr>
        <p:spPr>
          <a:xfrm>
            <a:off x="798830" y="2279650"/>
            <a:ext cx="7000240" cy="1635125"/>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4" name="Google Shape;254;p14"/>
          <p:cNvSpPr/>
          <p:nvPr/>
        </p:nvSpPr>
        <p:spPr>
          <a:xfrm>
            <a:off x="798830" y="4344035"/>
            <a:ext cx="7028180" cy="138811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5" name="Google Shape;255;p14"/>
          <p:cNvSpPr txBox="1"/>
          <p:nvPr/>
        </p:nvSpPr>
        <p:spPr>
          <a:xfrm>
            <a:off x="1062355" y="2497455"/>
            <a:ext cx="6736715" cy="13220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err="1">
                <a:solidFill>
                  <a:schemeClr val="dk1"/>
                </a:solidFill>
                <a:latin typeface="Calibri"/>
                <a:ea typeface="Calibri"/>
                <a:cs typeface="Calibri"/>
                <a:sym typeface="Calibri"/>
              </a:rPr>
              <a:t>Startup.cs:</a:t>
            </a:r>
            <a:r>
              <a:rPr lang="en-GB" sz="2000" b="1" dirty="0" err="1">
                <a:solidFill>
                  <a:schemeClr val="lt1"/>
                </a:solidFill>
                <a:latin typeface="Calibri"/>
                <a:ea typeface="Calibri"/>
                <a:cs typeface="Calibri"/>
                <a:sym typeface="Calibri"/>
              </a:rPr>
              <a:t>it</a:t>
            </a:r>
            <a:r>
              <a:rPr lang="en-GB" sz="2000" b="1" dirty="0">
                <a:solidFill>
                  <a:schemeClr val="lt1"/>
                </a:solidFill>
                <a:latin typeface="Calibri"/>
                <a:ea typeface="Calibri"/>
                <a:cs typeface="Calibri"/>
                <a:sym typeface="Calibri"/>
              </a:rPr>
              <a:t> contains the </a:t>
            </a:r>
            <a:r>
              <a:rPr lang="en-GB" sz="2000" b="1" dirty="0" err="1">
                <a:solidFill>
                  <a:schemeClr val="lt1"/>
                </a:solidFill>
                <a:latin typeface="Calibri"/>
                <a:ea typeface="Calibri"/>
                <a:cs typeface="Calibri"/>
                <a:sym typeface="Calibri"/>
              </a:rPr>
              <a:t>applications's</a:t>
            </a:r>
            <a:r>
              <a:rPr lang="en-GB" sz="2000" b="1" dirty="0">
                <a:solidFill>
                  <a:schemeClr val="lt1"/>
                </a:solidFill>
                <a:latin typeface="Calibri"/>
                <a:ea typeface="Calibri"/>
                <a:cs typeface="Calibri"/>
                <a:sym typeface="Calibri"/>
              </a:rPr>
              <a:t> </a:t>
            </a:r>
            <a:r>
              <a:rPr lang="en-GB" sz="2000" b="1" dirty="0" err="1">
                <a:solidFill>
                  <a:schemeClr val="lt1"/>
                </a:solidFill>
                <a:latin typeface="Calibri"/>
                <a:ea typeface="Calibri"/>
                <a:cs typeface="Calibri"/>
                <a:sym typeface="Calibri"/>
              </a:rPr>
              <a:t>startup</a:t>
            </a:r>
            <a:r>
              <a:rPr lang="en-GB" sz="2000" b="1" dirty="0">
                <a:solidFill>
                  <a:schemeClr val="lt1"/>
                </a:solidFill>
                <a:latin typeface="Calibri"/>
                <a:ea typeface="Calibri"/>
                <a:cs typeface="Calibri"/>
                <a:sym typeface="Calibri"/>
              </a:rPr>
              <a:t> logic.</a:t>
            </a:r>
            <a:endParaRPr sz="2000" b="1" dirty="0">
              <a:solidFill>
                <a:schemeClr val="lt1"/>
              </a:solidFill>
              <a:latin typeface="Calibri"/>
              <a:ea typeface="Calibri"/>
              <a:cs typeface="Calibri"/>
              <a:sym typeface="Calibri"/>
            </a:endParaRPr>
          </a:p>
          <a:p>
            <a:pPr marL="0" marR="0" lvl="0" indent="0" algn="l" rtl="0">
              <a:spcBef>
                <a:spcPts val="0"/>
              </a:spcBef>
              <a:spcAft>
                <a:spcPts val="0"/>
              </a:spcAft>
              <a:buNone/>
            </a:pPr>
            <a:r>
              <a:rPr lang="en-GB" sz="2000" b="1" dirty="0" err="1">
                <a:solidFill>
                  <a:schemeClr val="lt1"/>
                </a:solidFill>
                <a:latin typeface="Calibri"/>
                <a:ea typeface="Calibri"/>
                <a:cs typeface="Calibri"/>
                <a:sym typeface="Calibri"/>
              </a:rPr>
              <a:t>ConfigureServices</a:t>
            </a:r>
            <a:r>
              <a:rPr lang="en-GB" sz="2000" b="1" dirty="0">
                <a:solidFill>
                  <a:schemeClr val="lt1"/>
                </a:solidFill>
                <a:latin typeface="Calibri"/>
                <a:ea typeface="Calibri"/>
                <a:cs typeface="Calibri"/>
                <a:sym typeface="Calibri"/>
              </a:rPr>
              <a:t> - Configures the applications DI </a:t>
            </a:r>
            <a:r>
              <a:rPr lang="en-GB" sz="2000" b="1" dirty="0" err="1">
                <a:solidFill>
                  <a:schemeClr val="lt1"/>
                </a:solidFill>
                <a:latin typeface="Calibri"/>
                <a:ea typeface="Calibri"/>
                <a:cs typeface="Calibri"/>
                <a:sym typeface="Calibri"/>
              </a:rPr>
              <a:t>i.e</a:t>
            </a:r>
            <a:r>
              <a:rPr lang="en-GB" sz="2000" b="1" dirty="0">
                <a:solidFill>
                  <a:schemeClr val="lt1"/>
                </a:solidFill>
                <a:latin typeface="Calibri"/>
                <a:ea typeface="Calibri"/>
                <a:cs typeface="Calibri"/>
                <a:sym typeface="Calibri"/>
              </a:rPr>
              <a:t> dependency injection services.</a:t>
            </a:r>
            <a:endParaRPr sz="2000" b="1" dirty="0">
              <a:solidFill>
                <a:schemeClr val="lt1"/>
              </a:solidFill>
              <a:latin typeface="Calibri"/>
              <a:ea typeface="Calibri"/>
              <a:cs typeface="Calibri"/>
              <a:sym typeface="Calibri"/>
            </a:endParaRPr>
          </a:p>
          <a:p>
            <a:pPr marL="0" marR="0" lvl="0" indent="0" algn="l" rtl="0">
              <a:spcBef>
                <a:spcPts val="0"/>
              </a:spcBef>
              <a:spcAft>
                <a:spcPts val="0"/>
              </a:spcAft>
              <a:buNone/>
            </a:pPr>
            <a:r>
              <a:rPr lang="en-GB" sz="2000" b="1" dirty="0">
                <a:solidFill>
                  <a:schemeClr val="lt1"/>
                </a:solidFill>
                <a:latin typeface="Calibri"/>
                <a:ea typeface="Calibri"/>
                <a:cs typeface="Calibri"/>
                <a:sym typeface="Calibri"/>
              </a:rPr>
              <a:t>Configure - Configures the app's request processing pipeline. </a:t>
            </a:r>
            <a:endParaRPr sz="2000" b="1" dirty="0">
              <a:solidFill>
                <a:schemeClr val="lt1"/>
              </a:solidFill>
              <a:latin typeface="Calibri"/>
              <a:ea typeface="Calibri"/>
              <a:cs typeface="Calibri"/>
              <a:sym typeface="Calibri"/>
            </a:endParaRPr>
          </a:p>
        </p:txBody>
      </p:sp>
      <p:sp>
        <p:nvSpPr>
          <p:cNvPr id="256" name="Google Shape;256;p14"/>
          <p:cNvSpPr txBox="1"/>
          <p:nvPr/>
        </p:nvSpPr>
        <p:spPr>
          <a:xfrm>
            <a:off x="1094740" y="4530725"/>
            <a:ext cx="6593840" cy="1014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dk1"/>
                </a:solidFill>
                <a:latin typeface="Calibri"/>
                <a:ea typeface="Calibri"/>
                <a:cs typeface="Calibri"/>
                <a:sym typeface="Calibri"/>
              </a:rPr>
              <a:t>Pages/_</a:t>
            </a:r>
            <a:r>
              <a:rPr lang="en-GB" sz="2000" b="1" dirty="0" err="1">
                <a:solidFill>
                  <a:schemeClr val="dk1"/>
                </a:solidFill>
                <a:latin typeface="Calibri"/>
                <a:ea typeface="Calibri"/>
                <a:cs typeface="Calibri"/>
                <a:sym typeface="Calibri"/>
              </a:rPr>
              <a:t>Host.cshtml:</a:t>
            </a:r>
            <a:r>
              <a:rPr lang="en-GB" sz="2000" b="1" dirty="0" err="1">
                <a:solidFill>
                  <a:schemeClr val="lt1"/>
                </a:solidFill>
                <a:latin typeface="Calibri"/>
                <a:ea typeface="Calibri"/>
                <a:cs typeface="Calibri"/>
                <a:sym typeface="Calibri"/>
              </a:rPr>
              <a:t>This</a:t>
            </a:r>
            <a:r>
              <a:rPr lang="en-GB" sz="2000" b="1" dirty="0">
                <a:solidFill>
                  <a:schemeClr val="lt1"/>
                </a:solidFill>
                <a:latin typeface="Calibri"/>
                <a:ea typeface="Calibri"/>
                <a:cs typeface="Calibri"/>
                <a:sym typeface="Calibri"/>
              </a:rPr>
              <a:t> is the root page of the application and is specified by calling </a:t>
            </a:r>
            <a:r>
              <a:rPr lang="en-GB" sz="2000" b="1" dirty="0" err="1">
                <a:solidFill>
                  <a:schemeClr val="lt1"/>
                </a:solidFill>
                <a:latin typeface="Calibri"/>
                <a:ea typeface="Calibri"/>
                <a:cs typeface="Calibri"/>
                <a:sym typeface="Calibri"/>
              </a:rPr>
              <a:t>MapFallbackToPage</a:t>
            </a:r>
            <a:r>
              <a:rPr lang="en-GB" sz="2000" b="1" dirty="0">
                <a:solidFill>
                  <a:schemeClr val="lt1"/>
                </a:solidFill>
                <a:latin typeface="Calibri"/>
                <a:ea typeface="Calibri"/>
                <a:cs typeface="Calibri"/>
                <a:sym typeface="Calibri"/>
              </a:rPr>
              <a:t>("/_Host") method. It is implemented as a razor page.</a:t>
            </a:r>
            <a:endParaRPr sz="2000" b="1" dirty="0">
              <a:solidFill>
                <a:schemeClr val="lt1"/>
              </a:solidFill>
              <a:latin typeface="Calibri"/>
              <a:ea typeface="Calibri"/>
              <a:cs typeface="Calibri"/>
              <a:sym typeface="Calibri"/>
            </a:endParaRPr>
          </a:p>
        </p:txBody>
      </p:sp>
      <p:pic>
        <p:nvPicPr>
          <p:cNvPr id="257" name="Google Shape;257;p14" descr="11668543_20943628"/>
          <p:cNvPicPr preferRelativeResize="0">
            <a:picLocks noGrp="1"/>
          </p:cNvPicPr>
          <p:nvPr>
            <p:ph type="body" idx="1"/>
          </p:nvPr>
        </p:nvPicPr>
        <p:blipFill rotWithShape="1">
          <a:blip r:embed="rId3">
            <a:alphaModFix/>
          </a:blip>
          <a:srcRect/>
          <a:stretch/>
        </p:blipFill>
        <p:spPr>
          <a:xfrm>
            <a:off x="7827010" y="1850390"/>
            <a:ext cx="4184650" cy="3881755"/>
          </a:xfrm>
          <a:prstGeom prst="rect">
            <a:avLst/>
          </a:prstGeom>
          <a:noFill/>
          <a:ln>
            <a:noFill/>
          </a:ln>
        </p:spPr>
      </p:pic>
      <p:pic>
        <p:nvPicPr>
          <p:cNvPr id="258" name="Google Shape;258;p14" descr="Aitrich-Logo-Transparent-BG-1536x504"/>
          <p:cNvPicPr preferRelativeResize="0"/>
          <p:nvPr/>
        </p:nvPicPr>
        <p:blipFill rotWithShape="1">
          <a:blip r:embed="rId4">
            <a:alphaModFix/>
          </a:blip>
          <a:srcRect/>
          <a:stretch/>
        </p:blipFill>
        <p:spPr>
          <a:xfrm>
            <a:off x="111125" y="6345555"/>
            <a:ext cx="1247775" cy="3479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3"/>
                                        </p:tgtEl>
                                        <p:attrNameLst>
                                          <p:attrName>style.visibility</p:attrName>
                                        </p:attrNameLst>
                                      </p:cBhvr>
                                      <p:to>
                                        <p:strVal val="visible"/>
                                      </p:to>
                                    </p:set>
                                    <p:anim calcmode="lin" valueType="num">
                                      <p:cBhvr additive="base">
                                        <p:cTn id="7" dur="500"/>
                                        <p:tgtEl>
                                          <p:spTgt spid="253"/>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55"/>
                                        </p:tgtEl>
                                        <p:attrNameLst>
                                          <p:attrName>style.visibility</p:attrName>
                                        </p:attrNameLst>
                                      </p:cBhvr>
                                      <p:to>
                                        <p:strVal val="visible"/>
                                      </p:to>
                                    </p:set>
                                    <p:anim calcmode="lin" valueType="num">
                                      <p:cBhvr additive="base">
                                        <p:cTn id="10" dur="500"/>
                                        <p:tgtEl>
                                          <p:spTgt spid="255"/>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56"/>
                                        </p:tgtEl>
                                        <p:attrNameLst>
                                          <p:attrName>style.visibility</p:attrName>
                                        </p:attrNameLst>
                                      </p:cBhvr>
                                      <p:to>
                                        <p:strVal val="visible"/>
                                      </p:to>
                                    </p:set>
                                    <p:anim calcmode="lin" valueType="num">
                                      <p:cBhvr additive="base">
                                        <p:cTn id="15" dur="500"/>
                                        <p:tgtEl>
                                          <p:spTgt spid="256"/>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254"/>
                                        </p:tgtEl>
                                        <p:attrNameLst>
                                          <p:attrName>style.visibility</p:attrName>
                                        </p:attrNameLst>
                                      </p:cBhvr>
                                      <p:to>
                                        <p:strVal val="visible"/>
                                      </p:to>
                                    </p:set>
                                    <p:anim calcmode="lin" valueType="num">
                                      <p:cBhvr additive="base">
                                        <p:cTn id="18" dur="500"/>
                                        <p:tgtEl>
                                          <p:spTgt spid="2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5"/>
          <p:cNvSpPr/>
          <p:nvPr/>
        </p:nvSpPr>
        <p:spPr>
          <a:xfrm>
            <a:off x="798830" y="614680"/>
            <a:ext cx="7106285" cy="138811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4" name="Google Shape;264;p15"/>
          <p:cNvSpPr txBox="1"/>
          <p:nvPr/>
        </p:nvSpPr>
        <p:spPr>
          <a:xfrm>
            <a:off x="1191895" y="900430"/>
            <a:ext cx="6367145"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dk1"/>
                </a:solidFill>
                <a:latin typeface="Calibri"/>
                <a:ea typeface="Calibri"/>
                <a:cs typeface="Calibri"/>
                <a:sym typeface="Calibri"/>
              </a:rPr>
              <a:t>Data folder (</a:t>
            </a:r>
            <a:r>
              <a:rPr lang="en-GB" sz="2000" b="1" dirty="0" err="1">
                <a:solidFill>
                  <a:schemeClr val="dk1"/>
                </a:solidFill>
                <a:latin typeface="Calibri"/>
                <a:ea typeface="Calibri"/>
                <a:cs typeface="Calibri"/>
                <a:sym typeface="Calibri"/>
              </a:rPr>
              <a:t>Blazor</a:t>
            </a:r>
            <a:r>
              <a:rPr lang="en-GB" sz="2000" b="1" dirty="0">
                <a:solidFill>
                  <a:schemeClr val="dk1"/>
                </a:solidFill>
                <a:latin typeface="Calibri"/>
                <a:ea typeface="Calibri"/>
                <a:cs typeface="Calibri"/>
                <a:sym typeface="Calibri"/>
              </a:rPr>
              <a:t> Server):</a:t>
            </a:r>
            <a:r>
              <a:rPr lang="en-GB" sz="2000" b="1" dirty="0">
                <a:solidFill>
                  <a:schemeClr val="lt1"/>
                </a:solidFill>
                <a:latin typeface="Calibri"/>
                <a:ea typeface="Calibri"/>
                <a:cs typeface="Calibri"/>
                <a:sym typeface="Calibri"/>
              </a:rPr>
              <a:t>Contains code files related to the sample </a:t>
            </a:r>
            <a:r>
              <a:rPr lang="en-GB" sz="2000" b="1" dirty="0" err="1">
                <a:solidFill>
                  <a:schemeClr val="lt1"/>
                </a:solidFill>
                <a:latin typeface="Calibri"/>
                <a:ea typeface="Calibri"/>
                <a:cs typeface="Calibri"/>
                <a:sym typeface="Calibri"/>
              </a:rPr>
              <a:t>WeatherForecast</a:t>
            </a:r>
            <a:r>
              <a:rPr lang="en-GB" sz="2000" b="1" dirty="0">
                <a:solidFill>
                  <a:schemeClr val="lt1"/>
                </a:solidFill>
                <a:latin typeface="Calibri"/>
                <a:ea typeface="Calibri"/>
                <a:cs typeface="Calibri"/>
                <a:sym typeface="Calibri"/>
              </a:rPr>
              <a:t> service</a:t>
            </a:r>
            <a:endParaRPr sz="2000" b="1" dirty="0">
              <a:solidFill>
                <a:schemeClr val="lt1"/>
              </a:solidFill>
              <a:latin typeface="Calibri"/>
              <a:ea typeface="Calibri"/>
              <a:cs typeface="Calibri"/>
              <a:sym typeface="Calibri"/>
            </a:endParaRPr>
          </a:p>
        </p:txBody>
      </p:sp>
      <p:sp>
        <p:nvSpPr>
          <p:cNvPr id="265" name="Google Shape;265;p15"/>
          <p:cNvSpPr/>
          <p:nvPr/>
        </p:nvSpPr>
        <p:spPr>
          <a:xfrm>
            <a:off x="798830" y="2371090"/>
            <a:ext cx="7106285" cy="138811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 name="Google Shape;266;p15"/>
          <p:cNvSpPr txBox="1"/>
          <p:nvPr/>
        </p:nvSpPr>
        <p:spPr>
          <a:xfrm>
            <a:off x="1191895" y="2606040"/>
            <a:ext cx="5899150"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err="1">
                <a:solidFill>
                  <a:schemeClr val="dk1"/>
                </a:solidFill>
                <a:latin typeface="Calibri"/>
                <a:ea typeface="Calibri"/>
                <a:cs typeface="Calibri"/>
                <a:sym typeface="Calibri"/>
              </a:rPr>
              <a:t>appsettings.json</a:t>
            </a:r>
            <a:r>
              <a:rPr lang="en-GB" sz="2000" b="1" dirty="0">
                <a:solidFill>
                  <a:schemeClr val="dk1"/>
                </a:solidFill>
                <a:latin typeface="Calibri"/>
                <a:ea typeface="Calibri"/>
                <a:cs typeface="Calibri"/>
                <a:sym typeface="Calibri"/>
              </a:rPr>
              <a:t> (</a:t>
            </a:r>
            <a:r>
              <a:rPr lang="en-GB" sz="2000" b="1" dirty="0" err="1">
                <a:solidFill>
                  <a:schemeClr val="dk1"/>
                </a:solidFill>
                <a:latin typeface="Calibri"/>
                <a:ea typeface="Calibri"/>
                <a:cs typeface="Calibri"/>
                <a:sym typeface="Calibri"/>
              </a:rPr>
              <a:t>Blazor</a:t>
            </a:r>
            <a:r>
              <a:rPr lang="en-GB" sz="2000" b="1" dirty="0">
                <a:solidFill>
                  <a:schemeClr val="dk1"/>
                </a:solidFill>
                <a:latin typeface="Calibri"/>
                <a:ea typeface="Calibri"/>
                <a:cs typeface="Calibri"/>
                <a:sym typeface="Calibri"/>
              </a:rPr>
              <a:t> Server):</a:t>
            </a:r>
            <a:r>
              <a:rPr lang="en-GB" sz="2000" b="1" dirty="0">
                <a:solidFill>
                  <a:schemeClr val="lt1"/>
                </a:solidFill>
                <a:latin typeface="Calibri"/>
                <a:ea typeface="Calibri"/>
                <a:cs typeface="Calibri"/>
                <a:sym typeface="Calibri"/>
              </a:rPr>
              <a:t>uses this file to store the Configuration settings.</a:t>
            </a:r>
            <a:endParaRPr sz="2000" b="1" dirty="0">
              <a:solidFill>
                <a:schemeClr val="lt1"/>
              </a:solidFill>
              <a:latin typeface="Calibri"/>
              <a:ea typeface="Calibri"/>
              <a:cs typeface="Calibri"/>
              <a:sym typeface="Calibri"/>
            </a:endParaRPr>
          </a:p>
        </p:txBody>
      </p:sp>
      <p:pic>
        <p:nvPicPr>
          <p:cNvPr id="267" name="Google Shape;267;p15" descr="12291252_Wavy_Tech-30_Single-05"/>
          <p:cNvPicPr preferRelativeResize="0">
            <a:picLocks noGrp="1"/>
          </p:cNvPicPr>
          <p:nvPr>
            <p:ph type="body" idx="1"/>
          </p:nvPr>
        </p:nvPicPr>
        <p:blipFill rotWithShape="1">
          <a:blip r:embed="rId3">
            <a:alphaModFix/>
          </a:blip>
          <a:srcRect/>
          <a:stretch/>
        </p:blipFill>
        <p:spPr>
          <a:xfrm>
            <a:off x="8082280" y="2187575"/>
            <a:ext cx="4109720" cy="4351655"/>
          </a:xfrm>
          <a:prstGeom prst="rect">
            <a:avLst/>
          </a:prstGeom>
          <a:noFill/>
          <a:ln>
            <a:noFill/>
          </a:ln>
        </p:spPr>
      </p:pic>
      <p:pic>
        <p:nvPicPr>
          <p:cNvPr id="268" name="Google Shape;268;p15" descr="Aitrich-Logo-Transparent-BG-1536x504"/>
          <p:cNvPicPr preferRelativeResize="0"/>
          <p:nvPr/>
        </p:nvPicPr>
        <p:blipFill rotWithShape="1">
          <a:blip r:embed="rId4">
            <a:alphaModFix/>
          </a:blip>
          <a:srcRect/>
          <a:stretch/>
        </p:blipFill>
        <p:spPr>
          <a:xfrm>
            <a:off x="247015" y="6417310"/>
            <a:ext cx="1247775" cy="3479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
                                        </p:tgtEl>
                                        <p:attrNameLst>
                                          <p:attrName>style.visibility</p:attrName>
                                        </p:attrNameLst>
                                      </p:cBhvr>
                                      <p:to>
                                        <p:strVal val="visible"/>
                                      </p:to>
                                    </p:set>
                                    <p:anim calcmode="lin" valueType="num">
                                      <p:cBhvr additive="base">
                                        <p:cTn id="7" dur="500"/>
                                        <p:tgtEl>
                                          <p:spTgt spid="266"/>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65"/>
                                        </p:tgtEl>
                                        <p:attrNameLst>
                                          <p:attrName>style.visibility</p:attrName>
                                        </p:attrNameLst>
                                      </p:cBhvr>
                                      <p:to>
                                        <p:strVal val="visible"/>
                                      </p:to>
                                    </p:set>
                                    <p:anim calcmode="lin" valueType="num">
                                      <p:cBhvr additive="base">
                                        <p:cTn id="10" dur="500"/>
                                        <p:tgtEl>
                                          <p:spTgt spid="2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16"/>
          <p:cNvSpPr txBox="1">
            <a:spLocks noGrp="1"/>
          </p:cNvSpPr>
          <p:nvPr>
            <p:ph type="title"/>
          </p:nvPr>
        </p:nvSpPr>
        <p:spPr>
          <a:xfrm>
            <a:off x="507365" y="290195"/>
            <a:ext cx="10846435" cy="140081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ASP.NET Core razor components</a:t>
            </a:r>
            <a:r>
              <a:rPr lang="en-GB">
                <a:latin typeface="Bell MT"/>
                <a:ea typeface="Bell MT"/>
                <a:cs typeface="Bell MT"/>
                <a:sym typeface="Bell MT"/>
              </a:rPr>
              <a:t/>
            </a:r>
            <a:br>
              <a:rPr lang="en-GB">
                <a:latin typeface="Bell MT"/>
                <a:ea typeface="Bell MT"/>
                <a:cs typeface="Bell MT"/>
                <a:sym typeface="Bell MT"/>
              </a:rPr>
            </a:br>
            <a:endParaRPr>
              <a:latin typeface="Bell MT"/>
              <a:ea typeface="Bell MT"/>
              <a:cs typeface="Bell MT"/>
              <a:sym typeface="Bell MT"/>
            </a:endParaRPr>
          </a:p>
        </p:txBody>
      </p:sp>
      <p:sp>
        <p:nvSpPr>
          <p:cNvPr id="274" name="Google Shape;274;p16"/>
          <p:cNvSpPr/>
          <p:nvPr/>
        </p:nvSpPr>
        <p:spPr>
          <a:xfrm>
            <a:off x="260350" y="1518920"/>
            <a:ext cx="7795260" cy="91440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75" name="Google Shape;275;p16" descr="12085239_20944045"/>
          <p:cNvPicPr preferRelativeResize="0">
            <a:picLocks noGrp="1"/>
          </p:cNvPicPr>
          <p:nvPr>
            <p:ph type="body" idx="1"/>
          </p:nvPr>
        </p:nvPicPr>
        <p:blipFill rotWithShape="1">
          <a:blip r:embed="rId3">
            <a:alphaModFix/>
          </a:blip>
          <a:srcRect/>
          <a:stretch/>
        </p:blipFill>
        <p:spPr>
          <a:xfrm>
            <a:off x="8239125" y="1691005"/>
            <a:ext cx="3771900" cy="4351655"/>
          </a:xfrm>
          <a:prstGeom prst="rect">
            <a:avLst/>
          </a:prstGeom>
          <a:noFill/>
          <a:ln>
            <a:noFill/>
          </a:ln>
        </p:spPr>
      </p:pic>
      <p:sp>
        <p:nvSpPr>
          <p:cNvPr id="276" name="Google Shape;276;p16"/>
          <p:cNvSpPr txBox="1"/>
          <p:nvPr/>
        </p:nvSpPr>
        <p:spPr>
          <a:xfrm>
            <a:off x="260350" y="1557020"/>
            <a:ext cx="7179945" cy="1014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lt1"/>
                </a:solidFill>
                <a:latin typeface="Calibri"/>
                <a:ea typeface="Calibri"/>
                <a:cs typeface="Calibri"/>
                <a:sym typeface="Calibri"/>
              </a:rPr>
              <a:t>Components are the fundamental building blocks of a </a:t>
            </a:r>
            <a:r>
              <a:rPr lang="en-GB" sz="2000" b="1" dirty="0" err="1">
                <a:solidFill>
                  <a:schemeClr val="lt1"/>
                </a:solidFill>
                <a:latin typeface="Calibri"/>
                <a:ea typeface="Calibri"/>
                <a:cs typeface="Calibri"/>
                <a:sym typeface="Calibri"/>
              </a:rPr>
              <a:t>Blazor</a:t>
            </a:r>
            <a:r>
              <a:rPr lang="en-GB" sz="2000" b="1" dirty="0">
                <a:solidFill>
                  <a:schemeClr val="lt1"/>
                </a:solidFill>
                <a:latin typeface="Calibri"/>
                <a:ea typeface="Calibri"/>
                <a:cs typeface="Calibri"/>
                <a:sym typeface="Calibri"/>
              </a:rPr>
              <a:t> application.</a:t>
            </a:r>
            <a:endParaRPr sz="2000" b="1" dirty="0">
              <a:solidFill>
                <a:schemeClr val="lt1"/>
              </a:solidFill>
              <a:latin typeface="Calibri"/>
              <a:ea typeface="Calibri"/>
              <a:cs typeface="Calibri"/>
              <a:sym typeface="Calibri"/>
            </a:endParaRPr>
          </a:p>
          <a:p>
            <a:pPr marL="0" marR="0" lvl="0" indent="0" algn="l" rtl="0">
              <a:spcBef>
                <a:spcPts val="0"/>
              </a:spcBef>
              <a:spcAft>
                <a:spcPts val="0"/>
              </a:spcAft>
              <a:buNone/>
            </a:pPr>
            <a:endParaRPr sz="2000" b="1" dirty="0">
              <a:solidFill>
                <a:schemeClr val="lt1"/>
              </a:solidFill>
              <a:latin typeface="Calibri"/>
              <a:ea typeface="Calibri"/>
              <a:cs typeface="Calibri"/>
              <a:sym typeface="Calibri"/>
            </a:endParaRPr>
          </a:p>
        </p:txBody>
      </p:sp>
      <p:sp>
        <p:nvSpPr>
          <p:cNvPr id="277" name="Google Shape;277;p16"/>
          <p:cNvSpPr/>
          <p:nvPr/>
        </p:nvSpPr>
        <p:spPr>
          <a:xfrm>
            <a:off x="260350" y="2646680"/>
            <a:ext cx="7795260" cy="91440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 name="Google Shape;278;p16"/>
          <p:cNvSpPr txBox="1"/>
          <p:nvPr/>
        </p:nvSpPr>
        <p:spPr>
          <a:xfrm>
            <a:off x="381635" y="2780665"/>
            <a:ext cx="7458075" cy="1014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lt1"/>
                </a:solidFill>
                <a:latin typeface="Calibri"/>
                <a:ea typeface="Calibri"/>
                <a:cs typeface="Calibri"/>
                <a:sym typeface="Calibri"/>
              </a:rPr>
              <a:t>They can be nested, reused, and if implemented properly, can even be shared across multiple projects.</a:t>
            </a:r>
            <a:endParaRPr sz="2000" b="1" dirty="0">
              <a:solidFill>
                <a:schemeClr val="lt1"/>
              </a:solidFill>
              <a:latin typeface="Calibri"/>
              <a:ea typeface="Calibri"/>
              <a:cs typeface="Calibri"/>
              <a:sym typeface="Calibri"/>
            </a:endParaRPr>
          </a:p>
          <a:p>
            <a:pPr marL="0" marR="0" lvl="0" indent="0" algn="l" rtl="0">
              <a:spcBef>
                <a:spcPts val="0"/>
              </a:spcBef>
              <a:spcAft>
                <a:spcPts val="0"/>
              </a:spcAft>
              <a:buNone/>
            </a:pPr>
            <a:endParaRPr sz="2000" b="1" dirty="0">
              <a:solidFill>
                <a:schemeClr val="lt1"/>
              </a:solidFill>
              <a:latin typeface="Calibri"/>
              <a:ea typeface="Calibri"/>
              <a:cs typeface="Calibri"/>
              <a:sym typeface="Calibri"/>
            </a:endParaRPr>
          </a:p>
        </p:txBody>
      </p:sp>
      <p:sp>
        <p:nvSpPr>
          <p:cNvPr id="279" name="Google Shape;279;p16"/>
          <p:cNvSpPr/>
          <p:nvPr/>
        </p:nvSpPr>
        <p:spPr>
          <a:xfrm>
            <a:off x="225425" y="3866515"/>
            <a:ext cx="7795260" cy="91440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0" name="Google Shape;280;p16"/>
          <p:cNvSpPr txBox="1"/>
          <p:nvPr/>
        </p:nvSpPr>
        <p:spPr>
          <a:xfrm>
            <a:off x="381635" y="4142740"/>
            <a:ext cx="7085965"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lt1"/>
                </a:solidFill>
                <a:latin typeface="Calibri"/>
                <a:ea typeface="Calibri"/>
                <a:cs typeface="Calibri"/>
                <a:sym typeface="Calibri"/>
              </a:rPr>
              <a:t>Component files have the extension .razor</a:t>
            </a:r>
            <a:endParaRPr sz="2000" b="1" dirty="0">
              <a:solidFill>
                <a:schemeClr val="lt1"/>
              </a:solidFill>
              <a:latin typeface="Calibri"/>
              <a:ea typeface="Calibri"/>
              <a:cs typeface="Calibri"/>
              <a:sym typeface="Calibri"/>
            </a:endParaRPr>
          </a:p>
        </p:txBody>
      </p:sp>
      <p:sp>
        <p:nvSpPr>
          <p:cNvPr id="281" name="Google Shape;281;p16"/>
          <p:cNvSpPr/>
          <p:nvPr/>
        </p:nvSpPr>
        <p:spPr>
          <a:xfrm>
            <a:off x="212725" y="5022215"/>
            <a:ext cx="7795260" cy="914400"/>
          </a:xfrm>
          <a:prstGeom prst="roundRect">
            <a:avLst>
              <a:gd name="adj" fmla="val 16667"/>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2" name="Google Shape;282;p16"/>
          <p:cNvSpPr txBox="1"/>
          <p:nvPr/>
        </p:nvSpPr>
        <p:spPr>
          <a:xfrm>
            <a:off x="381635" y="5220335"/>
            <a:ext cx="7027545"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chemeClr val="lt1"/>
                </a:solidFill>
                <a:latin typeface="Calibri"/>
                <a:ea typeface="Calibri"/>
                <a:cs typeface="Calibri"/>
                <a:sym typeface="Calibri"/>
              </a:rPr>
              <a:t>Component names cannot start with a lowercase character</a:t>
            </a:r>
            <a:endParaRPr sz="2000" b="1" dirty="0">
              <a:solidFill>
                <a:schemeClr val="lt1"/>
              </a:solidFill>
              <a:latin typeface="Calibri"/>
              <a:ea typeface="Calibri"/>
              <a:cs typeface="Calibri"/>
              <a:sym typeface="Calibri"/>
            </a:endParaRPr>
          </a:p>
        </p:txBody>
      </p:sp>
      <p:pic>
        <p:nvPicPr>
          <p:cNvPr id="283" name="Google Shape;283;p16" descr="Aitrich-Logo-Transparent-BG-1536x504"/>
          <p:cNvPicPr preferRelativeResize="0"/>
          <p:nvPr/>
        </p:nvPicPr>
        <p:blipFill rotWithShape="1">
          <a:blip r:embed="rId4">
            <a:alphaModFix/>
          </a:blip>
          <a:srcRect/>
          <a:stretch/>
        </p:blipFill>
        <p:spPr>
          <a:xfrm>
            <a:off x="260350" y="6417310"/>
            <a:ext cx="1247775" cy="3479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8"/>
                                        </p:tgtEl>
                                        <p:attrNameLst>
                                          <p:attrName>style.visibility</p:attrName>
                                        </p:attrNameLst>
                                      </p:cBhvr>
                                      <p:to>
                                        <p:strVal val="visible"/>
                                      </p:to>
                                    </p:set>
                                    <p:anim calcmode="lin" valueType="num">
                                      <p:cBhvr additive="base">
                                        <p:cTn id="7" dur="500"/>
                                        <p:tgtEl>
                                          <p:spTgt spid="278"/>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77"/>
                                        </p:tgtEl>
                                        <p:attrNameLst>
                                          <p:attrName>style.visibility</p:attrName>
                                        </p:attrNameLst>
                                      </p:cBhvr>
                                      <p:to>
                                        <p:strVal val="visible"/>
                                      </p:to>
                                    </p:set>
                                    <p:anim calcmode="lin" valueType="num">
                                      <p:cBhvr additive="base">
                                        <p:cTn id="10" dur="500"/>
                                        <p:tgtEl>
                                          <p:spTgt spid="277"/>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80"/>
                                        </p:tgtEl>
                                        <p:attrNameLst>
                                          <p:attrName>style.visibility</p:attrName>
                                        </p:attrNameLst>
                                      </p:cBhvr>
                                      <p:to>
                                        <p:strVal val="visible"/>
                                      </p:to>
                                    </p:set>
                                    <p:anim calcmode="lin" valueType="num">
                                      <p:cBhvr additive="base">
                                        <p:cTn id="15" dur="500"/>
                                        <p:tgtEl>
                                          <p:spTgt spid="280"/>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279"/>
                                        </p:tgtEl>
                                        <p:attrNameLst>
                                          <p:attrName>style.visibility</p:attrName>
                                        </p:attrNameLst>
                                      </p:cBhvr>
                                      <p:to>
                                        <p:strVal val="visible"/>
                                      </p:to>
                                    </p:set>
                                    <p:anim calcmode="lin" valueType="num">
                                      <p:cBhvr additive="base">
                                        <p:cTn id="18" dur="500"/>
                                        <p:tgtEl>
                                          <p:spTgt spid="279"/>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82"/>
                                        </p:tgtEl>
                                        <p:attrNameLst>
                                          <p:attrName>style.visibility</p:attrName>
                                        </p:attrNameLst>
                                      </p:cBhvr>
                                      <p:to>
                                        <p:strVal val="visible"/>
                                      </p:to>
                                    </p:set>
                                    <p:anim calcmode="lin" valueType="num">
                                      <p:cBhvr additive="base">
                                        <p:cTn id="23" dur="500"/>
                                        <p:tgtEl>
                                          <p:spTgt spid="282"/>
                                        </p:tgtEl>
                                        <p:attrNameLst>
                                          <p:attrName>ppt_y</p:attrName>
                                        </p:attrNameLst>
                                      </p:cBhvr>
                                      <p:tavLst>
                                        <p:tav tm="0">
                                          <p:val>
                                            <p:strVal val="#ppt_y+1"/>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281"/>
                                        </p:tgtEl>
                                        <p:attrNameLst>
                                          <p:attrName>style.visibility</p:attrName>
                                        </p:attrNameLst>
                                      </p:cBhvr>
                                      <p:to>
                                        <p:strVal val="visible"/>
                                      </p:to>
                                    </p:set>
                                    <p:anim calcmode="lin" valueType="num">
                                      <p:cBhvr additive="base">
                                        <p:cTn id="26" dur="500"/>
                                        <p:tgtEl>
                                          <p:spTgt spid="2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18"/>
          <p:cNvSpPr txBox="1">
            <a:spLocks noGrp="1"/>
          </p:cNvSpPr>
          <p:nvPr>
            <p:ph type="body" idx="1"/>
          </p:nvPr>
        </p:nvSpPr>
        <p:spPr>
          <a:xfrm>
            <a:off x="424180" y="634365"/>
            <a:ext cx="10575290" cy="374777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2800"/>
              <a:buNone/>
            </a:pPr>
            <a:r>
              <a:rPr lang="en-GB" dirty="0" err="1">
                <a:solidFill>
                  <a:schemeClr val="dk2"/>
                </a:solidFill>
              </a:rPr>
              <a:t>Componet</a:t>
            </a:r>
            <a:r>
              <a:rPr lang="en-GB" dirty="0">
                <a:solidFill>
                  <a:schemeClr val="dk2"/>
                </a:solidFill>
              </a:rPr>
              <a:t> is combination of two things:</a:t>
            </a:r>
            <a:endParaRPr dirty="0"/>
          </a:p>
          <a:p>
            <a:pPr marL="228600" lvl="0" indent="-50800" algn="l" rtl="0">
              <a:lnSpc>
                <a:spcPct val="90000"/>
              </a:lnSpc>
              <a:spcBef>
                <a:spcPts val="1000"/>
              </a:spcBef>
              <a:spcAft>
                <a:spcPts val="0"/>
              </a:spcAft>
              <a:buClr>
                <a:schemeClr val="dk1"/>
              </a:buClr>
              <a:buSzPts val="2800"/>
              <a:buNone/>
            </a:pPr>
            <a:endParaRPr dirty="0"/>
          </a:p>
          <a:p>
            <a:pPr marL="914400" lvl="2" indent="0" algn="l" rtl="0">
              <a:lnSpc>
                <a:spcPct val="90000"/>
              </a:lnSpc>
              <a:spcBef>
                <a:spcPts val="500"/>
              </a:spcBef>
              <a:spcAft>
                <a:spcPts val="0"/>
              </a:spcAft>
              <a:buClr>
                <a:schemeClr val="dk1"/>
              </a:buClr>
              <a:buSzPts val="2000"/>
              <a:buNone/>
            </a:pPr>
            <a:endParaRPr dirty="0"/>
          </a:p>
        </p:txBody>
      </p:sp>
      <p:sp>
        <p:nvSpPr>
          <p:cNvPr id="297" name="Google Shape;297;p18"/>
          <p:cNvSpPr/>
          <p:nvPr/>
        </p:nvSpPr>
        <p:spPr>
          <a:xfrm>
            <a:off x="1369060" y="1697355"/>
            <a:ext cx="916940" cy="725170"/>
          </a:xfrm>
          <a:prstGeom prst="diamond">
            <a:avLst/>
          </a:prstGeom>
          <a:solidFill>
            <a:srgbClr val="3F3F3F"/>
          </a:solidFill>
          <a:ln>
            <a:noFill/>
          </a:ln>
          <a:effectLst>
            <a:outerShdw blurRad="431800" sx="104000" sy="104000" algn="ctr" rotWithShape="0">
              <a:schemeClr val="dk2">
                <a:alpha val="24705"/>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lt1"/>
                </a:solidFill>
                <a:latin typeface="Calibri"/>
                <a:ea typeface="Calibri"/>
                <a:cs typeface="Calibri"/>
                <a:sym typeface="Calibri"/>
              </a:rPr>
              <a:t>01</a:t>
            </a:r>
            <a:endParaRPr sz="1800">
              <a:solidFill>
                <a:schemeClr val="lt1"/>
              </a:solidFill>
              <a:latin typeface="Calibri"/>
              <a:ea typeface="Calibri"/>
              <a:cs typeface="Calibri"/>
              <a:sym typeface="Calibri"/>
            </a:endParaRPr>
          </a:p>
        </p:txBody>
      </p:sp>
      <p:sp>
        <p:nvSpPr>
          <p:cNvPr id="298" name="Google Shape;298;p18"/>
          <p:cNvSpPr/>
          <p:nvPr/>
        </p:nvSpPr>
        <p:spPr>
          <a:xfrm>
            <a:off x="1369060" y="2604770"/>
            <a:ext cx="916940" cy="725170"/>
          </a:xfrm>
          <a:prstGeom prst="diamond">
            <a:avLst/>
          </a:prstGeom>
          <a:solidFill>
            <a:srgbClr val="3F3F3F"/>
          </a:solidFill>
          <a:ln>
            <a:noFill/>
          </a:ln>
          <a:effectLst>
            <a:outerShdw blurRad="431800" sx="104000" sy="104000" algn="ctr" rotWithShape="0">
              <a:schemeClr val="dk2">
                <a:alpha val="24705"/>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lt1"/>
                </a:solidFill>
                <a:latin typeface="Calibri"/>
                <a:ea typeface="Calibri"/>
                <a:cs typeface="Calibri"/>
                <a:sym typeface="Calibri"/>
              </a:rPr>
              <a:t>02</a:t>
            </a:r>
            <a:endParaRPr sz="1800">
              <a:solidFill>
                <a:schemeClr val="lt1"/>
              </a:solidFill>
              <a:latin typeface="Calibri"/>
              <a:ea typeface="Calibri"/>
              <a:cs typeface="Calibri"/>
              <a:sym typeface="Calibri"/>
            </a:endParaRPr>
          </a:p>
        </p:txBody>
      </p:sp>
      <p:sp>
        <p:nvSpPr>
          <p:cNvPr id="299" name="Google Shape;299;p18"/>
          <p:cNvSpPr txBox="1"/>
          <p:nvPr/>
        </p:nvSpPr>
        <p:spPr>
          <a:xfrm>
            <a:off x="2730500" y="1697355"/>
            <a:ext cx="7227570" cy="706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rgbClr val="2E75B5"/>
                </a:solidFill>
                <a:latin typeface="Calibri"/>
                <a:ea typeface="Calibri"/>
                <a:cs typeface="Calibri"/>
                <a:sym typeface="Calibri"/>
              </a:rPr>
              <a:t>HTML </a:t>
            </a:r>
            <a:r>
              <a:rPr lang="en-GB" sz="2000" b="1" dirty="0" err="1">
                <a:solidFill>
                  <a:srgbClr val="2E75B5"/>
                </a:solidFill>
                <a:latin typeface="Calibri"/>
                <a:ea typeface="Calibri"/>
                <a:cs typeface="Calibri"/>
                <a:sym typeface="Calibri"/>
              </a:rPr>
              <a:t>markup</a:t>
            </a:r>
            <a:r>
              <a:rPr lang="en-GB" sz="2000" b="1" dirty="0">
                <a:solidFill>
                  <a:srgbClr val="2E75B5"/>
                </a:solidFill>
                <a:latin typeface="Calibri"/>
                <a:ea typeface="Calibri"/>
                <a:cs typeface="Calibri"/>
                <a:sym typeface="Calibri"/>
              </a:rPr>
              <a:t> which defines the user interface of the component </a:t>
            </a:r>
            <a:r>
              <a:rPr lang="en-GB" sz="2000" b="1" dirty="0" err="1">
                <a:solidFill>
                  <a:srgbClr val="2E75B5"/>
                </a:solidFill>
                <a:latin typeface="Calibri"/>
                <a:ea typeface="Calibri"/>
                <a:cs typeface="Calibri"/>
                <a:sym typeface="Calibri"/>
              </a:rPr>
              <a:t>i.e</a:t>
            </a:r>
            <a:r>
              <a:rPr lang="en-GB" sz="2000" b="1" dirty="0">
                <a:solidFill>
                  <a:srgbClr val="2E75B5"/>
                </a:solidFill>
                <a:latin typeface="Calibri"/>
                <a:ea typeface="Calibri"/>
                <a:cs typeface="Calibri"/>
                <a:sym typeface="Calibri"/>
              </a:rPr>
              <a:t> the look and feel.</a:t>
            </a:r>
            <a:endParaRPr sz="2000" b="1" dirty="0">
              <a:solidFill>
                <a:srgbClr val="2E75B5"/>
              </a:solidFill>
              <a:latin typeface="Calibri"/>
              <a:ea typeface="Calibri"/>
              <a:cs typeface="Calibri"/>
              <a:sym typeface="Calibri"/>
            </a:endParaRPr>
          </a:p>
        </p:txBody>
      </p:sp>
      <p:sp>
        <p:nvSpPr>
          <p:cNvPr id="300" name="Google Shape;300;p18"/>
          <p:cNvSpPr txBox="1"/>
          <p:nvPr/>
        </p:nvSpPr>
        <p:spPr>
          <a:xfrm>
            <a:off x="2730500" y="2783205"/>
            <a:ext cx="826897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rgbClr val="2E75B5"/>
                </a:solidFill>
                <a:latin typeface="Calibri"/>
                <a:ea typeface="Calibri"/>
                <a:cs typeface="Calibri"/>
                <a:sym typeface="Calibri"/>
              </a:rPr>
              <a:t>C# code which defines the processing logic</a:t>
            </a:r>
            <a:endParaRPr sz="2000" b="1" dirty="0">
              <a:solidFill>
                <a:srgbClr val="2E75B5"/>
              </a:solidFill>
              <a:latin typeface="Calibri"/>
              <a:ea typeface="Calibri"/>
              <a:cs typeface="Calibri"/>
              <a:sym typeface="Calibri"/>
            </a:endParaRPr>
          </a:p>
        </p:txBody>
      </p:sp>
      <p:sp>
        <p:nvSpPr>
          <p:cNvPr id="301" name="Google Shape;301;p18"/>
          <p:cNvSpPr txBox="1"/>
          <p:nvPr/>
        </p:nvSpPr>
        <p:spPr>
          <a:xfrm>
            <a:off x="424180" y="3979545"/>
            <a:ext cx="10847070" cy="3987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dirty="0">
                <a:solidFill>
                  <a:srgbClr val="2E75B5"/>
                </a:solidFill>
                <a:latin typeface="Calibri"/>
                <a:ea typeface="Calibri"/>
                <a:cs typeface="Calibri"/>
                <a:sym typeface="Calibri"/>
              </a:rPr>
              <a:t>Component is rendered by giving path in the @page directive</a:t>
            </a:r>
            <a:endParaRPr sz="2000" b="1" dirty="0">
              <a:solidFill>
                <a:srgbClr val="2E75B5"/>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7"/>
                                        </p:tgtEl>
                                        <p:attrNameLst>
                                          <p:attrName>style.visibility</p:attrName>
                                        </p:attrNameLst>
                                      </p:cBhvr>
                                      <p:to>
                                        <p:strVal val="visible"/>
                                      </p:to>
                                    </p:set>
                                    <p:anim calcmode="lin" valueType="num">
                                      <p:cBhvr additive="base">
                                        <p:cTn id="7" dur="500"/>
                                        <p:tgtEl>
                                          <p:spTgt spid="297"/>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99"/>
                                        </p:tgtEl>
                                        <p:attrNameLst>
                                          <p:attrName>style.visibility</p:attrName>
                                        </p:attrNameLst>
                                      </p:cBhvr>
                                      <p:to>
                                        <p:strVal val="visible"/>
                                      </p:to>
                                    </p:set>
                                    <p:anim calcmode="lin" valueType="num">
                                      <p:cBhvr additive="base">
                                        <p:cTn id="10" dur="500"/>
                                        <p:tgtEl>
                                          <p:spTgt spid="299"/>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98"/>
                                        </p:tgtEl>
                                        <p:attrNameLst>
                                          <p:attrName>style.visibility</p:attrName>
                                        </p:attrNameLst>
                                      </p:cBhvr>
                                      <p:to>
                                        <p:strVal val="visible"/>
                                      </p:to>
                                    </p:set>
                                    <p:anim calcmode="lin" valueType="num">
                                      <p:cBhvr additive="base">
                                        <p:cTn id="15" dur="500"/>
                                        <p:tgtEl>
                                          <p:spTgt spid="298"/>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300"/>
                                        </p:tgtEl>
                                        <p:attrNameLst>
                                          <p:attrName>style.visibility</p:attrName>
                                        </p:attrNameLst>
                                      </p:cBhvr>
                                      <p:to>
                                        <p:strVal val="visible"/>
                                      </p:to>
                                    </p:set>
                                    <p:anim calcmode="lin" valueType="num">
                                      <p:cBhvr additive="base">
                                        <p:cTn id="18" dur="500"/>
                                        <p:tgtEl>
                                          <p:spTgt spid="300"/>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01"/>
                                        </p:tgtEl>
                                        <p:attrNameLst>
                                          <p:attrName>style.visibility</p:attrName>
                                        </p:attrNameLst>
                                      </p:cBhvr>
                                      <p:to>
                                        <p:strVal val="visible"/>
                                      </p:to>
                                    </p:set>
                                    <p:anim calcmode="lin" valueType="num">
                                      <p:cBhvr additive="base">
                                        <p:cTn id="23" dur="500"/>
                                        <p:tgtEl>
                                          <p:spTgt spid="30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306" name="Google Shape;306;p19" descr="11667041_20943401"/>
          <p:cNvPicPr preferRelativeResize="0">
            <a:picLocks noGrp="1"/>
          </p:cNvPicPr>
          <p:nvPr>
            <p:ph type="body" idx="1"/>
          </p:nvPr>
        </p:nvPicPr>
        <p:blipFill rotWithShape="1">
          <a:blip r:embed="rId3">
            <a:alphaModFix/>
          </a:blip>
          <a:srcRect/>
          <a:stretch/>
        </p:blipFill>
        <p:spPr>
          <a:xfrm>
            <a:off x="-635" y="935990"/>
            <a:ext cx="12192635" cy="524129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399</TotalTime>
  <Words>3521</Words>
  <Application>Microsoft Office PowerPoint</Application>
  <PresentationFormat>Widescreen</PresentationFormat>
  <Paragraphs>273</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Bell MT</vt:lpstr>
      <vt:lpstr>Calibri</vt:lpstr>
      <vt:lpstr>Arial</vt:lpstr>
      <vt:lpstr>Noto Sans Symbols</vt:lpstr>
      <vt:lpstr>Office Theme</vt:lpstr>
      <vt:lpstr>BLAZOR</vt:lpstr>
      <vt:lpstr>Contents</vt:lpstr>
      <vt:lpstr>How we develop web applications today?</vt:lpstr>
      <vt:lpstr>Blazor </vt:lpstr>
      <vt:lpstr>How can a browser execute C# code?</vt:lpstr>
      <vt:lpstr>How Create a Blazor App?</vt:lpstr>
      <vt:lpstr>Blazor Hosting Models </vt:lpstr>
      <vt:lpstr>Blazor WebAssembly</vt:lpstr>
      <vt:lpstr>PowerPoint Presentation</vt:lpstr>
      <vt:lpstr>Server side hosting Model</vt:lpstr>
      <vt:lpstr>PowerPoint Presentation</vt:lpstr>
      <vt:lpstr>Blazor project structure </vt:lpstr>
      <vt:lpstr>PowerPoint Presentation</vt:lpstr>
      <vt:lpstr>PowerPoint Presentation</vt:lpstr>
      <vt:lpstr>PowerPoint Presentation</vt:lpstr>
      <vt:lpstr>ASP.NET Core razor components </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BLAZOR</dc:title>
  <cp:lastModifiedBy>Apsara</cp:lastModifiedBy>
  <cp:revision>15</cp:revision>
  <dcterms:created xsi:type="dcterms:W3CDTF">2023-06-13T11:28:00Z</dcterms:created>
  <dcterms:modified xsi:type="dcterms:W3CDTF">2025-03-31T17:47:45Z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2741B987399D4EAE9D20BB9FFB071470</vt:lpwstr>
  </property>
  <property fmtid="{D5CDD505-2E9C-101B-9397-08002B2CF9AE}" pid="3" name="KSOProductBuildVer">
    <vt:lpwstr>1033-11.2.0.11537</vt:lpwstr>
  </property>
</Properties>
</file>