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Lst>
  <p:sldSz cx="12192000" cy="6858000"/>
  <p:notesSz cx="6858000" cy="9144000"/>
  <p:embeddedFontLst>
    <p:embeddedFont>
      <p:font typeface="Comic Sans MS" panose="030F0702030302020204" pitchFamily="66" charset="0"/>
      <p:regular r:id="rId23"/>
      <p:bold r:id="rId24"/>
      <p:italic r:id="rId25"/>
      <p:boldItalic r:id="rId26"/>
    </p:embeddedFont>
    <p:embeddedFont>
      <p:font typeface="Bell MT" panose="02020503060305020303" pitchFamily="18" charset="0"/>
      <p:regular r:id="rId27"/>
      <p:bold r:id="rId28"/>
      <p:italic r:id="rId29"/>
    </p:embeddedFont>
    <p:embeddedFont>
      <p:font typeface="Calibri" panose="020F050202020403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VyCYyLiOcIJH81SWc2bb9qwPo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77" autoAdjust="0"/>
  </p:normalViewPr>
  <p:slideViewPr>
    <p:cSldViewPr snapToGrid="0">
      <p:cViewPr varScale="1">
        <p:scale>
          <a:sx n="66" d="100"/>
          <a:sy n="66" d="100"/>
        </p:scale>
        <p:origin x="1301"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4741882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Hello everyone, and welcome to </a:t>
            </a:r>
            <a:r>
              <a:rPr lang="en-US" dirty="0" err="1" smtClean="0"/>
              <a:t>Aitrich</a:t>
            </a:r>
            <a:r>
              <a:rPr lang="en-US" dirty="0" smtClean="0"/>
              <a:t> Academy! Today, we're delving into the world of web development, specifically focusing on HTML Helpers, Razor Page Events, Razor Page Filters, and Razor Page Validations. Get ready for an engaging session packed with valuable insights. Let's explore and learn together!</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245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HTML Helpers:</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In Razor Pages, HTML Helpers serve as a set of utility methods simplifying HTML markup generation. These methods offer a convenient and strongly-typed approach to creating HTML elements, form controls, links, and more. By utilizing HTML Helpers, we enhance code readability, maintainability, and reduce the chances of errors in our web development projects. Let's explore the power and benefits of HTML Helpers in the context of Razor Pages.</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294" name="Google Shape;29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4687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Here</a:t>
            </a:r>
            <a:r>
              <a:rPr lang="en-IN" baseline="0" dirty="0" smtClean="0"/>
              <a:t> are some commonly used HTML Helpers in Razor Pages: </a:t>
            </a: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IN" baseline="0" dirty="0" smtClean="0"/>
              <a:t>Form </a:t>
            </a:r>
            <a:r>
              <a:rPr lang="en-IN" baseline="0" dirty="0" smtClean="0"/>
              <a:t>Controls</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dirty="0" err="1" smtClean="0"/>
              <a:t>Html.TextBoxFor</a:t>
            </a:r>
            <a:r>
              <a:rPr lang="en-US" dirty="0" smtClean="0"/>
              <a:t> and </a:t>
            </a:r>
            <a:r>
              <a:rPr lang="en-US" dirty="0" err="1" smtClean="0"/>
              <a:t>Html.PasswordFor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These helpers are designed to generate &lt;input&gt; elements for text input and password input, respectively.</a:t>
            </a:r>
          </a:p>
          <a:p>
            <a:pPr marL="0" lvl="0" indent="0" algn="l" rtl="0">
              <a:spcBef>
                <a:spcPts val="0"/>
              </a:spcBef>
              <a:spcAft>
                <a:spcPts val="0"/>
              </a:spcAft>
              <a:buNone/>
            </a:pPr>
            <a:r>
              <a:rPr lang="en-US" dirty="0" smtClean="0"/>
              <a:t>An important feature is their seamless binding to specified model properties, facilitating a robust connection between the user interface and the data model.</a:t>
            </a:r>
          </a:p>
          <a:p>
            <a:pPr marL="0" lvl="0" indent="0" algn="l" rtl="0">
              <a:spcBef>
                <a:spcPts val="0"/>
              </a:spcBef>
              <a:spcAft>
                <a:spcPts val="0"/>
              </a:spcAft>
              <a:buNone/>
            </a:pPr>
            <a:r>
              <a:rPr lang="en-US" dirty="0" smtClean="0"/>
              <a:t>These HTML Helpers significantly contribute to the efficiency and maintainability of your Razor Pages. </a:t>
            </a:r>
            <a:endParaRPr dirty="0"/>
          </a:p>
        </p:txBody>
      </p:sp>
      <p:sp>
        <p:nvSpPr>
          <p:cNvPr id="306" name="Google Shape;3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4722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Let's now explore additional HTML Helpers tailored for form controls.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Html.CheckBoxFor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helper is a handy tool for generating checkboxes that seamlessly bind to Boolean model properties.</a:t>
            </a:r>
          </a:p>
          <a:p>
            <a:pPr marL="0" lvl="0" indent="0" algn="l" rtl="0">
              <a:spcBef>
                <a:spcPts val="0"/>
              </a:spcBef>
              <a:spcAft>
                <a:spcPts val="0"/>
              </a:spcAft>
              <a:buNone/>
            </a:pPr>
            <a:r>
              <a:rPr lang="en-US" dirty="0" smtClean="0"/>
              <a:t>It simplifies the process of integrating user choices, providing a straightforward way to handle Boolean values in your Razor Pages</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Html.RadioButtonFor</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When dealing with options like gender in your forms, this helper generates radio buttons, binding them to either Boolean or enumeration properties.</a:t>
            </a:r>
          </a:p>
          <a:p>
            <a:pPr marL="0" lvl="0" indent="0" algn="l" rtl="0">
              <a:spcBef>
                <a:spcPts val="0"/>
              </a:spcBef>
              <a:spcAft>
                <a:spcPts val="0"/>
              </a:spcAft>
              <a:buNone/>
            </a:pPr>
            <a:r>
              <a:rPr lang="en-US" dirty="0" smtClean="0"/>
              <a:t>It offers a clean and structured approach to capturing user selections in scenarios where a single choice is required.</a:t>
            </a:r>
          </a:p>
          <a:p>
            <a:pPr marL="0" lvl="0" indent="0" algn="l" rtl="0">
              <a:spcBef>
                <a:spcPts val="0"/>
              </a:spcBef>
              <a:spcAft>
                <a:spcPts val="0"/>
              </a:spcAft>
              <a:buNone/>
            </a:pPr>
            <a:endParaRPr dirty="0"/>
          </a:p>
        </p:txBody>
      </p:sp>
      <p:sp>
        <p:nvSpPr>
          <p:cNvPr id="320" name="Google Shape;32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0230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Links and URLs</a:t>
            </a:r>
            <a:r>
              <a:rPr lang="en-US" dirty="0" smtClean="0"/>
              <a:t>Now, let's shift our focus to HTML Helpers that aid in creating links and managing URLs.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Html.ActionLink</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versatile helper is designed to generate &lt;a&gt; tags for links to action methods.</a:t>
            </a:r>
          </a:p>
          <a:p>
            <a:pPr marL="0" lvl="0" indent="0" algn="l" rtl="0">
              <a:spcBef>
                <a:spcPts val="0"/>
              </a:spcBef>
              <a:spcAft>
                <a:spcPts val="0"/>
              </a:spcAft>
              <a:buNone/>
            </a:pPr>
            <a:r>
              <a:rPr lang="en-US" dirty="0" smtClean="0"/>
              <a:t>It proves useful whether you're linking to an action method within the same controller or a different one</a:t>
            </a:r>
            <a:r>
              <a:rPr lang="en-US" dirty="0" smtClean="0"/>
              <a:t>.</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Html.RouteLink</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If you prefer linking based on named routes and their parameters, </a:t>
            </a:r>
            <a:r>
              <a:rPr lang="en-US" dirty="0" err="1" smtClean="0"/>
              <a:t>Html.RouteLink</a:t>
            </a:r>
            <a:r>
              <a:rPr lang="en-US" dirty="0" smtClean="0"/>
              <a:t> is your go-to helper.</a:t>
            </a:r>
          </a:p>
          <a:p>
            <a:pPr marL="0" lvl="0" indent="0" algn="l" rtl="0">
              <a:spcBef>
                <a:spcPts val="0"/>
              </a:spcBef>
              <a:spcAft>
                <a:spcPts val="0"/>
              </a:spcAft>
              <a:buNone/>
            </a:pPr>
            <a:r>
              <a:rPr lang="en-US" dirty="0" smtClean="0"/>
              <a:t>It provides a structured way to generate links using predefined routes.</a:t>
            </a:r>
          </a:p>
          <a:p>
            <a:pPr marL="0" lvl="0" indent="0" algn="l" rtl="0">
              <a:spcBef>
                <a:spcPts val="0"/>
              </a:spcBef>
              <a:spcAft>
                <a:spcPts val="0"/>
              </a:spcAft>
              <a:buNone/>
            </a:pPr>
            <a:endParaRPr dirty="0"/>
          </a:p>
        </p:txBody>
      </p:sp>
      <p:sp>
        <p:nvSpPr>
          <p:cNvPr id="334" name="Google Shape;3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9659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Partial Views</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Html.Partial</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This helper serves as a rendering engine for partial views within the current view.</a:t>
            </a:r>
          </a:p>
          <a:p>
            <a:pPr marL="0" lvl="0" indent="0" algn="l" rtl="0">
              <a:spcBef>
                <a:spcPts val="0"/>
              </a:spcBef>
              <a:spcAft>
                <a:spcPts val="0"/>
              </a:spcAft>
              <a:buNone/>
            </a:pPr>
            <a:r>
              <a:rPr lang="en-US" dirty="0" smtClean="0"/>
              <a:t>Its primary purpose is to promote the reuse of specific sections of markup across multiple views.</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In this example, the _Header partial view is seamlessly incorporated into the current view, showcasing the ability to modularize and reuse markup efficiently.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Html.Partial</a:t>
            </a:r>
            <a:r>
              <a:rPr lang="en-US" dirty="0" smtClean="0"/>
              <a:t> proves to be an invaluable tool for maintaining clean and organized Razor Pages by promoting the reuse of markup elements.</a:t>
            </a:r>
            <a:endParaRPr dirty="0"/>
          </a:p>
        </p:txBody>
      </p:sp>
      <p:sp>
        <p:nvSpPr>
          <p:cNvPr id="349" name="Google Shape;34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1305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Displaying </a:t>
            </a:r>
            <a:r>
              <a:rPr lang="en-IN" dirty="0" smtClean="0"/>
              <a:t>Data</a:t>
            </a:r>
          </a:p>
          <a:p>
            <a:pPr marL="0" lvl="0" indent="0" algn="l" rtl="0">
              <a:spcBef>
                <a:spcPts val="0"/>
              </a:spcBef>
              <a:spcAft>
                <a:spcPts val="0"/>
              </a:spcAft>
              <a:buNone/>
            </a:pPr>
            <a:endParaRPr lang="en-IN" dirty="0" smtClean="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err="1" smtClean="0">
                <a:solidFill>
                  <a:schemeClr val="lt1"/>
                </a:solidFill>
                <a:latin typeface="Comic Sans MS"/>
                <a:ea typeface="Comic Sans MS"/>
                <a:cs typeface="Comic Sans MS"/>
                <a:sym typeface="Comic Sans MS"/>
              </a:rPr>
              <a:t>Html.DisplayFor</a:t>
            </a:r>
            <a:r>
              <a:rPr lang="en-US" sz="1200" dirty="0" smtClean="0">
                <a:solidFill>
                  <a:schemeClr val="lt1"/>
                </a:solidFill>
                <a:latin typeface="Comic Sans MS"/>
                <a:ea typeface="Comic Sans MS"/>
                <a:cs typeface="Comic Sans MS"/>
                <a:sym typeface="Comic Sans MS"/>
              </a:rPr>
              <a:t>: </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This indispensable helper is your go-to for generating HTML markup to display the value of a model property.</a:t>
            </a:r>
          </a:p>
          <a:p>
            <a:pPr marL="0" lvl="0" indent="0" algn="l" rtl="0">
              <a:spcBef>
                <a:spcPts val="0"/>
              </a:spcBef>
              <a:spcAft>
                <a:spcPts val="0"/>
              </a:spcAft>
              <a:buNone/>
            </a:pPr>
            <a:r>
              <a:rPr lang="en-US" dirty="0" smtClean="0"/>
              <a:t>It seamlessly applies any specified display templates or formatting, ensuring a clean and visually appealing presentation.</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In this example, the </a:t>
            </a:r>
            <a:r>
              <a:rPr lang="en-US" dirty="0" err="1" smtClean="0"/>
              <a:t>DisplayFor</a:t>
            </a:r>
            <a:r>
              <a:rPr lang="en-US" dirty="0" smtClean="0"/>
              <a:t> helper effortlessly renders the value of the </a:t>
            </a:r>
            <a:r>
              <a:rPr lang="en-US" dirty="0" err="1" smtClean="0"/>
              <a:t>UserName</a:t>
            </a:r>
            <a:r>
              <a:rPr lang="en-US" dirty="0" smtClean="0"/>
              <a:t> property, incorporating any predefined display templates or formatting.</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err="1" smtClean="0"/>
              <a:t>Html.EditorFor</a:t>
            </a:r>
            <a:r>
              <a:rPr lang="en-IN" dirty="0" smtClean="0"/>
              <a:t>: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When it comes to editing data, this helper steps in to generate an appropriate editor control for a model property.</a:t>
            </a:r>
          </a:p>
          <a:p>
            <a:pPr marL="0" lvl="0" indent="0" algn="l" rtl="0">
              <a:spcBef>
                <a:spcPts val="0"/>
              </a:spcBef>
              <a:spcAft>
                <a:spcPts val="0"/>
              </a:spcAft>
              <a:buNone/>
            </a:pPr>
            <a:r>
              <a:rPr lang="en-US" dirty="0" smtClean="0"/>
              <a:t>It adapts to any specified editor templates, providing a consistent and user-friendly approach to data modification. Here, the </a:t>
            </a:r>
            <a:r>
              <a:rPr lang="en-US" dirty="0" err="1" smtClean="0"/>
              <a:t>EditorFor</a:t>
            </a:r>
            <a:r>
              <a:rPr lang="en-US" dirty="0" smtClean="0"/>
              <a:t> helper dynamically generates an editor control for the Email property, streamlining the data editing process.</a:t>
            </a:r>
          </a:p>
          <a:p>
            <a:pPr marL="0" lvl="0" indent="0" algn="l" rtl="0">
              <a:spcBef>
                <a:spcPts val="0"/>
              </a:spcBef>
              <a:spcAft>
                <a:spcPts val="0"/>
              </a:spcAft>
              <a:buNone/>
            </a:pPr>
            <a:endParaRPr lang="en-US" dirty="0" smtClean="0"/>
          </a:p>
          <a:p>
            <a:pPr marL="0" lvl="0" indent="0" algn="l" rtl="0">
              <a:spcBef>
                <a:spcPts val="0"/>
              </a:spcBef>
              <a:spcAft>
                <a:spcPts val="0"/>
              </a:spcAft>
              <a:buNone/>
            </a:pPr>
            <a:endParaRPr lang="en-US" dirty="0" smtClean="0"/>
          </a:p>
          <a:p>
            <a:pPr marL="0" lvl="0" indent="0" algn="l" rtl="0">
              <a:spcBef>
                <a:spcPts val="0"/>
              </a:spcBef>
              <a:spcAft>
                <a:spcPts val="0"/>
              </a:spcAft>
              <a:buNone/>
            </a:pPr>
            <a:endParaRPr dirty="0"/>
          </a:p>
        </p:txBody>
      </p:sp>
      <p:sp>
        <p:nvSpPr>
          <p:cNvPr id="362" name="Google Shape;36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728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Page Events</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In Razor Pages, events serve as pivotal points to handle user interactions and respond to specific actions throughout the lifecycle of a page. They provide a dynamic way to respond to user input and execute operations triggered by various events. Let's explore two broad categories of events commonly used in Razor Pages.</a:t>
            </a:r>
            <a:r>
              <a:rPr lang="en-US" baseline="0" dirty="0" smtClean="0"/>
              <a:t> They are page events and handler events.</a:t>
            </a:r>
            <a:endParaRPr dirty="0"/>
          </a:p>
        </p:txBody>
      </p:sp>
      <p:sp>
        <p:nvSpPr>
          <p:cNvPr id="377" name="Google Shape;37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0316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Page</a:t>
            </a:r>
            <a:r>
              <a:rPr lang="en-IN" baseline="0" dirty="0" smtClean="0"/>
              <a:t> Events :</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IN" baseline="0" dirty="0" err="1" smtClean="0"/>
              <a:t>OnGet</a:t>
            </a:r>
            <a:r>
              <a:rPr lang="en-IN" baseline="0" dirty="0" smtClean="0"/>
              <a:t> :</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baseline="0" dirty="0" smtClean="0"/>
              <a:t>The </a:t>
            </a:r>
            <a:r>
              <a:rPr lang="en-US" baseline="0" dirty="0" err="1" smtClean="0"/>
              <a:t>OnGet</a:t>
            </a:r>
            <a:r>
              <a:rPr lang="en-US" baseline="0" dirty="0" smtClean="0"/>
              <a:t> event is triggered when an HTTP GET request is made to the page.</a:t>
            </a:r>
          </a:p>
          <a:p>
            <a:pPr marL="0" lvl="0" indent="0" algn="l" rtl="0">
              <a:spcBef>
                <a:spcPts val="0"/>
              </a:spcBef>
              <a:spcAft>
                <a:spcPts val="0"/>
              </a:spcAft>
              <a:buNone/>
            </a:pPr>
            <a:r>
              <a:rPr lang="en-US" baseline="0" dirty="0" smtClean="0"/>
              <a:t>This event provides an opportunity to execute logic specifically tailored for handling GET requests.</a:t>
            </a:r>
          </a:p>
          <a:p>
            <a:pPr marL="0" lvl="0" indent="0" algn="l" rtl="0">
              <a:spcBef>
                <a:spcPts val="0"/>
              </a:spcBef>
              <a:spcAft>
                <a:spcPts val="0"/>
              </a:spcAft>
              <a:buNone/>
            </a:pPr>
            <a:r>
              <a:rPr lang="en-US" baseline="0" dirty="0" smtClean="0"/>
              <a:t>By overriding the </a:t>
            </a:r>
            <a:r>
              <a:rPr lang="en-US" baseline="0" dirty="0" err="1" smtClean="0"/>
              <a:t>OnGet</a:t>
            </a:r>
            <a:r>
              <a:rPr lang="en-US" baseline="0" dirty="0" smtClean="0"/>
              <a:t> method in your Razor Page's code-behind file (</a:t>
            </a:r>
            <a:r>
              <a:rPr lang="en-US" baseline="0" dirty="0" err="1" smtClean="0"/>
              <a:t>PageModel</a:t>
            </a:r>
            <a:r>
              <a:rPr lang="en-US" baseline="0" dirty="0" smtClean="0"/>
              <a:t>), you can implement the necessary logic to respond to GET requests.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err="1" smtClean="0"/>
              <a:t>OnPost</a:t>
            </a:r>
            <a:r>
              <a:rPr lang="en-US" baseline="0" dirty="0" smtClean="0"/>
              <a:t> :</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Conversely, the </a:t>
            </a:r>
            <a:r>
              <a:rPr lang="en-US" baseline="0" dirty="0" err="1" smtClean="0"/>
              <a:t>OnPost</a:t>
            </a:r>
            <a:r>
              <a:rPr lang="en-US" baseline="0" dirty="0" smtClean="0"/>
              <a:t> event comes into play when an HTTP POST request is made to the page.</a:t>
            </a:r>
          </a:p>
          <a:p>
            <a:pPr marL="0" lvl="0" indent="0" algn="l" rtl="0">
              <a:spcBef>
                <a:spcPts val="0"/>
              </a:spcBef>
              <a:spcAft>
                <a:spcPts val="0"/>
              </a:spcAft>
              <a:buNone/>
            </a:pPr>
            <a:r>
              <a:rPr lang="en-US" baseline="0" dirty="0" smtClean="0"/>
              <a:t>It enables you to handle the specific requirements associated with processing POST requests.</a:t>
            </a:r>
          </a:p>
          <a:p>
            <a:pPr marL="0" lvl="0" indent="0" algn="l" rtl="0">
              <a:spcBef>
                <a:spcPts val="0"/>
              </a:spcBef>
              <a:spcAft>
                <a:spcPts val="0"/>
              </a:spcAft>
              <a:buNone/>
            </a:pPr>
            <a:r>
              <a:rPr lang="en-US" baseline="0" dirty="0" smtClean="0"/>
              <a:t>Similar to </a:t>
            </a:r>
            <a:r>
              <a:rPr lang="en-US" baseline="0" dirty="0" err="1" smtClean="0"/>
              <a:t>OnGet</a:t>
            </a:r>
            <a:r>
              <a:rPr lang="en-US" baseline="0" dirty="0" smtClean="0"/>
              <a:t>, you can override the </a:t>
            </a:r>
            <a:r>
              <a:rPr lang="en-US" baseline="0" dirty="0" err="1" smtClean="0"/>
              <a:t>OnPost</a:t>
            </a:r>
            <a:r>
              <a:rPr lang="en-US" baseline="0" dirty="0" smtClean="0"/>
              <a:t> method in your </a:t>
            </a:r>
            <a:r>
              <a:rPr lang="en-US" baseline="0" dirty="0" err="1" smtClean="0"/>
              <a:t>PageModel</a:t>
            </a:r>
            <a:r>
              <a:rPr lang="en-US" baseline="0" dirty="0" smtClean="0"/>
              <a:t> to implement logic specific to handling POST requests.</a:t>
            </a: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dirty="0"/>
          </a:p>
        </p:txBody>
      </p:sp>
      <p:sp>
        <p:nvSpPr>
          <p:cNvPr id="390" name="Google Shape;39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4506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Page Events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OnGetAsync</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 </a:t>
            </a:r>
            <a:r>
              <a:rPr lang="en-US" dirty="0" err="1" smtClean="0"/>
              <a:t>OnGetAsync</a:t>
            </a:r>
            <a:r>
              <a:rPr lang="en-US" dirty="0" smtClean="0"/>
              <a:t> event is triggered in response to an HTTP GET request, allowing for asynchronous operations to be performed during request handling.</a:t>
            </a:r>
          </a:p>
          <a:p>
            <a:pPr marL="0" lvl="0" indent="0" algn="l" rtl="0">
              <a:spcBef>
                <a:spcPts val="0"/>
              </a:spcBef>
              <a:spcAft>
                <a:spcPts val="0"/>
              </a:spcAft>
              <a:buNone/>
            </a:pPr>
            <a:r>
              <a:rPr lang="en-US" dirty="0" smtClean="0"/>
              <a:t>By marking the method with the </a:t>
            </a:r>
            <a:r>
              <a:rPr lang="en-US" dirty="0" err="1" smtClean="0"/>
              <a:t>async</a:t>
            </a:r>
            <a:r>
              <a:rPr lang="en-US" dirty="0" smtClean="0"/>
              <a:t> keyword and returning a Task&lt;</a:t>
            </a:r>
            <a:r>
              <a:rPr lang="en-US" dirty="0" err="1" smtClean="0"/>
              <a:t>IActionResult</a:t>
            </a:r>
            <a:r>
              <a:rPr lang="en-US" dirty="0" smtClean="0"/>
              <a:t>&gt;, you can handle asynchronous tasks seamlessly.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OnPostAsync</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Similarly, the </a:t>
            </a:r>
            <a:r>
              <a:rPr lang="en-US" dirty="0" err="1" smtClean="0"/>
              <a:t>OnPostAsync</a:t>
            </a:r>
            <a:r>
              <a:rPr lang="en-US" dirty="0" smtClean="0"/>
              <a:t> event accommodates asynchronous operations when dealing with HTTP POST requests.</a:t>
            </a:r>
          </a:p>
          <a:p>
            <a:pPr marL="0" lvl="0" indent="0" algn="l" rtl="0">
              <a:spcBef>
                <a:spcPts val="0"/>
              </a:spcBef>
              <a:spcAft>
                <a:spcPts val="0"/>
              </a:spcAft>
              <a:buNone/>
            </a:pPr>
            <a:r>
              <a:rPr lang="en-US" dirty="0" smtClean="0"/>
              <a:t>By using the </a:t>
            </a:r>
            <a:r>
              <a:rPr lang="en-US" dirty="0" err="1" smtClean="0"/>
              <a:t>async</a:t>
            </a:r>
            <a:r>
              <a:rPr lang="en-US" dirty="0" smtClean="0"/>
              <a:t> keyword and returning a Task&lt;</a:t>
            </a:r>
            <a:r>
              <a:rPr lang="en-US" dirty="0" err="1" smtClean="0"/>
              <a:t>IActionResult</a:t>
            </a:r>
            <a:r>
              <a:rPr lang="en-US" dirty="0" smtClean="0"/>
              <a:t>&gt;, you can execute asynchronous code during the processing of POST requests.</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403" name="Google Shape;40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270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Handler Events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OnGet</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Just as with page events, handler events include an </a:t>
            </a:r>
            <a:r>
              <a:rPr lang="en-US" dirty="0" err="1" smtClean="0"/>
              <a:t>OnGet</a:t>
            </a:r>
            <a:r>
              <a:rPr lang="en-US" dirty="0" smtClean="0"/>
              <a:t> method associated with a specific handler.</a:t>
            </a:r>
          </a:p>
          <a:p>
            <a:pPr marL="0" lvl="0" indent="0" algn="l" rtl="0">
              <a:spcBef>
                <a:spcPts val="0"/>
              </a:spcBef>
              <a:spcAft>
                <a:spcPts val="0"/>
              </a:spcAft>
              <a:buNone/>
            </a:pPr>
            <a:r>
              <a:rPr lang="en-US" dirty="0" smtClean="0"/>
              <a:t>You can define the </a:t>
            </a:r>
            <a:r>
              <a:rPr lang="en-US" dirty="0" err="1" smtClean="0"/>
              <a:t>OnGet</a:t>
            </a:r>
            <a:r>
              <a:rPr lang="en-US" dirty="0" smtClean="0"/>
              <a:t> method within your </a:t>
            </a:r>
            <a:r>
              <a:rPr lang="en-US" dirty="0" err="1" smtClean="0"/>
              <a:t>PageModel</a:t>
            </a:r>
            <a:r>
              <a:rPr lang="en-US" dirty="0" smtClean="0"/>
              <a:t> to handle HTTP GET requests for a particular handler.</a:t>
            </a:r>
          </a:p>
          <a:p>
            <a:pPr marL="0" lvl="0" indent="0" algn="l" rtl="0">
              <a:spcBef>
                <a:spcPts val="0"/>
              </a:spcBef>
              <a:spcAft>
                <a:spcPts val="0"/>
              </a:spcAft>
              <a:buNone/>
            </a:pPr>
            <a:r>
              <a:rPr lang="en-US" dirty="0" smtClean="0"/>
              <a:t>This provides a modular and organized approach to handling GET requests associated with specific page elements.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err="1" smtClean="0"/>
              <a:t>OnPost</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Similarly, the </a:t>
            </a:r>
            <a:r>
              <a:rPr lang="en-US" dirty="0" err="1" smtClean="0"/>
              <a:t>OnPost</a:t>
            </a:r>
            <a:r>
              <a:rPr lang="en-US" dirty="0" smtClean="0"/>
              <a:t> event associated with a handler method is triggered when an HTTP POST request is made to that handler.</a:t>
            </a:r>
          </a:p>
          <a:p>
            <a:pPr marL="0" lvl="0" indent="0" algn="l" rtl="0">
              <a:spcBef>
                <a:spcPts val="0"/>
              </a:spcBef>
              <a:spcAft>
                <a:spcPts val="0"/>
              </a:spcAft>
              <a:buNone/>
            </a:pPr>
            <a:r>
              <a:rPr lang="en-US" dirty="0" smtClean="0"/>
              <a:t>Defining the </a:t>
            </a:r>
            <a:r>
              <a:rPr lang="en-US" dirty="0" err="1" smtClean="0"/>
              <a:t>OnPost</a:t>
            </a:r>
            <a:r>
              <a:rPr lang="en-US" dirty="0" smtClean="0"/>
              <a:t> method within your </a:t>
            </a:r>
            <a:r>
              <a:rPr lang="en-US" dirty="0" err="1" smtClean="0"/>
              <a:t>PageModel</a:t>
            </a:r>
            <a:r>
              <a:rPr lang="en-US" dirty="0" smtClean="0"/>
              <a:t> allows you to encapsulate logic tailored for processing POST requests for a specific handler.</a:t>
            </a:r>
            <a:endParaRPr dirty="0"/>
          </a:p>
        </p:txBody>
      </p:sp>
      <p:sp>
        <p:nvSpPr>
          <p:cNvPr id="416" name="Google Shape;41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3882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Handler Events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err="1" smtClean="0"/>
              <a:t>OnGetHandlerAsync</a:t>
            </a:r>
            <a:r>
              <a:rPr lang="en-IN" dirty="0" smtClean="0"/>
              <a:t> and </a:t>
            </a:r>
            <a:r>
              <a:rPr lang="en-IN" dirty="0" err="1" smtClean="0"/>
              <a:t>OnPostHandlerAsync</a:t>
            </a:r>
            <a:r>
              <a:rPr lang="en-IN" dirty="0" smtClean="0"/>
              <a:t>:</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smtClean="0"/>
              <a:t>These asynchronous versions of handler events, similar to their page event counterparts, allow you to perform asynchronous actions before and after the execution of specific handler methods.</a:t>
            </a:r>
          </a:p>
          <a:p>
            <a:pPr marL="0" lvl="0" indent="0" algn="l" rtl="0">
              <a:spcBef>
                <a:spcPts val="0"/>
              </a:spcBef>
              <a:spcAft>
                <a:spcPts val="0"/>
              </a:spcAft>
              <a:buNone/>
            </a:pPr>
            <a:r>
              <a:rPr lang="en-IN" dirty="0" smtClean="0"/>
              <a:t>By overriding </a:t>
            </a:r>
            <a:r>
              <a:rPr lang="en-IN" dirty="0" err="1" smtClean="0"/>
              <a:t>OnGetHandlerAsync</a:t>
            </a:r>
            <a:r>
              <a:rPr lang="en-IN" dirty="0" smtClean="0"/>
              <a:t> and </a:t>
            </a:r>
            <a:r>
              <a:rPr lang="en-IN" dirty="0" err="1" smtClean="0"/>
              <a:t>OnPostHandlerAsync</a:t>
            </a:r>
            <a:r>
              <a:rPr lang="en-IN" dirty="0" smtClean="0"/>
              <a:t> in your </a:t>
            </a:r>
            <a:r>
              <a:rPr lang="en-IN" dirty="0" err="1" smtClean="0"/>
              <a:t>PageModel</a:t>
            </a:r>
            <a:r>
              <a:rPr lang="en-IN" dirty="0" smtClean="0"/>
              <a:t>, you can seamlessly integrate asynchronous logic into the processing flow.</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err="1" smtClean="0"/>
              <a:t>OnHandlerExecuting</a:t>
            </a:r>
            <a:r>
              <a:rPr lang="en-US" dirty="0" smtClean="0"/>
              <a:t> and </a:t>
            </a:r>
            <a:r>
              <a:rPr lang="en-US" dirty="0" err="1" smtClean="0"/>
              <a:t>OnHandlerExecuted</a:t>
            </a:r>
            <a:r>
              <a:rPr lang="en-US" dirty="0" smtClean="0"/>
              <a:t>:</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These events offer hooks for executing code before and after the execution of any handler method, regardless of the HTTP verb.</a:t>
            </a:r>
          </a:p>
          <a:p>
            <a:pPr marL="0" lvl="0" indent="0" algn="l" rtl="0">
              <a:spcBef>
                <a:spcPts val="0"/>
              </a:spcBef>
              <a:spcAft>
                <a:spcPts val="0"/>
              </a:spcAft>
              <a:buNone/>
            </a:pPr>
            <a:r>
              <a:rPr lang="en-US" dirty="0" err="1" smtClean="0"/>
              <a:t>OnHandlerExecuting</a:t>
            </a:r>
            <a:r>
              <a:rPr lang="en-US" dirty="0" smtClean="0"/>
              <a:t> is triggered just before the handler method is executed, providing an opportunity for pre-execution actions.</a:t>
            </a:r>
          </a:p>
          <a:p>
            <a:pPr marL="0" lvl="0" indent="0" algn="l" rtl="0">
              <a:spcBef>
                <a:spcPts val="0"/>
              </a:spcBef>
              <a:spcAft>
                <a:spcPts val="0"/>
              </a:spcAft>
              <a:buNone/>
            </a:pPr>
            <a:r>
              <a:rPr lang="en-US" dirty="0" err="1" smtClean="0"/>
              <a:t>OnHandlerExecuted</a:t>
            </a:r>
            <a:r>
              <a:rPr lang="en-US" dirty="0" smtClean="0"/>
              <a:t> is triggered after the handler method has executed, allowing for post-execution actions.</a:t>
            </a:r>
          </a:p>
          <a:p>
            <a:pPr marL="0" lvl="0" indent="0" algn="l" rtl="0">
              <a:spcBef>
                <a:spcPts val="0"/>
              </a:spcBef>
              <a:spcAft>
                <a:spcPts val="0"/>
              </a:spcAft>
              <a:buNone/>
            </a:pPr>
            <a:r>
              <a:rPr lang="en-US" dirty="0" smtClean="0"/>
              <a:t>These additional handler events significantly enhance your ability to handle user input, perform data processing, and execute business logic with precision. By leveraging these events in your </a:t>
            </a:r>
            <a:r>
              <a:rPr lang="en-US" dirty="0" err="1" smtClean="0"/>
              <a:t>PageModel</a:t>
            </a:r>
            <a:r>
              <a:rPr lang="en-US" dirty="0" smtClean="0"/>
              <a:t>, you can tailor the behavior of your Razor Pages application with a high level of control.</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429" name="Google Shape;42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81871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Razor</a:t>
            </a:r>
            <a:r>
              <a:rPr lang="en-US" baseline="0" dirty="0" smtClean="0"/>
              <a:t> Page Filters :Introducing Razor Page Filters, a powerful feature that empowers you to incorporate cross-cutting concerns seamlessly into your Razor Pages application. These filters enable the execution of code either before or after specific stages in the Razor Pages lifecycle or before and after individual page handler methods.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There are two types of filters in Razor Pages:</a:t>
            </a:r>
          </a:p>
          <a:p>
            <a:pPr marL="0" lvl="0" indent="0" algn="l" rtl="0">
              <a:spcBef>
                <a:spcPts val="0"/>
              </a:spcBef>
              <a:spcAft>
                <a:spcPts val="0"/>
              </a:spcAft>
              <a:buNone/>
            </a:pPr>
            <a:r>
              <a:rPr lang="en-US" baseline="0" dirty="0" smtClean="0"/>
              <a:t>Page Filters  </a:t>
            </a:r>
            <a:r>
              <a:rPr lang="en-US" baseline="0" dirty="0" err="1" smtClean="0"/>
              <a:t>andHandler</a:t>
            </a:r>
            <a:r>
              <a:rPr lang="en-US" baseline="0" dirty="0" smtClean="0"/>
              <a:t> Filters.</a:t>
            </a:r>
          </a:p>
          <a:p>
            <a:pPr marL="0" lvl="0" indent="0" algn="l" rtl="0">
              <a:spcBef>
                <a:spcPts val="0"/>
              </a:spcBef>
              <a:spcAft>
                <a:spcPts val="0"/>
              </a:spcAft>
              <a:buNone/>
            </a:pPr>
            <a:endParaRPr lang="en-US" baseline="0" dirty="0" smtClean="0"/>
          </a:p>
        </p:txBody>
      </p:sp>
      <p:sp>
        <p:nvSpPr>
          <p:cNvPr id="441" name="Google Shape;44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851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Page Filters:</a:t>
            </a:r>
            <a:r>
              <a:rPr lang="en-IN" baseline="0" dirty="0" smtClean="0"/>
              <a:t> </a:t>
            </a:r>
            <a:r>
              <a:rPr lang="en-US" baseline="0" dirty="0" smtClean="0"/>
              <a:t>Page Filters: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These are like the captains of the entire ship, applied at the page level.</a:t>
            </a:r>
          </a:p>
          <a:p>
            <a:pPr marL="0" lvl="0" indent="0" algn="l" rtl="0">
              <a:spcBef>
                <a:spcPts val="0"/>
              </a:spcBef>
              <a:spcAft>
                <a:spcPts val="0"/>
              </a:spcAft>
              <a:buNone/>
            </a:pPr>
            <a:r>
              <a:rPr lang="en-US" baseline="0" dirty="0" smtClean="0"/>
              <a:t>Picture them as the ones who set the scene before or after the entire page does its thing.</a:t>
            </a:r>
          </a:p>
          <a:p>
            <a:pPr marL="0" lvl="0" indent="0" algn="l" rtl="0">
              <a:spcBef>
                <a:spcPts val="0"/>
              </a:spcBef>
              <a:spcAft>
                <a:spcPts val="0"/>
              </a:spcAft>
              <a:buNone/>
            </a:pPr>
            <a:r>
              <a:rPr lang="en-US" baseline="0" dirty="0" smtClean="0"/>
              <a:t>You'll find these filters in the </a:t>
            </a:r>
            <a:r>
              <a:rPr lang="en-US" baseline="0" dirty="0" err="1" smtClean="0"/>
              <a:t>PageModel</a:t>
            </a:r>
            <a:r>
              <a:rPr lang="en-US" baseline="0" dirty="0" smtClean="0"/>
              <a:t> base class, your go-to place for defining what special actions should happen for the entire page.</a:t>
            </a:r>
          </a:p>
          <a:p>
            <a:pPr marL="0" lvl="0" indent="0" algn="l" rtl="0">
              <a:spcBef>
                <a:spcPts val="0"/>
              </a:spcBef>
              <a:spcAft>
                <a:spcPts val="0"/>
              </a:spcAft>
              <a:buNone/>
            </a:pPr>
            <a:r>
              <a:rPr lang="en-US" baseline="0" dirty="0" smtClean="0"/>
              <a:t>Page Filters are perfect for handling big scenarios like making sure users are who they say they are, deciding who gets access, keeping a record of what happens, or even speeding things up with clever caching tricks.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Handler Filters: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Now, zoom in a bit. Handler Filters are the detail-oriented buddies, applied at the individual page handler method level.</a:t>
            </a:r>
          </a:p>
          <a:p>
            <a:pPr marL="0" lvl="0" indent="0" algn="l" rtl="0">
              <a:spcBef>
                <a:spcPts val="0"/>
              </a:spcBef>
              <a:spcAft>
                <a:spcPts val="0"/>
              </a:spcAft>
              <a:buNone/>
            </a:pPr>
            <a:r>
              <a:rPr lang="en-US" baseline="0" dirty="0" smtClean="0"/>
              <a:t>They are like the guardians, ready to perform actions just before or after a specific handler method does its job.</a:t>
            </a:r>
          </a:p>
          <a:p>
            <a:pPr marL="0" lvl="0" indent="0" algn="l" rtl="0">
              <a:spcBef>
                <a:spcPts val="0"/>
              </a:spcBef>
              <a:spcAft>
                <a:spcPts val="0"/>
              </a:spcAft>
              <a:buNone/>
            </a:pPr>
            <a:r>
              <a:rPr lang="en-US" baseline="0" dirty="0" smtClean="0"/>
              <a:t>You define these using attributes, a bit like special tags that tell your code what to do.</a:t>
            </a:r>
          </a:p>
          <a:p>
            <a:pPr marL="0" lvl="0" indent="0" algn="l" rtl="0">
              <a:spcBef>
                <a:spcPts val="0"/>
              </a:spcBef>
              <a:spcAft>
                <a:spcPts val="0"/>
              </a:spcAft>
              <a:buNone/>
            </a:pPr>
            <a:r>
              <a:rPr lang="en-US" baseline="0" dirty="0" smtClean="0"/>
              <a:t>Handler Filters are fantastic for handling specific tasks like checking if the user's input is valid, dealing with data binding, logging what's going on, and more.</a:t>
            </a:r>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dirty="0"/>
          </a:p>
        </p:txBody>
      </p:sp>
      <p:sp>
        <p:nvSpPr>
          <p:cNvPr id="454" name="Google Shape;45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090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Razor Page Validations: </a:t>
            </a:r>
          </a:p>
          <a:p>
            <a:pPr marL="0" lvl="0" indent="0" algn="l" rtl="0">
              <a:spcBef>
                <a:spcPts val="0"/>
              </a:spcBef>
              <a:spcAft>
                <a:spcPts val="0"/>
              </a:spcAft>
              <a:buNone/>
            </a:pPr>
            <a:r>
              <a:rPr lang="en-US" dirty="0" smtClean="0"/>
              <a:t>Let's talk about a crucial aspect of Razor Pages – Validation. This is all about making sure the data users enter into our pages is top-notch. We want to ensure it meets certain criteria and doesn't cause any issues down the line.</a:t>
            </a:r>
          </a:p>
          <a:p>
            <a:pPr marL="0" lvl="0" indent="0" algn="l" rtl="0">
              <a:spcBef>
                <a:spcPts val="0"/>
              </a:spcBef>
              <a:spcAft>
                <a:spcPts val="0"/>
              </a:spcAft>
              <a:buNone/>
            </a:pPr>
            <a:r>
              <a:rPr lang="en-US" dirty="0" smtClean="0"/>
              <a:t>There are various ways to implement validations in Razor Pages, including client-side and server-side validations.</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
        <p:nvSpPr>
          <p:cNvPr id="467" name="Google Shape;4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498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Client Side Validations:</a:t>
            </a:r>
          </a:p>
          <a:p>
            <a:pPr marL="0" lvl="0" indent="0" algn="l" rtl="0">
              <a:spcBef>
                <a:spcPts val="0"/>
              </a:spcBef>
              <a:spcAft>
                <a:spcPts val="0"/>
              </a:spcAft>
              <a:buNone/>
            </a:pPr>
            <a:r>
              <a:rPr lang="en-US" dirty="0" smtClean="0"/>
              <a:t>Now, let's zoom into the world of Client-Side Validations, specifically for those essential Required Fields.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User-Friendly Interaction: Required fields are like the foundation of our user inputs. We want to make sure users provide information where it's crucial. Enter Client-Side Validations, the friendly guardians that ensure users don't miss those key details.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Simple Annotations: In Razor Pages, we can mark fields as required effortlessly using the data-</a:t>
            </a:r>
            <a:r>
              <a:rPr lang="en-US" dirty="0" err="1" smtClean="0"/>
              <a:t>val</a:t>
            </a:r>
            <a:r>
              <a:rPr lang="en-US" dirty="0" smtClean="0"/>
              <a:t>-required attribute. It's like putting up a sign saying, "Hey, this field can't be empty!"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Automatic JavaScript Magic: Here's the cool part – Razor Pages automatically generates the necessary JavaScript validation code based on these attributes. It's like having a virtual assistant doing the heavy lifting for us. No need to code everything manually.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In this snippet, we've told Razor Pages that the "Name" field is required. It generates the JavaScript validation code behind the scenes, making sure users get a prompt if they forget to fill in their name.</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IN" dirty="0" smtClean="0"/>
              <a:t> </a:t>
            </a:r>
            <a:endParaRPr dirty="0"/>
          </a:p>
        </p:txBody>
      </p:sp>
    </p:spTree>
    <p:extLst>
      <p:ext uri="{BB962C8B-B14F-4D97-AF65-F5344CB8AC3E}">
        <p14:creationId xmlns:p14="http://schemas.microsoft.com/office/powerpoint/2010/main" val="3857355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Client Side Validation:</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Let's delve deeper into the world of Client-Side Validations, specifically focusing on ensuring our data has the right type.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Precision with Data Types: We not only want our fields to be required, but we also want them to contain the right kind of data. Data Type Validations help us set expectations.</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Model Annotations: In Razor Pages, we achieve this by using data annotations directly on our model properties. It's like providing a user manual for our data – specifying what's expected and what's not.</a:t>
            </a:r>
          </a:p>
          <a:p>
            <a:pPr marL="0" lvl="0" indent="0" algn="l" rtl="0">
              <a:spcBef>
                <a:spcPts val="0"/>
              </a:spcBef>
              <a:spcAft>
                <a:spcPts val="0"/>
              </a:spcAft>
              <a:buNone/>
            </a:pPr>
            <a:r>
              <a:rPr lang="en-US" dirty="0" smtClean="0"/>
              <a:t>Take a look at this simple model:</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Here, we're saying that the "Name" field is required, and the "Age" field should be a number between 18 and 99.</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Automatic JavaScript Generation: Just like with required fields, Razor Pages automatically generates the necessary JavaScript validation code based on these data annotations. It's like having a built-in spellchecker for our data types.</a:t>
            </a:r>
          </a:p>
          <a:p>
            <a:pPr marL="0" lvl="0" indent="0" algn="l" rtl="0">
              <a:spcBef>
                <a:spcPts val="0"/>
              </a:spcBef>
              <a:spcAft>
                <a:spcPts val="0"/>
              </a:spcAft>
              <a:buNone/>
            </a:pP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3399210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Server Side Validation: </a:t>
            </a:r>
          </a:p>
          <a:p>
            <a:pPr marL="0" lvl="0" indent="0" algn="l" rtl="0">
              <a:spcBef>
                <a:spcPts val="0"/>
              </a:spcBef>
              <a:spcAft>
                <a:spcPts val="0"/>
              </a:spcAft>
              <a:buNone/>
            </a:pPr>
            <a:endParaRPr lang="en-IN" dirty="0" smtClean="0"/>
          </a:p>
          <a:p>
            <a:pPr marL="0" lvl="0" indent="0" algn="l" rtl="0">
              <a:spcBef>
                <a:spcPts val="0"/>
              </a:spcBef>
              <a:spcAft>
                <a:spcPts val="0"/>
              </a:spcAft>
              <a:buNone/>
            </a:pPr>
            <a:r>
              <a:rPr lang="en-US" dirty="0" smtClean="0"/>
              <a:t>Let's uncover the magic behind </a:t>
            </a:r>
            <a:r>
              <a:rPr lang="en-US" dirty="0" err="1" smtClean="0"/>
              <a:t>ModelState</a:t>
            </a:r>
            <a:r>
              <a:rPr lang="en-US" dirty="0" smtClean="0"/>
              <a:t> in Razor Pages – the guardian that ensures our data is not just validated on the client side, but also on the server side.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Automatic Model Validation: Razor Pages comes equipped with an automatic validation mechanism during model binding. This means as soon as data comes in, it undergoes a round of checks to ensure it meets the specified criteria.</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Checking the State: The </a:t>
            </a:r>
            <a:r>
              <a:rPr lang="en-US" dirty="0" err="1" smtClean="0"/>
              <a:t>ModelState.IsValid</a:t>
            </a:r>
            <a:r>
              <a:rPr lang="en-US" dirty="0" smtClean="0"/>
              <a:t> property is our key to understanding whether the data passed the validation checks. It's like the traffic light telling us whether it's safe to proceed or if there's an issue.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Take a look at this code snippet in an </a:t>
            </a:r>
            <a:r>
              <a:rPr lang="en-US" dirty="0" err="1" smtClean="0"/>
              <a:t>OnPost</a:t>
            </a:r>
            <a:r>
              <a:rPr lang="en-US" dirty="0" smtClean="0"/>
              <a:t> method:</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Here, we're saying, "If the </a:t>
            </a:r>
            <a:r>
              <a:rPr lang="en-US" dirty="0" err="1" smtClean="0"/>
              <a:t>ModelState</a:t>
            </a:r>
            <a:r>
              <a:rPr lang="en-US" dirty="0" smtClean="0"/>
              <a:t> is not valid, let's stay on the page and display error messages. If it's valid, let's process the data and redirect to a success page."</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Seamless Integration: The beauty of this is that it seamlessly integrates both client-side and server-side validations. Users get immediate feedback, and we have an additional layer of validation on the server to ensure data integrity.</a:t>
            </a:r>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So, with </a:t>
            </a:r>
            <a:r>
              <a:rPr lang="en-US" dirty="0" err="1" smtClean="0"/>
              <a:t>ModelState</a:t>
            </a:r>
            <a:r>
              <a:rPr lang="en-US" dirty="0" smtClean="0"/>
              <a:t>, we're not just stopping at client-side validations; we're ensuring a robust data validation process from both ends.</a:t>
            </a:r>
            <a:endParaRPr lang="en-IN" dirty="0" smtClean="0"/>
          </a:p>
          <a:p>
            <a:pPr marL="0" lvl="0" indent="0" algn="l" rtl="0">
              <a:spcBef>
                <a:spcPts val="0"/>
              </a:spcBef>
              <a:spcAft>
                <a:spcPts val="0"/>
              </a:spcAft>
              <a:buNone/>
            </a:pPr>
            <a:endParaRPr lang="en-IN"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1469631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IN" dirty="0" smtClean="0"/>
              <a:t>Server Side Validation:</a:t>
            </a:r>
            <a:r>
              <a:rPr lang="en-IN" baseline="0" dirty="0" smtClean="0"/>
              <a:t> </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baseline="0" dirty="0" smtClean="0"/>
              <a:t>Let's talk about a powerful tool in the Razor Pages toolkit – Custom Validations. When the standard validations don't quite fit the bill, custom attributes step in to save the day.</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Crafting Your Own Rules: Ever had a validation requirement that felt unique? That's where Custom Validations come into play. You get to be the architect of your validation logic.</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Creating Custom Validation Attribute: How do we do it? Well, you can create your very own custom validation attribute by deriving from the </a:t>
            </a:r>
            <a:r>
              <a:rPr lang="en-US" baseline="0" dirty="0" err="1" smtClean="0"/>
              <a:t>ValidationAttribute</a:t>
            </a:r>
            <a:r>
              <a:rPr lang="en-US" baseline="0" dirty="0" smtClean="0"/>
              <a:t> class and overriding the </a:t>
            </a:r>
            <a:r>
              <a:rPr lang="en-US" baseline="0" dirty="0" err="1" smtClean="0"/>
              <a:t>IsValid</a:t>
            </a:r>
            <a:r>
              <a:rPr lang="en-US" baseline="0" dirty="0" smtClean="0"/>
              <a:t> method. It's like tailoring a suit – custom-fit for your specific needs.</a:t>
            </a:r>
          </a:p>
          <a:p>
            <a:pPr marL="0" lvl="0" indent="0" algn="l" rtl="0">
              <a:spcBef>
                <a:spcPts val="0"/>
              </a:spcBef>
              <a:spcAft>
                <a:spcPts val="0"/>
              </a:spcAft>
              <a:buNone/>
            </a:pPr>
            <a:endParaRPr lang="en-IN" baseline="0" dirty="0" smtClean="0"/>
          </a:p>
          <a:p>
            <a:pPr marL="0" lvl="0" indent="0" algn="l" rtl="0">
              <a:spcBef>
                <a:spcPts val="0"/>
              </a:spcBef>
              <a:spcAft>
                <a:spcPts val="0"/>
              </a:spcAft>
              <a:buNone/>
            </a:pPr>
            <a:r>
              <a:rPr lang="en-US" baseline="0" dirty="0" smtClean="0"/>
              <a:t>Take a look at this code snippet:</a:t>
            </a:r>
          </a:p>
          <a:p>
            <a:pPr marL="0" lvl="0" indent="0" algn="l" rtl="0">
              <a:spcBef>
                <a:spcPts val="0"/>
              </a:spcBef>
              <a:spcAft>
                <a:spcPts val="0"/>
              </a:spcAft>
              <a:buNone/>
            </a:pPr>
            <a:r>
              <a:rPr lang="en-US" baseline="0" dirty="0" smtClean="0"/>
              <a:t>Here, we've created a custom validation attribute called </a:t>
            </a:r>
            <a:r>
              <a:rPr lang="en-US" baseline="0" dirty="0" err="1" smtClean="0"/>
              <a:t>CustomValidationAttribute</a:t>
            </a:r>
            <a:r>
              <a:rPr lang="en-US" baseline="0" dirty="0" smtClean="0"/>
              <a:t>. If the validation logic within it fails, it returns a </a:t>
            </a:r>
            <a:r>
              <a:rPr lang="en-US" baseline="0" dirty="0" err="1" smtClean="0"/>
              <a:t>ValidationResult</a:t>
            </a:r>
            <a:r>
              <a:rPr lang="en-US" baseline="0" dirty="0" smtClean="0"/>
              <a:t> with a custom error message.</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Endless Possibilities: This opens up a world of possibilities. Whether it's checking complex business rules, unique formatting requirements, or anything in between, you have the flexibility to mold your validation rules.</a:t>
            </a:r>
          </a:p>
          <a:p>
            <a:pPr marL="0" lvl="0" indent="0" algn="l" rtl="0">
              <a:spcBef>
                <a:spcPts val="0"/>
              </a:spcBef>
              <a:spcAft>
                <a:spcPts val="0"/>
              </a:spcAft>
              <a:buNone/>
            </a:pPr>
            <a:endParaRPr lang="en-US" baseline="0" dirty="0" smtClean="0"/>
          </a:p>
          <a:p>
            <a:pPr marL="0" lvl="0" indent="0" algn="l" rtl="0">
              <a:spcBef>
                <a:spcPts val="0"/>
              </a:spcBef>
              <a:spcAft>
                <a:spcPts val="0"/>
              </a:spcAft>
              <a:buNone/>
            </a:pPr>
            <a:r>
              <a:rPr lang="en-US" baseline="0" dirty="0" smtClean="0"/>
              <a:t>Custom Validations in Razor Pages are your ticket to tailor-made validation logic, ensuring your application adheres to precisely the rules you define.</a:t>
            </a:r>
          </a:p>
          <a:p>
            <a:pPr marL="0" lvl="0" indent="0" algn="l" rtl="0">
              <a:spcBef>
                <a:spcPts val="0"/>
              </a:spcBef>
              <a:spcAft>
                <a:spcPts val="0"/>
              </a:spcAft>
              <a:buNone/>
            </a:pPr>
            <a:endParaRPr lang="en-IN" baseline="0" dirty="0" smtClean="0"/>
          </a:p>
          <a:p>
            <a:pPr marL="0" lvl="0" indent="0" algn="l" rtl="0">
              <a:spcBef>
                <a:spcPts val="0"/>
              </a:spcBef>
              <a:spcAft>
                <a:spcPts val="0"/>
              </a:spcAft>
              <a:buNone/>
            </a:pPr>
            <a:endParaRPr dirty="0"/>
          </a:p>
        </p:txBody>
      </p:sp>
    </p:spTree>
    <p:extLst>
      <p:ext uri="{BB962C8B-B14F-4D97-AF65-F5344CB8AC3E}">
        <p14:creationId xmlns:p14="http://schemas.microsoft.com/office/powerpoint/2010/main" val="2218350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smtClean="0"/>
              <a:t>Thank you for joining this session!</a:t>
            </a:r>
            <a:endParaRPr lang="en-US" dirty="0"/>
          </a:p>
        </p:txBody>
      </p:sp>
      <p:sp>
        <p:nvSpPr>
          <p:cNvPr id="532" name="Google Shape;53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010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360"/>
              </a:spcBef>
              <a:spcAft>
                <a:spcPts val="0"/>
              </a:spcAft>
              <a:buClr>
                <a:schemeClr val="dk1"/>
              </a:buClr>
              <a:buSzPts val="1800"/>
              <a:buFont typeface="Arial"/>
              <a:buNone/>
              <a:defRPr sz="1800"/>
            </a:lvl1pPr>
            <a:lvl2pPr lvl="1" algn="ctr">
              <a:lnSpc>
                <a:spcPct val="100000"/>
              </a:lnSpc>
              <a:spcBef>
                <a:spcPts val="300"/>
              </a:spcBef>
              <a:spcAft>
                <a:spcPts val="0"/>
              </a:spcAft>
              <a:buClr>
                <a:schemeClr val="dk1"/>
              </a:buClr>
              <a:buSzPts val="1500"/>
              <a:buFont typeface="Arial"/>
              <a:buNone/>
              <a:defRPr sz="1500"/>
            </a:lvl2pPr>
            <a:lvl3pPr lvl="2" algn="ctr">
              <a:lnSpc>
                <a:spcPct val="100000"/>
              </a:lnSpc>
              <a:spcBef>
                <a:spcPts val="270"/>
              </a:spcBef>
              <a:spcAft>
                <a:spcPts val="0"/>
              </a:spcAft>
              <a:buClr>
                <a:schemeClr val="dk1"/>
              </a:buClr>
              <a:buSzPts val="1350"/>
              <a:buFont typeface="Arial"/>
              <a:buNone/>
              <a:defRPr sz="1350"/>
            </a:lvl3pPr>
            <a:lvl4pPr lvl="3" algn="ctr">
              <a:lnSpc>
                <a:spcPct val="100000"/>
              </a:lnSpc>
              <a:spcBef>
                <a:spcPts val="240"/>
              </a:spcBef>
              <a:spcAft>
                <a:spcPts val="0"/>
              </a:spcAft>
              <a:buClr>
                <a:schemeClr val="dk1"/>
              </a:buClr>
              <a:buSzPts val="1200"/>
              <a:buFont typeface="Arial"/>
              <a:buNone/>
              <a:defRPr sz="1200"/>
            </a:lvl4pPr>
            <a:lvl5pPr lvl="4" algn="ctr">
              <a:lnSpc>
                <a:spcPct val="100000"/>
              </a:lnSpc>
              <a:spcBef>
                <a:spcPts val="240"/>
              </a:spcBef>
              <a:spcAft>
                <a:spcPts val="0"/>
              </a:spcAft>
              <a:buClr>
                <a:schemeClr val="dk1"/>
              </a:buClr>
              <a:buSzPts val="1200"/>
              <a:buFont typeface="Arial"/>
              <a:buNone/>
              <a:defRPr sz="1200"/>
            </a:lvl5pPr>
            <a:lvl6pPr lvl="5" algn="ctr">
              <a:lnSpc>
                <a:spcPct val="100000"/>
              </a:lnSpc>
              <a:spcBef>
                <a:spcPts val="240"/>
              </a:spcBef>
              <a:spcAft>
                <a:spcPts val="0"/>
              </a:spcAft>
              <a:buClr>
                <a:schemeClr val="dk1"/>
              </a:buClr>
              <a:buSzPts val="1200"/>
              <a:buFont typeface="Arial"/>
              <a:buNone/>
              <a:defRPr sz="1200"/>
            </a:lvl6pPr>
            <a:lvl7pPr lvl="6" algn="ctr">
              <a:lnSpc>
                <a:spcPct val="100000"/>
              </a:lnSpc>
              <a:spcBef>
                <a:spcPts val="240"/>
              </a:spcBef>
              <a:spcAft>
                <a:spcPts val="0"/>
              </a:spcAft>
              <a:buClr>
                <a:schemeClr val="dk1"/>
              </a:buClr>
              <a:buSzPts val="1200"/>
              <a:buFont typeface="Arial"/>
              <a:buNone/>
              <a:defRPr sz="1200"/>
            </a:lvl7pPr>
            <a:lvl8pPr lvl="7" algn="ctr">
              <a:lnSpc>
                <a:spcPct val="100000"/>
              </a:lnSpc>
              <a:spcBef>
                <a:spcPts val="240"/>
              </a:spcBef>
              <a:spcAft>
                <a:spcPts val="0"/>
              </a:spcAft>
              <a:buClr>
                <a:schemeClr val="dk1"/>
              </a:buClr>
              <a:buSzPts val="1200"/>
              <a:buFont typeface="Arial"/>
              <a:buNone/>
              <a:defRPr sz="1200"/>
            </a:lvl8pPr>
            <a:lvl9pPr lvl="8" algn="ctr">
              <a:lnSpc>
                <a:spcPct val="100000"/>
              </a:lnSpc>
              <a:spcBef>
                <a:spcPts val="240"/>
              </a:spcBef>
              <a:spcAft>
                <a:spcPts val="0"/>
              </a:spcAft>
              <a:buClr>
                <a:schemeClr val="dk1"/>
              </a:buClr>
              <a:buSzPts val="1200"/>
              <a:buFont typeface="Arial"/>
              <a:buNone/>
              <a:defRPr sz="1200"/>
            </a:lvl9pPr>
          </a:lstStyle>
          <a:p>
            <a:endParaRPr/>
          </a:p>
        </p:txBody>
      </p:sp>
      <p:sp>
        <p:nvSpPr>
          <p:cNvPr id="18" name="Google Shape;18;p3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3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7"/>
          <p:cNvSpPr txBox="1">
            <a:spLocks noGrp="1"/>
          </p:cNvSpPr>
          <p:nvPr>
            <p:ph type="body" idx="1"/>
          </p:nvPr>
        </p:nvSpPr>
        <p:spPr>
          <a:xfrm>
            <a:off x="609600"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7"/>
          <p:cNvSpPr txBox="1">
            <a:spLocks noGrp="1"/>
          </p:cNvSpPr>
          <p:nvPr>
            <p:ph type="body" idx="2"/>
          </p:nvPr>
        </p:nvSpPr>
        <p:spPr>
          <a:xfrm>
            <a:off x="6205728"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37"/>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7"/>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8"/>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38"/>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8"/>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39"/>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9"/>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rgbClr val="888888"/>
              </a:buClr>
              <a:buSzPts val="1800"/>
              <a:buFont typeface="Arial"/>
              <a:buNone/>
              <a:defRPr sz="1800">
                <a:solidFill>
                  <a:srgbClr val="888888"/>
                </a:solidFill>
              </a:defRPr>
            </a:lvl1pPr>
            <a:lvl2pPr marL="914400" lvl="1" indent="-228600" algn="l">
              <a:lnSpc>
                <a:spcPct val="100000"/>
              </a:lnSpc>
              <a:spcBef>
                <a:spcPts val="300"/>
              </a:spcBef>
              <a:spcAft>
                <a:spcPts val="0"/>
              </a:spcAft>
              <a:buClr>
                <a:srgbClr val="888888"/>
              </a:buClr>
              <a:buSzPts val="1500"/>
              <a:buFont typeface="Arial"/>
              <a:buNone/>
              <a:defRPr sz="1500">
                <a:solidFill>
                  <a:srgbClr val="888888"/>
                </a:solidFill>
              </a:defRPr>
            </a:lvl2pPr>
            <a:lvl3pPr marL="1371600" lvl="2" indent="-228600" algn="l">
              <a:lnSpc>
                <a:spcPct val="100000"/>
              </a:lnSpc>
              <a:spcBef>
                <a:spcPts val="270"/>
              </a:spcBef>
              <a:spcAft>
                <a:spcPts val="0"/>
              </a:spcAft>
              <a:buClr>
                <a:srgbClr val="888888"/>
              </a:buClr>
              <a:buSzPts val="1350"/>
              <a:buFont typeface="Arial"/>
              <a:buNone/>
              <a:defRPr sz="1350">
                <a:solidFill>
                  <a:srgbClr val="888888"/>
                </a:solidFill>
              </a:defRPr>
            </a:lvl3pPr>
            <a:lvl4pPr marL="1828800" lvl="3" indent="-228600" algn="l">
              <a:lnSpc>
                <a:spcPct val="100000"/>
              </a:lnSpc>
              <a:spcBef>
                <a:spcPts val="240"/>
              </a:spcBef>
              <a:spcAft>
                <a:spcPts val="0"/>
              </a:spcAft>
              <a:buClr>
                <a:srgbClr val="888888"/>
              </a:buClr>
              <a:buSzPts val="1200"/>
              <a:buFont typeface="Arial"/>
              <a:buNone/>
              <a:defRPr sz="1200">
                <a:solidFill>
                  <a:srgbClr val="888888"/>
                </a:solidFill>
              </a:defRPr>
            </a:lvl4pPr>
            <a:lvl5pPr marL="2286000" lvl="4" indent="-228600" algn="l">
              <a:lnSpc>
                <a:spcPct val="100000"/>
              </a:lnSpc>
              <a:spcBef>
                <a:spcPts val="240"/>
              </a:spcBef>
              <a:spcAft>
                <a:spcPts val="0"/>
              </a:spcAft>
              <a:buClr>
                <a:srgbClr val="888888"/>
              </a:buClr>
              <a:buSzPts val="1200"/>
              <a:buFont typeface="Arial"/>
              <a:buNone/>
              <a:defRPr sz="1200">
                <a:solidFill>
                  <a:srgbClr val="888888"/>
                </a:solidFill>
              </a:defRPr>
            </a:lvl5pPr>
            <a:lvl6pPr marL="2743200" lvl="5" indent="-228600" algn="l">
              <a:lnSpc>
                <a:spcPct val="100000"/>
              </a:lnSpc>
              <a:spcBef>
                <a:spcPts val="240"/>
              </a:spcBef>
              <a:spcAft>
                <a:spcPts val="0"/>
              </a:spcAft>
              <a:buClr>
                <a:srgbClr val="888888"/>
              </a:buClr>
              <a:buSzPts val="1200"/>
              <a:buFont typeface="Arial"/>
              <a:buNone/>
              <a:defRPr sz="1200">
                <a:solidFill>
                  <a:srgbClr val="888888"/>
                </a:solidFill>
              </a:defRPr>
            </a:lvl6pPr>
            <a:lvl7pPr marL="3200400" lvl="6" indent="-228600" algn="l">
              <a:lnSpc>
                <a:spcPct val="100000"/>
              </a:lnSpc>
              <a:spcBef>
                <a:spcPts val="240"/>
              </a:spcBef>
              <a:spcAft>
                <a:spcPts val="0"/>
              </a:spcAft>
              <a:buClr>
                <a:srgbClr val="888888"/>
              </a:buClr>
              <a:buSzPts val="1200"/>
              <a:buFont typeface="Arial"/>
              <a:buNone/>
              <a:defRPr sz="1200">
                <a:solidFill>
                  <a:srgbClr val="888888"/>
                </a:solidFill>
              </a:defRPr>
            </a:lvl7pPr>
            <a:lvl8pPr marL="3657600" lvl="7" indent="-228600" algn="l">
              <a:lnSpc>
                <a:spcPct val="100000"/>
              </a:lnSpc>
              <a:spcBef>
                <a:spcPts val="240"/>
              </a:spcBef>
              <a:spcAft>
                <a:spcPts val="0"/>
              </a:spcAft>
              <a:buClr>
                <a:srgbClr val="888888"/>
              </a:buClr>
              <a:buSzPts val="1200"/>
              <a:buFont typeface="Arial"/>
              <a:buNone/>
              <a:defRPr sz="1200">
                <a:solidFill>
                  <a:srgbClr val="888888"/>
                </a:solidFill>
              </a:defRPr>
            </a:lvl8pPr>
            <a:lvl9pPr marL="4114800" lvl="8" indent="-228600" algn="l">
              <a:lnSpc>
                <a:spcPct val="100000"/>
              </a:lnSpc>
              <a:spcBef>
                <a:spcPts val="240"/>
              </a:spcBef>
              <a:spcAft>
                <a:spcPts val="0"/>
              </a:spcAft>
              <a:buClr>
                <a:srgbClr val="888888"/>
              </a:buClr>
              <a:buSzPts val="1200"/>
              <a:buFont typeface="Arial"/>
              <a:buNone/>
              <a:defRPr sz="1200">
                <a:solidFill>
                  <a:srgbClr val="888888"/>
                </a:solidFill>
              </a:defRPr>
            </a:lvl9pPr>
          </a:lstStyle>
          <a:p>
            <a:endParaRPr/>
          </a:p>
        </p:txBody>
      </p:sp>
      <p:sp>
        <p:nvSpPr>
          <p:cNvPr id="37" name="Google Shape;37;p39"/>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9"/>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a:buNone/>
              <a:defRPr sz="1800" b="1"/>
            </a:lvl1pPr>
            <a:lvl2pPr marL="914400" lvl="1" indent="-228600" algn="l">
              <a:lnSpc>
                <a:spcPct val="100000"/>
              </a:lnSpc>
              <a:spcBef>
                <a:spcPts val="300"/>
              </a:spcBef>
              <a:spcAft>
                <a:spcPts val="0"/>
              </a:spcAft>
              <a:buClr>
                <a:schemeClr val="dk1"/>
              </a:buClr>
              <a:buSzPts val="1500"/>
              <a:buFont typeface="Arial"/>
              <a:buNone/>
              <a:defRPr sz="1500" b="1"/>
            </a:lvl2pPr>
            <a:lvl3pPr marL="1371600" lvl="2" indent="-228600" algn="l">
              <a:lnSpc>
                <a:spcPct val="100000"/>
              </a:lnSpc>
              <a:spcBef>
                <a:spcPts val="270"/>
              </a:spcBef>
              <a:spcAft>
                <a:spcPts val="0"/>
              </a:spcAft>
              <a:buClr>
                <a:schemeClr val="dk1"/>
              </a:buClr>
              <a:buSzPts val="1350"/>
              <a:buFont typeface="Arial"/>
              <a:buNone/>
              <a:defRPr sz="1350" b="1"/>
            </a:lvl3pPr>
            <a:lvl4pPr marL="1828800" lvl="3" indent="-228600" algn="l">
              <a:lnSpc>
                <a:spcPct val="100000"/>
              </a:lnSpc>
              <a:spcBef>
                <a:spcPts val="240"/>
              </a:spcBef>
              <a:spcAft>
                <a:spcPts val="0"/>
              </a:spcAft>
              <a:buClr>
                <a:schemeClr val="dk1"/>
              </a:buClr>
              <a:buSzPts val="1200"/>
              <a:buFont typeface="Arial"/>
              <a:buNone/>
              <a:defRPr sz="1200" b="1"/>
            </a:lvl4pPr>
            <a:lvl5pPr marL="2286000" lvl="4" indent="-228600" algn="l">
              <a:lnSpc>
                <a:spcPct val="100000"/>
              </a:lnSpc>
              <a:spcBef>
                <a:spcPts val="240"/>
              </a:spcBef>
              <a:spcAft>
                <a:spcPts val="0"/>
              </a:spcAft>
              <a:buClr>
                <a:schemeClr val="dk1"/>
              </a:buClr>
              <a:buSzPts val="1200"/>
              <a:buFont typeface="Arial"/>
              <a:buNone/>
              <a:defRPr sz="1200" b="1"/>
            </a:lvl5pPr>
            <a:lvl6pPr marL="2743200" lvl="5" indent="-228600" algn="l">
              <a:lnSpc>
                <a:spcPct val="100000"/>
              </a:lnSpc>
              <a:spcBef>
                <a:spcPts val="240"/>
              </a:spcBef>
              <a:spcAft>
                <a:spcPts val="0"/>
              </a:spcAft>
              <a:buClr>
                <a:schemeClr val="dk1"/>
              </a:buClr>
              <a:buSzPts val="1200"/>
              <a:buFont typeface="Arial"/>
              <a:buNone/>
              <a:defRPr sz="1200" b="1"/>
            </a:lvl6pPr>
            <a:lvl7pPr marL="3200400" lvl="6" indent="-228600" algn="l">
              <a:lnSpc>
                <a:spcPct val="100000"/>
              </a:lnSpc>
              <a:spcBef>
                <a:spcPts val="240"/>
              </a:spcBef>
              <a:spcAft>
                <a:spcPts val="0"/>
              </a:spcAft>
              <a:buClr>
                <a:schemeClr val="dk1"/>
              </a:buClr>
              <a:buSzPts val="1200"/>
              <a:buFont typeface="Arial"/>
              <a:buNone/>
              <a:defRPr sz="1200" b="1"/>
            </a:lvl7pPr>
            <a:lvl8pPr marL="3657600" lvl="7" indent="-228600" algn="l">
              <a:lnSpc>
                <a:spcPct val="100000"/>
              </a:lnSpc>
              <a:spcBef>
                <a:spcPts val="240"/>
              </a:spcBef>
              <a:spcAft>
                <a:spcPts val="0"/>
              </a:spcAft>
              <a:buClr>
                <a:schemeClr val="dk1"/>
              </a:buClr>
              <a:buSzPts val="1200"/>
              <a:buFont typeface="Arial"/>
              <a:buNone/>
              <a:defRPr sz="1200" b="1"/>
            </a:lvl8pPr>
            <a:lvl9pPr marL="4114800" lvl="8" indent="-228600" algn="l">
              <a:lnSpc>
                <a:spcPct val="100000"/>
              </a:lnSpc>
              <a:spcBef>
                <a:spcPts val="240"/>
              </a:spcBef>
              <a:spcAft>
                <a:spcPts val="0"/>
              </a:spcAft>
              <a:buClr>
                <a:schemeClr val="dk1"/>
              </a:buClr>
              <a:buSzPts val="1200"/>
              <a:buFont typeface="Arial"/>
              <a:buNone/>
              <a:defRPr sz="1200" b="1"/>
            </a:lvl9pPr>
          </a:lstStyle>
          <a:p>
            <a:endParaRPr/>
          </a:p>
        </p:txBody>
      </p:sp>
      <p:sp>
        <p:nvSpPr>
          <p:cNvPr id="43" name="Google Shape;43;p4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4" name="Google Shape;44;p4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a:buNone/>
              <a:defRPr sz="1800" b="1"/>
            </a:lvl1pPr>
            <a:lvl2pPr marL="914400" lvl="1" indent="-228600" algn="l">
              <a:lnSpc>
                <a:spcPct val="100000"/>
              </a:lnSpc>
              <a:spcBef>
                <a:spcPts val="300"/>
              </a:spcBef>
              <a:spcAft>
                <a:spcPts val="0"/>
              </a:spcAft>
              <a:buClr>
                <a:schemeClr val="dk1"/>
              </a:buClr>
              <a:buSzPts val="1500"/>
              <a:buFont typeface="Arial"/>
              <a:buNone/>
              <a:defRPr sz="1500" b="1"/>
            </a:lvl2pPr>
            <a:lvl3pPr marL="1371600" lvl="2" indent="-228600" algn="l">
              <a:lnSpc>
                <a:spcPct val="100000"/>
              </a:lnSpc>
              <a:spcBef>
                <a:spcPts val="270"/>
              </a:spcBef>
              <a:spcAft>
                <a:spcPts val="0"/>
              </a:spcAft>
              <a:buClr>
                <a:schemeClr val="dk1"/>
              </a:buClr>
              <a:buSzPts val="1350"/>
              <a:buFont typeface="Arial"/>
              <a:buNone/>
              <a:defRPr sz="1350" b="1"/>
            </a:lvl3pPr>
            <a:lvl4pPr marL="1828800" lvl="3" indent="-228600" algn="l">
              <a:lnSpc>
                <a:spcPct val="100000"/>
              </a:lnSpc>
              <a:spcBef>
                <a:spcPts val="240"/>
              </a:spcBef>
              <a:spcAft>
                <a:spcPts val="0"/>
              </a:spcAft>
              <a:buClr>
                <a:schemeClr val="dk1"/>
              </a:buClr>
              <a:buSzPts val="1200"/>
              <a:buFont typeface="Arial"/>
              <a:buNone/>
              <a:defRPr sz="1200" b="1"/>
            </a:lvl4pPr>
            <a:lvl5pPr marL="2286000" lvl="4" indent="-228600" algn="l">
              <a:lnSpc>
                <a:spcPct val="100000"/>
              </a:lnSpc>
              <a:spcBef>
                <a:spcPts val="240"/>
              </a:spcBef>
              <a:spcAft>
                <a:spcPts val="0"/>
              </a:spcAft>
              <a:buClr>
                <a:schemeClr val="dk1"/>
              </a:buClr>
              <a:buSzPts val="1200"/>
              <a:buFont typeface="Arial"/>
              <a:buNone/>
              <a:defRPr sz="1200" b="1"/>
            </a:lvl5pPr>
            <a:lvl6pPr marL="2743200" lvl="5" indent="-228600" algn="l">
              <a:lnSpc>
                <a:spcPct val="100000"/>
              </a:lnSpc>
              <a:spcBef>
                <a:spcPts val="240"/>
              </a:spcBef>
              <a:spcAft>
                <a:spcPts val="0"/>
              </a:spcAft>
              <a:buClr>
                <a:schemeClr val="dk1"/>
              </a:buClr>
              <a:buSzPts val="1200"/>
              <a:buFont typeface="Arial"/>
              <a:buNone/>
              <a:defRPr sz="1200" b="1"/>
            </a:lvl6pPr>
            <a:lvl7pPr marL="3200400" lvl="6" indent="-228600" algn="l">
              <a:lnSpc>
                <a:spcPct val="100000"/>
              </a:lnSpc>
              <a:spcBef>
                <a:spcPts val="240"/>
              </a:spcBef>
              <a:spcAft>
                <a:spcPts val="0"/>
              </a:spcAft>
              <a:buClr>
                <a:schemeClr val="dk1"/>
              </a:buClr>
              <a:buSzPts val="1200"/>
              <a:buFont typeface="Arial"/>
              <a:buNone/>
              <a:defRPr sz="1200" b="1"/>
            </a:lvl7pPr>
            <a:lvl8pPr marL="3657600" lvl="7" indent="-228600" algn="l">
              <a:lnSpc>
                <a:spcPct val="100000"/>
              </a:lnSpc>
              <a:spcBef>
                <a:spcPts val="240"/>
              </a:spcBef>
              <a:spcAft>
                <a:spcPts val="0"/>
              </a:spcAft>
              <a:buClr>
                <a:schemeClr val="dk1"/>
              </a:buClr>
              <a:buSzPts val="1200"/>
              <a:buFont typeface="Arial"/>
              <a:buNone/>
              <a:defRPr sz="1200" b="1"/>
            </a:lvl8pPr>
            <a:lvl9pPr marL="4114800" lvl="8" indent="-228600" algn="l">
              <a:lnSpc>
                <a:spcPct val="100000"/>
              </a:lnSpc>
              <a:spcBef>
                <a:spcPts val="240"/>
              </a:spcBef>
              <a:spcAft>
                <a:spcPts val="0"/>
              </a:spcAft>
              <a:buClr>
                <a:schemeClr val="dk1"/>
              </a:buClr>
              <a:buSzPts val="1200"/>
              <a:buFont typeface="Arial"/>
              <a:buNone/>
              <a:defRPr sz="1200" b="1"/>
            </a:lvl9pPr>
          </a:lstStyle>
          <a:p>
            <a:endParaRPr/>
          </a:p>
        </p:txBody>
      </p:sp>
      <p:sp>
        <p:nvSpPr>
          <p:cNvPr id="45" name="Google Shape;45;p4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6" name="Google Shape;46;p40"/>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0"/>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1"/>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1"/>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2"/>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61950" algn="l">
              <a:lnSpc>
                <a:spcPct val="100000"/>
              </a:lnSpc>
              <a:spcBef>
                <a:spcPts val="420"/>
              </a:spcBef>
              <a:spcAft>
                <a:spcPts val="0"/>
              </a:spcAft>
              <a:buClr>
                <a:schemeClr val="dk1"/>
              </a:buClr>
              <a:buSzPts val="2100"/>
              <a:buFont typeface="Arial"/>
              <a:buChar char="–"/>
              <a:defRPr sz="21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23850" algn="l">
              <a:lnSpc>
                <a:spcPct val="100000"/>
              </a:lnSpc>
              <a:spcBef>
                <a:spcPts val="300"/>
              </a:spcBef>
              <a:spcAft>
                <a:spcPts val="0"/>
              </a:spcAft>
              <a:buClr>
                <a:schemeClr val="dk1"/>
              </a:buClr>
              <a:buSzPts val="1500"/>
              <a:buFont typeface="Arial"/>
              <a:buChar char="–"/>
              <a:defRPr sz="1500"/>
            </a:lvl4pPr>
            <a:lvl5pPr marL="2286000" lvl="4" indent="-323850" algn="l">
              <a:lnSpc>
                <a:spcPct val="100000"/>
              </a:lnSpc>
              <a:spcBef>
                <a:spcPts val="300"/>
              </a:spcBef>
              <a:spcAft>
                <a:spcPts val="0"/>
              </a:spcAft>
              <a:buClr>
                <a:schemeClr val="dk1"/>
              </a:buClr>
              <a:buSzPts val="1500"/>
              <a:buFont typeface="Arial"/>
              <a:buChar char="»"/>
              <a:defRPr sz="1500"/>
            </a:lvl5pPr>
            <a:lvl6pPr marL="2743200" lvl="5" indent="-323850" algn="l">
              <a:lnSpc>
                <a:spcPct val="100000"/>
              </a:lnSpc>
              <a:spcBef>
                <a:spcPts val="300"/>
              </a:spcBef>
              <a:spcAft>
                <a:spcPts val="0"/>
              </a:spcAft>
              <a:buClr>
                <a:schemeClr val="dk1"/>
              </a:buClr>
              <a:buSzPts val="1500"/>
              <a:buFont typeface="Arial"/>
              <a:buChar char="»"/>
              <a:defRPr sz="1500"/>
            </a:lvl6pPr>
            <a:lvl7pPr marL="3200400" lvl="6" indent="-323850" algn="l">
              <a:lnSpc>
                <a:spcPct val="100000"/>
              </a:lnSpc>
              <a:spcBef>
                <a:spcPts val="300"/>
              </a:spcBef>
              <a:spcAft>
                <a:spcPts val="0"/>
              </a:spcAft>
              <a:buClr>
                <a:schemeClr val="dk1"/>
              </a:buClr>
              <a:buSzPts val="1500"/>
              <a:buFont typeface="Arial"/>
              <a:buChar char="»"/>
              <a:defRPr sz="1500"/>
            </a:lvl7pPr>
            <a:lvl8pPr marL="3657600" lvl="7" indent="-323850" algn="l">
              <a:lnSpc>
                <a:spcPct val="100000"/>
              </a:lnSpc>
              <a:spcBef>
                <a:spcPts val="300"/>
              </a:spcBef>
              <a:spcAft>
                <a:spcPts val="0"/>
              </a:spcAft>
              <a:buClr>
                <a:schemeClr val="dk1"/>
              </a:buClr>
              <a:buSzPts val="1500"/>
              <a:buFont typeface="Arial"/>
              <a:buChar char="»"/>
              <a:defRPr sz="1500"/>
            </a:lvl8pPr>
            <a:lvl9pPr marL="4114800" lvl="8" indent="-323850" algn="l">
              <a:lnSpc>
                <a:spcPct val="100000"/>
              </a:lnSpc>
              <a:spcBef>
                <a:spcPts val="300"/>
              </a:spcBef>
              <a:spcAft>
                <a:spcPts val="0"/>
              </a:spcAft>
              <a:buClr>
                <a:schemeClr val="dk1"/>
              </a:buClr>
              <a:buSzPts val="1500"/>
              <a:buFont typeface="Arial"/>
              <a:buChar char="»"/>
              <a:defRPr sz="1500"/>
            </a:lvl9pPr>
          </a:lstStyle>
          <a:p>
            <a:endParaRPr/>
          </a:p>
        </p:txBody>
      </p:sp>
      <p:sp>
        <p:nvSpPr>
          <p:cNvPr id="61" name="Google Shape;61;p4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a:buNone/>
              <a:defRPr sz="1200"/>
            </a:lvl1pPr>
            <a:lvl2pPr marL="914400" lvl="1" indent="-228600" algn="l">
              <a:lnSpc>
                <a:spcPct val="100000"/>
              </a:lnSpc>
              <a:spcBef>
                <a:spcPts val="210"/>
              </a:spcBef>
              <a:spcAft>
                <a:spcPts val="0"/>
              </a:spcAft>
              <a:buClr>
                <a:schemeClr val="dk1"/>
              </a:buClr>
              <a:buSzPts val="1050"/>
              <a:buFont typeface="Arial"/>
              <a:buNone/>
              <a:defRPr sz="1050"/>
            </a:lvl2pPr>
            <a:lvl3pPr marL="1371600" lvl="2" indent="-228600" algn="l">
              <a:lnSpc>
                <a:spcPct val="100000"/>
              </a:lnSpc>
              <a:spcBef>
                <a:spcPts val="180"/>
              </a:spcBef>
              <a:spcAft>
                <a:spcPts val="0"/>
              </a:spcAft>
              <a:buClr>
                <a:schemeClr val="dk1"/>
              </a:buClr>
              <a:buSzPts val="900"/>
              <a:buFont typeface="Arial"/>
              <a:buNone/>
              <a:defRPr sz="900"/>
            </a:lvl3pPr>
            <a:lvl4pPr marL="1828800" lvl="3" indent="-228600" algn="l">
              <a:lnSpc>
                <a:spcPct val="100000"/>
              </a:lnSpc>
              <a:spcBef>
                <a:spcPts val="150"/>
              </a:spcBef>
              <a:spcAft>
                <a:spcPts val="0"/>
              </a:spcAft>
              <a:buClr>
                <a:schemeClr val="dk1"/>
              </a:buClr>
              <a:buSzPts val="750"/>
              <a:buFont typeface="Arial"/>
              <a:buNone/>
              <a:defRPr sz="750"/>
            </a:lvl4pPr>
            <a:lvl5pPr marL="2286000" lvl="4" indent="-228600" algn="l">
              <a:lnSpc>
                <a:spcPct val="100000"/>
              </a:lnSpc>
              <a:spcBef>
                <a:spcPts val="150"/>
              </a:spcBef>
              <a:spcAft>
                <a:spcPts val="0"/>
              </a:spcAft>
              <a:buClr>
                <a:schemeClr val="dk1"/>
              </a:buClr>
              <a:buSzPts val="750"/>
              <a:buFont typeface="Arial"/>
              <a:buNone/>
              <a:defRPr sz="750"/>
            </a:lvl5pPr>
            <a:lvl6pPr marL="2743200" lvl="5" indent="-228600" algn="l">
              <a:lnSpc>
                <a:spcPct val="100000"/>
              </a:lnSpc>
              <a:spcBef>
                <a:spcPts val="150"/>
              </a:spcBef>
              <a:spcAft>
                <a:spcPts val="0"/>
              </a:spcAft>
              <a:buClr>
                <a:schemeClr val="dk1"/>
              </a:buClr>
              <a:buSzPts val="750"/>
              <a:buFont typeface="Arial"/>
              <a:buNone/>
              <a:defRPr sz="750"/>
            </a:lvl6pPr>
            <a:lvl7pPr marL="3200400" lvl="6" indent="-228600" algn="l">
              <a:lnSpc>
                <a:spcPct val="100000"/>
              </a:lnSpc>
              <a:spcBef>
                <a:spcPts val="150"/>
              </a:spcBef>
              <a:spcAft>
                <a:spcPts val="0"/>
              </a:spcAft>
              <a:buClr>
                <a:schemeClr val="dk1"/>
              </a:buClr>
              <a:buSzPts val="750"/>
              <a:buFont typeface="Arial"/>
              <a:buNone/>
              <a:defRPr sz="750"/>
            </a:lvl7pPr>
            <a:lvl8pPr marL="3657600" lvl="7" indent="-228600" algn="l">
              <a:lnSpc>
                <a:spcPct val="100000"/>
              </a:lnSpc>
              <a:spcBef>
                <a:spcPts val="150"/>
              </a:spcBef>
              <a:spcAft>
                <a:spcPts val="0"/>
              </a:spcAft>
              <a:buClr>
                <a:schemeClr val="dk1"/>
              </a:buClr>
              <a:buSzPts val="750"/>
              <a:buFont typeface="Arial"/>
              <a:buNone/>
              <a:defRPr sz="750"/>
            </a:lvl8pPr>
            <a:lvl9pPr marL="4114800" lvl="8" indent="-228600" algn="l">
              <a:lnSpc>
                <a:spcPct val="100000"/>
              </a:lnSpc>
              <a:spcBef>
                <a:spcPts val="150"/>
              </a:spcBef>
              <a:spcAft>
                <a:spcPts val="0"/>
              </a:spcAft>
              <a:buClr>
                <a:schemeClr val="dk1"/>
              </a:buClr>
              <a:buSzPts val="750"/>
              <a:buFont typeface="Arial"/>
              <a:buNone/>
              <a:defRPr sz="750"/>
            </a:lvl9pPr>
          </a:lstStyle>
          <a:p>
            <a:endParaRPr/>
          </a:p>
        </p:txBody>
      </p:sp>
      <p:sp>
        <p:nvSpPr>
          <p:cNvPr id="62" name="Google Shape;62;p43"/>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3"/>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4"/>
          <p:cNvSpPr>
            <a:spLocks noGrp="1"/>
          </p:cNvSpPr>
          <p:nvPr>
            <p:ph type="pic" idx="2"/>
          </p:nvPr>
        </p:nvSpPr>
        <p:spPr>
          <a:xfrm>
            <a:off x="5183188" y="987425"/>
            <a:ext cx="6172200" cy="4873625"/>
          </a:xfrm>
          <a:prstGeom prst="rect">
            <a:avLst/>
          </a:prstGeom>
          <a:noFill/>
          <a:ln>
            <a:noFill/>
          </a:ln>
        </p:spPr>
      </p:sp>
      <p:sp>
        <p:nvSpPr>
          <p:cNvPr id="68" name="Google Shape;68;p4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a:buNone/>
              <a:defRPr sz="1200"/>
            </a:lvl1pPr>
            <a:lvl2pPr marL="914400" lvl="1" indent="-228600" algn="l">
              <a:lnSpc>
                <a:spcPct val="100000"/>
              </a:lnSpc>
              <a:spcBef>
                <a:spcPts val="210"/>
              </a:spcBef>
              <a:spcAft>
                <a:spcPts val="0"/>
              </a:spcAft>
              <a:buClr>
                <a:schemeClr val="dk1"/>
              </a:buClr>
              <a:buSzPts val="1050"/>
              <a:buFont typeface="Arial"/>
              <a:buNone/>
              <a:defRPr sz="1050"/>
            </a:lvl2pPr>
            <a:lvl3pPr marL="1371600" lvl="2" indent="-228600" algn="l">
              <a:lnSpc>
                <a:spcPct val="100000"/>
              </a:lnSpc>
              <a:spcBef>
                <a:spcPts val="180"/>
              </a:spcBef>
              <a:spcAft>
                <a:spcPts val="0"/>
              </a:spcAft>
              <a:buClr>
                <a:schemeClr val="dk1"/>
              </a:buClr>
              <a:buSzPts val="900"/>
              <a:buFont typeface="Arial"/>
              <a:buNone/>
              <a:defRPr sz="900"/>
            </a:lvl3pPr>
            <a:lvl4pPr marL="1828800" lvl="3" indent="-228600" algn="l">
              <a:lnSpc>
                <a:spcPct val="100000"/>
              </a:lnSpc>
              <a:spcBef>
                <a:spcPts val="150"/>
              </a:spcBef>
              <a:spcAft>
                <a:spcPts val="0"/>
              </a:spcAft>
              <a:buClr>
                <a:schemeClr val="dk1"/>
              </a:buClr>
              <a:buSzPts val="750"/>
              <a:buFont typeface="Arial"/>
              <a:buNone/>
              <a:defRPr sz="750"/>
            </a:lvl4pPr>
            <a:lvl5pPr marL="2286000" lvl="4" indent="-228600" algn="l">
              <a:lnSpc>
                <a:spcPct val="100000"/>
              </a:lnSpc>
              <a:spcBef>
                <a:spcPts val="150"/>
              </a:spcBef>
              <a:spcAft>
                <a:spcPts val="0"/>
              </a:spcAft>
              <a:buClr>
                <a:schemeClr val="dk1"/>
              </a:buClr>
              <a:buSzPts val="750"/>
              <a:buFont typeface="Arial"/>
              <a:buNone/>
              <a:defRPr sz="750"/>
            </a:lvl5pPr>
            <a:lvl6pPr marL="2743200" lvl="5" indent="-228600" algn="l">
              <a:lnSpc>
                <a:spcPct val="100000"/>
              </a:lnSpc>
              <a:spcBef>
                <a:spcPts val="150"/>
              </a:spcBef>
              <a:spcAft>
                <a:spcPts val="0"/>
              </a:spcAft>
              <a:buClr>
                <a:schemeClr val="dk1"/>
              </a:buClr>
              <a:buSzPts val="750"/>
              <a:buFont typeface="Arial"/>
              <a:buNone/>
              <a:defRPr sz="750"/>
            </a:lvl6pPr>
            <a:lvl7pPr marL="3200400" lvl="6" indent="-228600" algn="l">
              <a:lnSpc>
                <a:spcPct val="100000"/>
              </a:lnSpc>
              <a:spcBef>
                <a:spcPts val="150"/>
              </a:spcBef>
              <a:spcAft>
                <a:spcPts val="0"/>
              </a:spcAft>
              <a:buClr>
                <a:schemeClr val="dk1"/>
              </a:buClr>
              <a:buSzPts val="750"/>
              <a:buFont typeface="Arial"/>
              <a:buNone/>
              <a:defRPr sz="750"/>
            </a:lvl7pPr>
            <a:lvl8pPr marL="3657600" lvl="7" indent="-228600" algn="l">
              <a:lnSpc>
                <a:spcPct val="100000"/>
              </a:lnSpc>
              <a:spcBef>
                <a:spcPts val="150"/>
              </a:spcBef>
              <a:spcAft>
                <a:spcPts val="0"/>
              </a:spcAft>
              <a:buClr>
                <a:schemeClr val="dk1"/>
              </a:buClr>
              <a:buSzPts val="750"/>
              <a:buFont typeface="Arial"/>
              <a:buNone/>
              <a:defRPr sz="750"/>
            </a:lvl8pPr>
            <a:lvl9pPr marL="4114800" lvl="8" indent="-228600" algn="l">
              <a:lnSpc>
                <a:spcPct val="100000"/>
              </a:lnSpc>
              <a:spcBef>
                <a:spcPts val="150"/>
              </a:spcBef>
              <a:spcAft>
                <a:spcPts val="0"/>
              </a:spcAft>
              <a:buClr>
                <a:schemeClr val="dk1"/>
              </a:buClr>
              <a:buSzPts val="750"/>
              <a:buFont typeface="Arial"/>
              <a:buNone/>
              <a:defRPr sz="750"/>
            </a:lvl9pPr>
          </a:lstStyle>
          <a:p>
            <a:endParaRPr/>
          </a:p>
        </p:txBody>
      </p:sp>
      <p:sp>
        <p:nvSpPr>
          <p:cNvPr id="69" name="Google Shape;69;p44"/>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4"/>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6"/>
          <p:cNvSpPr txBox="1">
            <a:spLocks noGrp="1"/>
          </p:cNvSpPr>
          <p:nvPr>
            <p:ph type="title"/>
          </p:nvPr>
        </p:nvSpPr>
        <p:spPr>
          <a:xfrm rot="5400000">
            <a:off x="7285038" y="1828801"/>
            <a:ext cx="5851525"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6"/>
          <p:cNvSpPr txBox="1">
            <a:spLocks noGrp="1"/>
          </p:cNvSpPr>
          <p:nvPr>
            <p:ph type="body" idx="1"/>
          </p:nvPr>
        </p:nvSpPr>
        <p:spPr>
          <a:xfrm rot="5400000">
            <a:off x="1719124" y="-834886"/>
            <a:ext cx="5851525" cy="807057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46"/>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6"/>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5"/>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3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400" b="0" i="0" u="none" strike="noStrike" cap="none">
                <a:solidFill>
                  <a:schemeClr val="dk1"/>
                </a:solidFill>
                <a:latin typeface="Arial"/>
                <a:ea typeface="Arial"/>
                <a:cs typeface="Arial"/>
                <a:sym typeface="Arial"/>
              </a:defRPr>
            </a:lvl1pPr>
            <a:lvl2pPr marL="0" marR="0" lvl="1" indent="0" algn="r" rtl="0">
              <a:spcBef>
                <a:spcPts val="0"/>
              </a:spcBef>
              <a:buNone/>
              <a:defRPr sz="1400" b="0" i="0" u="none" strike="noStrike" cap="none">
                <a:solidFill>
                  <a:schemeClr val="dk1"/>
                </a:solidFill>
                <a:latin typeface="Arial"/>
                <a:ea typeface="Arial"/>
                <a:cs typeface="Arial"/>
                <a:sym typeface="Arial"/>
              </a:defRPr>
            </a:lvl2pPr>
            <a:lvl3pPr marL="0" marR="0" lvl="2" indent="0" algn="r" rtl="0">
              <a:spcBef>
                <a:spcPts val="0"/>
              </a:spcBef>
              <a:buNone/>
              <a:defRPr sz="1400" b="0" i="0" u="none" strike="noStrike" cap="none">
                <a:solidFill>
                  <a:schemeClr val="dk1"/>
                </a:solidFill>
                <a:latin typeface="Arial"/>
                <a:ea typeface="Arial"/>
                <a:cs typeface="Arial"/>
                <a:sym typeface="Arial"/>
              </a:defRPr>
            </a:lvl3pPr>
            <a:lvl4pPr marL="0" marR="0" lvl="3" indent="0" algn="r" rtl="0">
              <a:spcBef>
                <a:spcPts val="0"/>
              </a:spcBef>
              <a:buNone/>
              <a:defRPr sz="1400" b="0" i="0" u="none" strike="noStrike" cap="none">
                <a:solidFill>
                  <a:schemeClr val="dk1"/>
                </a:solidFill>
                <a:latin typeface="Arial"/>
                <a:ea typeface="Arial"/>
                <a:cs typeface="Arial"/>
                <a:sym typeface="Arial"/>
              </a:defRPr>
            </a:lvl4pPr>
            <a:lvl5pPr marL="0" marR="0" lvl="4" indent="0" algn="r" rtl="0">
              <a:spcBef>
                <a:spcPts val="0"/>
              </a:spcBef>
              <a:buNone/>
              <a:defRPr sz="1400" b="0" i="0" u="none" strike="noStrike" cap="none">
                <a:solidFill>
                  <a:schemeClr val="dk1"/>
                </a:solidFill>
                <a:latin typeface="Arial"/>
                <a:ea typeface="Arial"/>
                <a:cs typeface="Arial"/>
                <a:sym typeface="Arial"/>
              </a:defRPr>
            </a:lvl5pPr>
            <a:lvl6pPr marL="0" marR="0" lvl="5" indent="0" algn="r" rtl="0">
              <a:spcBef>
                <a:spcPts val="0"/>
              </a:spcBef>
              <a:buNone/>
              <a:defRPr sz="1400" b="0" i="0" u="none" strike="noStrike" cap="none">
                <a:solidFill>
                  <a:schemeClr val="dk1"/>
                </a:solidFill>
                <a:latin typeface="Arial"/>
                <a:ea typeface="Arial"/>
                <a:cs typeface="Arial"/>
                <a:sym typeface="Arial"/>
              </a:defRPr>
            </a:lvl6pPr>
            <a:lvl7pPr marL="0" marR="0" lvl="6" indent="0" algn="r" rtl="0">
              <a:spcBef>
                <a:spcPts val="0"/>
              </a:spcBef>
              <a:buNone/>
              <a:defRPr sz="1400" b="0" i="0" u="none" strike="noStrike" cap="none">
                <a:solidFill>
                  <a:schemeClr val="dk1"/>
                </a:solidFill>
                <a:latin typeface="Arial"/>
                <a:ea typeface="Arial"/>
                <a:cs typeface="Arial"/>
                <a:sym typeface="Arial"/>
              </a:defRPr>
            </a:lvl7pPr>
            <a:lvl8pPr marL="0" marR="0" lvl="7" indent="0" algn="r" rtl="0">
              <a:spcBef>
                <a:spcPts val="0"/>
              </a:spcBef>
              <a:buNone/>
              <a:defRPr sz="1400" b="0" i="0" u="none" strike="noStrike" cap="none">
                <a:solidFill>
                  <a:schemeClr val="dk1"/>
                </a:solidFill>
                <a:latin typeface="Arial"/>
                <a:ea typeface="Arial"/>
                <a:cs typeface="Arial"/>
                <a:sym typeface="Arial"/>
              </a:defRPr>
            </a:lvl8pPr>
            <a:lvl9pPr marL="0" marR="0" lvl="8" indent="0" algn="r" rtl="0">
              <a:spcBef>
                <a:spcPts val="0"/>
              </a:spcBef>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pic>
        <p:nvPicPr>
          <p:cNvPr id="92" name="Google Shape;92;p1" descr="Icon&#10;&#10;Description automatically generated"/>
          <p:cNvPicPr preferRelativeResize="0"/>
          <p:nvPr/>
        </p:nvPicPr>
        <p:blipFill rotWithShape="1">
          <a:blip r:embed="rId3">
            <a:alphaModFix/>
          </a:blip>
          <a:srcRect l="504" r="-3" b="-3"/>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5" name="Google Shape;95;p1"/>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6" name="Google Shape;96;p1"/>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7" name="Google Shape;97;p1"/>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8" name="Google Shape;98;p1"/>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9" name="Google Shape;99;p1"/>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01" name="Google Shape;101;p1"/>
          <p:cNvSpPr txBox="1">
            <a:spLocks noGrp="1"/>
          </p:cNvSpPr>
          <p:nvPr>
            <p:ph type="ctrTitle"/>
          </p:nvPr>
        </p:nvSpPr>
        <p:spPr>
          <a:xfrm>
            <a:off x="464185" y="405130"/>
            <a:ext cx="7764780" cy="153479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012D86"/>
              </a:buClr>
              <a:buSzPts val="4800"/>
              <a:buFont typeface="Bell MT"/>
              <a:buNone/>
            </a:pPr>
            <a:r>
              <a:rPr lang="en-US" sz="4800" b="1">
                <a:solidFill>
                  <a:srgbClr val="012D86"/>
                </a:solidFill>
                <a:latin typeface="Bell MT"/>
                <a:ea typeface="Bell MT"/>
                <a:cs typeface="Bell MT"/>
                <a:sym typeface="Bell MT"/>
              </a:rPr>
              <a:t>Asp.Net Core – Razor Pages</a:t>
            </a:r>
            <a:endParaRPr sz="4800" b="1">
              <a:solidFill>
                <a:srgbClr val="012D86"/>
              </a:solidFill>
              <a:latin typeface="Bell MT"/>
              <a:ea typeface="Bell MT"/>
              <a:cs typeface="Bell MT"/>
              <a:sym typeface="Bell MT"/>
            </a:endParaRPr>
          </a:p>
        </p:txBody>
      </p:sp>
      <p:sp>
        <p:nvSpPr>
          <p:cNvPr id="102" name="Google Shape;102;p1"/>
          <p:cNvSpPr txBox="1">
            <a:spLocks noGrp="1"/>
          </p:cNvSpPr>
          <p:nvPr>
            <p:ph type="subTitle" idx="1"/>
          </p:nvPr>
        </p:nvSpPr>
        <p:spPr>
          <a:xfrm>
            <a:off x="810079" y="1939665"/>
            <a:ext cx="8701694" cy="237407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12D86"/>
              </a:buClr>
              <a:buSzPts val="1800"/>
              <a:buFont typeface="Arial"/>
              <a:buNone/>
            </a:pPr>
            <a:r>
              <a:rPr lang="en-US" cap="small">
                <a:solidFill>
                  <a:srgbClr val="012D86"/>
                </a:solidFill>
              </a:rPr>
              <a:t>ASP.Net Core Web Developer Program @ Aitrich Academy</a:t>
            </a:r>
            <a:endParaRPr cap="small">
              <a:solidFill>
                <a:srgbClr val="012D86"/>
              </a:solidFill>
            </a:endParaRPr>
          </a:p>
        </p:txBody>
      </p:sp>
      <p:pic>
        <p:nvPicPr>
          <p:cNvPr id="103" name="Google Shape;103;p1"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fade">
                                      <p:cBhvr>
                                        <p:cTn id="13" dur="500"/>
                                        <p:tgtEl>
                                          <p:spTgt spid="92"/>
                                        </p:tgtEl>
                                      </p:cBhvr>
                                    </p:animEffect>
                                  </p:childTnLst>
                                </p:cTn>
                              </p:par>
                              <p:par>
                                <p:cTn id="14" presetID="10" presetClass="entr" presetSubtype="0"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fade">
                                      <p:cBhvr>
                                        <p:cTn id="16" dur="500"/>
                                        <p:tgtEl>
                                          <p:spTgt spid="93"/>
                                        </p:tgtEl>
                                      </p:cBhvr>
                                    </p:animEffect>
                                  </p:childTnLst>
                                </p:cTn>
                              </p:par>
                              <p:par>
                                <p:cTn id="17" presetID="10"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10" presetClass="entr" presetSubtype="0" fill="hold" nodeType="withEffect">
                                  <p:stCondLst>
                                    <p:cond delay="0"/>
                                  </p:stCondLst>
                                  <p:childTnLst>
                                    <p:set>
                                      <p:cBhvr>
                                        <p:cTn id="21" dur="1" fill="hold">
                                          <p:stCondLst>
                                            <p:cond delay="0"/>
                                          </p:stCondLst>
                                        </p:cTn>
                                        <p:tgtEl>
                                          <p:spTgt spid="102">
                                            <p:txEl>
                                              <p:pRg st="0" end="0"/>
                                            </p:txEl>
                                          </p:spTgt>
                                        </p:tgtEl>
                                        <p:attrNameLst>
                                          <p:attrName>style.visibility</p:attrName>
                                        </p:attrNameLst>
                                      </p:cBhvr>
                                      <p:to>
                                        <p:strVal val="visible"/>
                                      </p:to>
                                    </p:set>
                                    <p:animEffect transition="in" filter="fade">
                                      <p:cBhvr>
                                        <p:cTn id="22" dur="500"/>
                                        <p:tgtEl>
                                          <p:spTgt spid="1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dirty="0">
                <a:solidFill>
                  <a:srgbClr val="012D86"/>
                </a:solidFill>
                <a:latin typeface="Bell MT"/>
                <a:ea typeface="Bell MT"/>
                <a:cs typeface="Bell MT"/>
                <a:sym typeface="Bell MT"/>
              </a:rPr>
              <a:t>HTML Helpers</a:t>
            </a:r>
            <a:r>
              <a:rPr lang="en-US" dirty="0">
                <a:solidFill>
                  <a:srgbClr val="012D86"/>
                </a:solidFill>
                <a:latin typeface="Bell MT"/>
                <a:ea typeface="Bell MT"/>
                <a:cs typeface="Bell MT"/>
                <a:sym typeface="Bell MT"/>
              </a:rPr>
              <a:t/>
            </a:r>
            <a:br>
              <a:rPr lang="en-US" dirty="0">
                <a:solidFill>
                  <a:srgbClr val="012D86"/>
                </a:solidFill>
                <a:latin typeface="Bell MT"/>
                <a:ea typeface="Bell MT"/>
                <a:cs typeface="Bell MT"/>
                <a:sym typeface="Bell MT"/>
              </a:rPr>
            </a:br>
            <a:endParaRPr dirty="0">
              <a:solidFill>
                <a:srgbClr val="012D86"/>
              </a:solidFill>
              <a:latin typeface="Bell MT"/>
              <a:ea typeface="Bell MT"/>
              <a:cs typeface="Bell MT"/>
              <a:sym typeface="Bell MT"/>
            </a:endParaRPr>
          </a:p>
        </p:txBody>
      </p:sp>
      <p:sp>
        <p:nvSpPr>
          <p:cNvPr id="297" name="Google Shape;297;p16"/>
          <p:cNvSpPr/>
          <p:nvPr/>
        </p:nvSpPr>
        <p:spPr>
          <a:xfrm>
            <a:off x="780415" y="1724660"/>
            <a:ext cx="5481320" cy="315468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3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In Razor Pages, HTML Helpers are a set of utility methods that simplify the process of generating HTML markup. They provide a convenient and strongly-typed way to generate HTML elements, form controls, links, and more. HTML Helpers help improve code readability, maintainability, and reduce the likelihood of errors.</a:t>
            </a:r>
            <a:endParaRPr sz="1600" dirty="0">
              <a:solidFill>
                <a:schemeClr val="lt1"/>
              </a:solidFill>
              <a:latin typeface="Comic Sans MS"/>
              <a:ea typeface="Comic Sans MS"/>
              <a:cs typeface="Comic Sans MS"/>
              <a:sym typeface="Comic Sans MS"/>
            </a:endParaRPr>
          </a:p>
        </p:txBody>
      </p:sp>
      <p:grpSp>
        <p:nvGrpSpPr>
          <p:cNvPr id="298" name="Google Shape;298;p16"/>
          <p:cNvGrpSpPr/>
          <p:nvPr/>
        </p:nvGrpSpPr>
        <p:grpSpPr>
          <a:xfrm rot="10800000" flipH="1">
            <a:off x="6572250" y="0"/>
            <a:ext cx="5928360" cy="6634480"/>
            <a:chOff x="6095999" y="52996"/>
            <a:chExt cx="6093363" cy="6805005"/>
          </a:xfrm>
        </p:grpSpPr>
        <p:sp>
          <p:nvSpPr>
            <p:cNvPr id="299" name="Google Shape;299;p16"/>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16"/>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16"/>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2" name="Google Shape;302;p16"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03" name="Google Shape;303;p16"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fade">
                                      <p:cBhvr>
                                        <p:cTn id="7" dur="500"/>
                                        <p:tgtEl>
                                          <p:spTgt spid="2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7"/>
                                        </p:tgtEl>
                                        <p:attrNameLst>
                                          <p:attrName>style.visibility</p:attrName>
                                        </p:attrNameLst>
                                      </p:cBhvr>
                                      <p:to>
                                        <p:strVal val="visible"/>
                                      </p:to>
                                    </p:set>
                                    <p:animEffect transition="in" filter="fade">
                                      <p:cBhvr>
                                        <p:cTn id="12" dur="1000"/>
                                        <p:tgtEl>
                                          <p:spTgt spid="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p17"/>
          <p:cNvSpPr/>
          <p:nvPr/>
        </p:nvSpPr>
        <p:spPr>
          <a:xfrm>
            <a:off x="1621155" y="4324985"/>
            <a:ext cx="6373495" cy="112776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Html.TextBoxFor</a:t>
            </a:r>
            <a:r>
              <a:rPr lang="en-US" sz="1200" dirty="0">
                <a:solidFill>
                  <a:srgbClr val="002060"/>
                </a:solidFill>
                <a:latin typeface="Arial"/>
                <a:ea typeface="Arial"/>
                <a:cs typeface="Arial"/>
                <a:sym typeface="Arial"/>
              </a:rPr>
              <a:t>(m =&gt; </a:t>
            </a:r>
            <a:r>
              <a:rPr lang="en-US" sz="1200" dirty="0" err="1">
                <a:solidFill>
                  <a:srgbClr val="002060"/>
                </a:solidFill>
                <a:latin typeface="Arial"/>
                <a:ea typeface="Arial"/>
                <a:cs typeface="Arial"/>
                <a:sym typeface="Arial"/>
              </a:rPr>
              <a:t>m.Name</a:t>
            </a:r>
            <a:r>
              <a:rPr lang="en-US" sz="1200" dirty="0">
                <a:solidFill>
                  <a:srgbClr val="002060"/>
                </a:solidFill>
                <a:latin typeface="Arial"/>
                <a:ea typeface="Arial"/>
                <a:cs typeface="Arial"/>
                <a:sym typeface="Arial"/>
              </a:rPr>
              <a:t>)</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Html.PasswordFor</a:t>
            </a:r>
            <a:r>
              <a:rPr lang="en-US" sz="1200" dirty="0">
                <a:solidFill>
                  <a:srgbClr val="002060"/>
                </a:solidFill>
                <a:latin typeface="Arial"/>
                <a:ea typeface="Arial"/>
                <a:cs typeface="Arial"/>
                <a:sym typeface="Arial"/>
              </a:rPr>
              <a:t>(m =&gt; </a:t>
            </a:r>
            <a:r>
              <a:rPr lang="en-US" sz="1200" dirty="0" err="1">
                <a:solidFill>
                  <a:srgbClr val="002060"/>
                </a:solidFill>
                <a:latin typeface="Arial"/>
                <a:ea typeface="Arial"/>
                <a:cs typeface="Arial"/>
                <a:sym typeface="Arial"/>
              </a:rPr>
              <a:t>m.Password</a:t>
            </a:r>
            <a:r>
              <a:rPr lang="en-US" sz="1200" dirty="0">
                <a:solidFill>
                  <a:srgbClr val="002060"/>
                </a:solidFill>
                <a:latin typeface="Arial"/>
                <a:ea typeface="Arial"/>
                <a:cs typeface="Arial"/>
                <a:sym typeface="Arial"/>
              </a:rPr>
              <a:t>)</a:t>
            </a:r>
            <a:endParaRPr sz="1200" dirty="0">
              <a:solidFill>
                <a:srgbClr val="002060"/>
              </a:solidFill>
              <a:latin typeface="Arial"/>
              <a:ea typeface="Arial"/>
              <a:cs typeface="Arial"/>
              <a:sym typeface="Arial"/>
            </a:endParaRPr>
          </a:p>
        </p:txBody>
      </p:sp>
      <p:sp>
        <p:nvSpPr>
          <p:cNvPr id="309" name="Google Shape;309;p17"/>
          <p:cNvSpPr txBox="1">
            <a:spLocks noGrp="1"/>
          </p:cNvSpPr>
          <p:nvPr>
            <p:ph type="title"/>
          </p:nvPr>
        </p:nvSpPr>
        <p:spPr>
          <a:xfrm>
            <a:off x="609600" y="274955"/>
            <a:ext cx="10972800" cy="98869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3000"/>
              <a:buFont typeface="Bell MT"/>
              <a:buNone/>
            </a:pPr>
            <a:r>
              <a:rPr lang="en-US" sz="3000" b="1" dirty="0">
                <a:solidFill>
                  <a:srgbClr val="012D86"/>
                </a:solidFill>
                <a:latin typeface="Bell MT"/>
                <a:ea typeface="Bell MT"/>
                <a:cs typeface="Bell MT"/>
                <a:sym typeface="Bell MT"/>
              </a:rPr>
              <a:t>Here are some commonly used HTML Helpers in Razor Pages:</a:t>
            </a:r>
            <a:endParaRPr sz="3000" b="1" dirty="0">
              <a:solidFill>
                <a:srgbClr val="012D86"/>
              </a:solidFill>
              <a:latin typeface="Bell MT"/>
              <a:ea typeface="Bell MT"/>
              <a:cs typeface="Bell MT"/>
              <a:sym typeface="Bell MT"/>
            </a:endParaRPr>
          </a:p>
        </p:txBody>
      </p:sp>
      <p:sp>
        <p:nvSpPr>
          <p:cNvPr id="310" name="Google Shape;310;p17"/>
          <p:cNvSpPr/>
          <p:nvPr/>
        </p:nvSpPr>
        <p:spPr>
          <a:xfrm>
            <a:off x="609600" y="2168525"/>
            <a:ext cx="6373495" cy="19050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Html.TextBoxFor</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Html.PasswordFor</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These helpers generate &lt;input&gt; elements for text input and password input, respectively. They automatically bind to the model property specified</a:t>
            </a:r>
            <a:endParaRPr sz="1600" dirty="0">
              <a:solidFill>
                <a:schemeClr val="lt1"/>
              </a:solidFill>
              <a:latin typeface="Comic Sans MS"/>
              <a:ea typeface="Comic Sans MS"/>
              <a:cs typeface="Comic Sans MS"/>
              <a:sym typeface="Comic Sans MS"/>
            </a:endParaRPr>
          </a:p>
        </p:txBody>
      </p:sp>
      <p:grpSp>
        <p:nvGrpSpPr>
          <p:cNvPr id="311" name="Google Shape;311;p17"/>
          <p:cNvGrpSpPr/>
          <p:nvPr/>
        </p:nvGrpSpPr>
        <p:grpSpPr>
          <a:xfrm rot="10800000" flipH="1">
            <a:off x="6593205" y="0"/>
            <a:ext cx="5928360" cy="6634480"/>
            <a:chOff x="6095999" y="52996"/>
            <a:chExt cx="6093363" cy="6805005"/>
          </a:xfrm>
        </p:grpSpPr>
        <p:sp>
          <p:nvSpPr>
            <p:cNvPr id="312" name="Google Shape;312;p17"/>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17"/>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17"/>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15" name="Google Shape;315;p17"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16" name="Google Shape;316;p17"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17" name="Google Shape;317;p17"/>
          <p:cNvSpPr/>
          <p:nvPr/>
        </p:nvSpPr>
        <p:spPr>
          <a:xfrm>
            <a:off x="609600" y="1062990"/>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a:buNone/>
            </a:pPr>
            <a:r>
              <a:rPr lang="en-US" sz="2800" b="1" i="0" u="none" dirty="0">
                <a:solidFill>
                  <a:srgbClr val="012D86"/>
                </a:solidFill>
                <a:latin typeface="Bell MT"/>
                <a:ea typeface="Bell MT"/>
                <a:cs typeface="Bell MT"/>
                <a:sym typeface="Bell MT"/>
              </a:rPr>
              <a:t>1 . Form Controls</a:t>
            </a:r>
            <a:endParaRPr sz="2800" b="1" i="0" u="none" dirty="0">
              <a:solidFill>
                <a:srgbClr val="012D86"/>
              </a:solidFill>
              <a:latin typeface="Bell MT"/>
              <a:ea typeface="Bell MT"/>
              <a:cs typeface="Bell MT"/>
              <a:sym typeface="Bell MT"/>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500"/>
                                        <p:tgtEl>
                                          <p:spTgt spid="3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7"/>
                                        </p:tgtEl>
                                        <p:attrNameLst>
                                          <p:attrName>style.visibility</p:attrName>
                                        </p:attrNameLst>
                                      </p:cBhvr>
                                      <p:to>
                                        <p:strVal val="visible"/>
                                      </p:to>
                                    </p:set>
                                    <p:animEffect transition="in" filter="fade">
                                      <p:cBhvr>
                                        <p:cTn id="12" dur="1000"/>
                                        <p:tgtEl>
                                          <p:spTgt spid="3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0"/>
                                        </p:tgtEl>
                                        <p:attrNameLst>
                                          <p:attrName>style.visibility</p:attrName>
                                        </p:attrNameLst>
                                      </p:cBhvr>
                                      <p:to>
                                        <p:strVal val="visible"/>
                                      </p:to>
                                    </p:set>
                                    <p:animEffect transition="in" filter="fade">
                                      <p:cBhvr>
                                        <p:cTn id="17" dur="500"/>
                                        <p:tgtEl>
                                          <p:spTgt spid="3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8"/>
                                        </p:tgtEl>
                                        <p:attrNameLst>
                                          <p:attrName>style.visibility</p:attrName>
                                        </p:attrNameLst>
                                      </p:cBhvr>
                                      <p:to>
                                        <p:strVal val="visible"/>
                                      </p:to>
                                    </p:set>
                                    <p:animEffect transition="in" filter="fade">
                                      <p:cBhvr>
                                        <p:cTn id="22" dur="5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1"/>
        <p:cNvGrpSpPr/>
        <p:nvPr/>
      </p:nvGrpSpPr>
      <p:grpSpPr>
        <a:xfrm>
          <a:off x="0" y="0"/>
          <a:ext cx="0" cy="0"/>
          <a:chOff x="0" y="0"/>
          <a:chExt cx="0" cy="0"/>
        </a:xfrm>
      </p:grpSpPr>
      <p:sp>
        <p:nvSpPr>
          <p:cNvPr id="322" name="Google Shape;322;p18"/>
          <p:cNvSpPr/>
          <p:nvPr/>
        </p:nvSpPr>
        <p:spPr>
          <a:xfrm>
            <a:off x="3275330" y="5698490"/>
            <a:ext cx="6456680" cy="75692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a:solidFill>
                  <a:srgbClr val="002060"/>
                </a:solidFill>
                <a:latin typeface="Arial"/>
                <a:ea typeface="Arial"/>
                <a:cs typeface="Arial"/>
                <a:sym typeface="Arial"/>
              </a:rPr>
              <a:t>@Html.DropDownListFor(m =&gt; m.CategoryId, Model.Categories, "Select a category")</a:t>
            </a:r>
            <a:endParaRPr sz="1200">
              <a:solidFill>
                <a:srgbClr val="002060"/>
              </a:solidFill>
              <a:latin typeface="Arial"/>
              <a:ea typeface="Arial"/>
              <a:cs typeface="Arial"/>
              <a:sym typeface="Arial"/>
            </a:endParaRPr>
          </a:p>
        </p:txBody>
      </p:sp>
      <p:sp>
        <p:nvSpPr>
          <p:cNvPr id="323" name="Google Shape;323;p18"/>
          <p:cNvSpPr/>
          <p:nvPr/>
        </p:nvSpPr>
        <p:spPr>
          <a:xfrm>
            <a:off x="3275330" y="2680970"/>
            <a:ext cx="4412615" cy="75692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Html.CheckBoxFor</a:t>
            </a:r>
            <a:r>
              <a:rPr lang="en-US" sz="1200" dirty="0">
                <a:solidFill>
                  <a:srgbClr val="002060"/>
                </a:solidFill>
                <a:latin typeface="Arial"/>
                <a:ea typeface="Arial"/>
                <a:cs typeface="Arial"/>
                <a:sym typeface="Arial"/>
              </a:rPr>
              <a:t>(m =&gt; </a:t>
            </a:r>
            <a:r>
              <a:rPr lang="en-US" sz="1200" dirty="0" err="1">
                <a:solidFill>
                  <a:srgbClr val="002060"/>
                </a:solidFill>
                <a:latin typeface="Arial"/>
                <a:ea typeface="Arial"/>
                <a:cs typeface="Arial"/>
                <a:sym typeface="Arial"/>
              </a:rPr>
              <a:t>m.IsSubscribed</a:t>
            </a:r>
            <a:r>
              <a:rPr lang="en-US" sz="1200" dirty="0">
                <a:solidFill>
                  <a:srgbClr val="002060"/>
                </a:solidFill>
                <a:latin typeface="Arial"/>
                <a:ea typeface="Arial"/>
                <a:cs typeface="Arial"/>
                <a:sym typeface="Arial"/>
              </a:rPr>
              <a:t>)</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Html.RadioButtonFor</a:t>
            </a:r>
            <a:r>
              <a:rPr lang="en-US" sz="1200" dirty="0">
                <a:solidFill>
                  <a:srgbClr val="002060"/>
                </a:solidFill>
                <a:latin typeface="Arial"/>
                <a:ea typeface="Arial"/>
                <a:cs typeface="Arial"/>
                <a:sym typeface="Arial"/>
              </a:rPr>
              <a:t>(m =&gt; </a:t>
            </a:r>
            <a:r>
              <a:rPr lang="en-US" sz="1200" dirty="0" err="1">
                <a:solidFill>
                  <a:srgbClr val="002060"/>
                </a:solidFill>
                <a:latin typeface="Arial"/>
                <a:ea typeface="Arial"/>
                <a:cs typeface="Arial"/>
                <a:sym typeface="Arial"/>
              </a:rPr>
              <a:t>m.Gender</a:t>
            </a:r>
            <a:r>
              <a:rPr lang="en-US" sz="1200" dirty="0">
                <a:solidFill>
                  <a:srgbClr val="002060"/>
                </a:solidFill>
                <a:latin typeface="Arial"/>
                <a:ea typeface="Arial"/>
                <a:cs typeface="Arial"/>
                <a:sym typeface="Arial"/>
              </a:rPr>
              <a:t>, "Male")</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Html.RadioButtonFor</a:t>
            </a:r>
            <a:r>
              <a:rPr lang="en-US" sz="1200" dirty="0">
                <a:solidFill>
                  <a:srgbClr val="002060"/>
                </a:solidFill>
                <a:latin typeface="Arial"/>
                <a:ea typeface="Arial"/>
                <a:cs typeface="Arial"/>
                <a:sym typeface="Arial"/>
              </a:rPr>
              <a:t>(m =&gt; </a:t>
            </a:r>
            <a:r>
              <a:rPr lang="en-US" sz="1200" dirty="0" err="1">
                <a:solidFill>
                  <a:srgbClr val="002060"/>
                </a:solidFill>
                <a:latin typeface="Arial"/>
                <a:ea typeface="Arial"/>
                <a:cs typeface="Arial"/>
                <a:sym typeface="Arial"/>
              </a:rPr>
              <a:t>m.Gender</a:t>
            </a:r>
            <a:r>
              <a:rPr lang="en-US" sz="1200" dirty="0">
                <a:solidFill>
                  <a:srgbClr val="002060"/>
                </a:solidFill>
                <a:latin typeface="Arial"/>
                <a:ea typeface="Arial"/>
                <a:cs typeface="Arial"/>
                <a:sym typeface="Arial"/>
              </a:rPr>
              <a:t>, "Female")</a:t>
            </a:r>
            <a:endParaRPr sz="1200" dirty="0">
              <a:solidFill>
                <a:srgbClr val="002060"/>
              </a:solidFill>
              <a:latin typeface="Arial"/>
              <a:ea typeface="Arial"/>
              <a:cs typeface="Arial"/>
              <a:sym typeface="Arial"/>
            </a:endParaRPr>
          </a:p>
        </p:txBody>
      </p:sp>
      <p:sp>
        <p:nvSpPr>
          <p:cNvPr id="324" name="Google Shape;324;p18"/>
          <p:cNvSpPr/>
          <p:nvPr/>
        </p:nvSpPr>
        <p:spPr>
          <a:xfrm>
            <a:off x="640715" y="523875"/>
            <a:ext cx="6373495" cy="19050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Html.CheckBoxFor</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Html.RadioButtonFor</a:t>
            </a:r>
            <a:r>
              <a:rPr lang="en-US" sz="1600" dirty="0">
                <a:solidFill>
                  <a:schemeClr val="lt1"/>
                </a:solidFill>
                <a:latin typeface="Comic Sans MS"/>
                <a:ea typeface="Comic Sans MS"/>
                <a:cs typeface="Comic Sans MS"/>
                <a:sym typeface="Comic Sans MS"/>
              </a:rPr>
              <a:t>:</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 These helpers generate checkboxes and radio buttons that bind to a Boolean model property or an enumeration property, respectively.</a:t>
            </a:r>
            <a:endParaRPr sz="1600" dirty="0">
              <a:solidFill>
                <a:schemeClr val="lt1"/>
              </a:solidFill>
              <a:latin typeface="Comic Sans MS"/>
              <a:ea typeface="Comic Sans MS"/>
              <a:cs typeface="Comic Sans MS"/>
              <a:sym typeface="Comic Sans MS"/>
            </a:endParaRPr>
          </a:p>
        </p:txBody>
      </p:sp>
      <p:grpSp>
        <p:nvGrpSpPr>
          <p:cNvPr id="325" name="Google Shape;325;p18"/>
          <p:cNvGrpSpPr/>
          <p:nvPr/>
        </p:nvGrpSpPr>
        <p:grpSpPr>
          <a:xfrm rot="10800000" flipH="1">
            <a:off x="6593205" y="0"/>
            <a:ext cx="5928360" cy="6634480"/>
            <a:chOff x="6095999" y="52996"/>
            <a:chExt cx="6093363" cy="6805005"/>
          </a:xfrm>
        </p:grpSpPr>
        <p:sp>
          <p:nvSpPr>
            <p:cNvPr id="326" name="Google Shape;326;p18"/>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18"/>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18"/>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29" name="Google Shape;329;p18"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30" name="Google Shape;330;p18"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31" name="Google Shape;331;p18"/>
          <p:cNvSpPr/>
          <p:nvPr/>
        </p:nvSpPr>
        <p:spPr>
          <a:xfrm>
            <a:off x="640715" y="3689985"/>
            <a:ext cx="6373495" cy="19050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Html.CheckBoxFor</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Html.RadioButtonFor</a:t>
            </a:r>
            <a:r>
              <a:rPr lang="en-US" sz="1600" dirty="0">
                <a:solidFill>
                  <a:schemeClr val="lt1"/>
                </a:solidFill>
                <a:latin typeface="Comic Sans MS"/>
                <a:ea typeface="Comic Sans MS"/>
                <a:cs typeface="Comic Sans MS"/>
                <a:sym typeface="Comic Sans MS"/>
              </a:rPr>
              <a:t>:</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 These helpers generate checkboxes and radio buttons that bind to a Boolean model property or an enumeration property, respectively.</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4"/>
                                        </p:tgtEl>
                                        <p:attrNameLst>
                                          <p:attrName>style.visibility</p:attrName>
                                        </p:attrNameLst>
                                      </p:cBhvr>
                                      <p:to>
                                        <p:strVal val="visible"/>
                                      </p:to>
                                    </p:set>
                                    <p:animEffect transition="in" filter="fade">
                                      <p:cBhvr>
                                        <p:cTn id="7" dur="1000"/>
                                        <p:tgtEl>
                                          <p:spTgt spid="3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3"/>
                                        </p:tgtEl>
                                        <p:attrNameLst>
                                          <p:attrName>style.visibility</p:attrName>
                                        </p:attrNameLst>
                                      </p:cBhvr>
                                      <p:to>
                                        <p:strVal val="visible"/>
                                      </p:to>
                                    </p:set>
                                    <p:animEffect transition="in" filter="fade">
                                      <p:cBhvr>
                                        <p:cTn id="12" dur="1000"/>
                                        <p:tgtEl>
                                          <p:spTgt spid="3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1"/>
                                        </p:tgtEl>
                                        <p:attrNameLst>
                                          <p:attrName>style.visibility</p:attrName>
                                        </p:attrNameLst>
                                      </p:cBhvr>
                                      <p:to>
                                        <p:strVal val="visible"/>
                                      </p:to>
                                    </p:set>
                                    <p:animEffect transition="in" filter="fade">
                                      <p:cBhvr>
                                        <p:cTn id="17" dur="1000"/>
                                        <p:tgtEl>
                                          <p:spTgt spid="3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2"/>
                                        </p:tgtEl>
                                        <p:attrNameLst>
                                          <p:attrName>style.visibility</p:attrName>
                                        </p:attrNameLst>
                                      </p:cBhvr>
                                      <p:to>
                                        <p:strVal val="visible"/>
                                      </p:to>
                                    </p:set>
                                    <p:animEffect transition="in" filter="fade">
                                      <p:cBhvr>
                                        <p:cTn id="22" dur="10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35"/>
        <p:cNvGrpSpPr/>
        <p:nvPr/>
      </p:nvGrpSpPr>
      <p:grpSpPr>
        <a:xfrm>
          <a:off x="0" y="0"/>
          <a:ext cx="0" cy="0"/>
          <a:chOff x="0" y="0"/>
          <a:chExt cx="0" cy="0"/>
        </a:xfrm>
      </p:grpSpPr>
      <p:sp>
        <p:nvSpPr>
          <p:cNvPr id="336" name="Google Shape;336;p19"/>
          <p:cNvSpPr/>
          <p:nvPr/>
        </p:nvSpPr>
        <p:spPr>
          <a:xfrm>
            <a:off x="2449195" y="286512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r>
              <a:rPr lang="en-US" sz="1200" dirty="0" err="1">
                <a:solidFill>
                  <a:srgbClr val="002060"/>
                </a:solidFill>
                <a:latin typeface="Arial"/>
                <a:ea typeface="Arial"/>
                <a:cs typeface="Arial"/>
                <a:sym typeface="Arial"/>
              </a:rPr>
              <a:t>Html.ActionLink</a:t>
            </a:r>
            <a:r>
              <a:rPr lang="en-US" sz="1200" dirty="0">
                <a:solidFill>
                  <a:srgbClr val="002060"/>
                </a:solidFill>
                <a:latin typeface="Arial"/>
                <a:ea typeface="Arial"/>
                <a:cs typeface="Arial"/>
                <a:sym typeface="Arial"/>
              </a:rPr>
              <a:t>("Home", "Index", "Home")</a:t>
            </a:r>
            <a:endParaRPr sz="1200" dirty="0">
              <a:solidFill>
                <a:srgbClr val="002060"/>
              </a:solidFill>
              <a:latin typeface="Arial"/>
              <a:ea typeface="Arial"/>
              <a:cs typeface="Arial"/>
              <a:sym typeface="Arial"/>
            </a:endParaRPr>
          </a:p>
        </p:txBody>
      </p:sp>
      <p:sp>
        <p:nvSpPr>
          <p:cNvPr id="337" name="Google Shape;337;p19"/>
          <p:cNvSpPr/>
          <p:nvPr/>
        </p:nvSpPr>
        <p:spPr>
          <a:xfrm>
            <a:off x="609600" y="1322070"/>
            <a:ext cx="6373495" cy="135699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Html.ActionLink</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This helper generates an &lt;a&gt; tag for a link to an action method within the same controller or a different controller.</a:t>
            </a:r>
            <a:endParaRPr sz="1600" dirty="0">
              <a:solidFill>
                <a:schemeClr val="lt1"/>
              </a:solidFill>
              <a:latin typeface="Comic Sans MS"/>
              <a:ea typeface="Comic Sans MS"/>
              <a:cs typeface="Comic Sans MS"/>
              <a:sym typeface="Comic Sans MS"/>
            </a:endParaRPr>
          </a:p>
        </p:txBody>
      </p:sp>
      <p:grpSp>
        <p:nvGrpSpPr>
          <p:cNvPr id="338" name="Google Shape;338;p19"/>
          <p:cNvGrpSpPr/>
          <p:nvPr/>
        </p:nvGrpSpPr>
        <p:grpSpPr>
          <a:xfrm rot="10800000" flipH="1">
            <a:off x="6593205" y="0"/>
            <a:ext cx="5928360" cy="6634480"/>
            <a:chOff x="6095999" y="52996"/>
            <a:chExt cx="6093363" cy="6805005"/>
          </a:xfrm>
        </p:grpSpPr>
        <p:sp>
          <p:nvSpPr>
            <p:cNvPr id="339" name="Google Shape;339;p19"/>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0" name="Google Shape;340;p19"/>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1" name="Google Shape;341;p19"/>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42" name="Google Shape;342;p19"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43" name="Google Shape;343;p19"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44" name="Google Shape;344;p19"/>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a:buNone/>
            </a:pPr>
            <a:r>
              <a:rPr lang="en-US" sz="2800" b="1" i="0" u="none">
                <a:solidFill>
                  <a:srgbClr val="012D86"/>
                </a:solidFill>
                <a:latin typeface="Bell MT"/>
                <a:ea typeface="Bell MT"/>
                <a:cs typeface="Bell MT"/>
                <a:sym typeface="Bell MT"/>
              </a:rPr>
              <a:t>2 . Links and URLs:</a:t>
            </a:r>
            <a:endParaRPr sz="2800" b="1" i="0" u="none">
              <a:solidFill>
                <a:srgbClr val="012D86"/>
              </a:solidFill>
              <a:latin typeface="Bell MT"/>
              <a:ea typeface="Bell MT"/>
              <a:cs typeface="Bell MT"/>
              <a:sym typeface="Bell MT"/>
            </a:endParaRPr>
          </a:p>
        </p:txBody>
      </p:sp>
      <p:sp>
        <p:nvSpPr>
          <p:cNvPr id="345" name="Google Shape;345;p19"/>
          <p:cNvSpPr/>
          <p:nvPr/>
        </p:nvSpPr>
        <p:spPr>
          <a:xfrm>
            <a:off x="2449195" y="526669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a:solidFill>
                  <a:srgbClr val="002060"/>
                </a:solidFill>
                <a:latin typeface="Arial"/>
                <a:ea typeface="Arial"/>
                <a:cs typeface="Arial"/>
                <a:sym typeface="Arial"/>
              </a:rPr>
              <a:t>@Html.RouteLink("About Us", "AboutRoute")</a:t>
            </a:r>
            <a:endParaRPr sz="1200">
              <a:solidFill>
                <a:srgbClr val="002060"/>
              </a:solidFill>
              <a:latin typeface="Arial"/>
              <a:ea typeface="Arial"/>
              <a:cs typeface="Arial"/>
              <a:sym typeface="Arial"/>
            </a:endParaRPr>
          </a:p>
        </p:txBody>
      </p:sp>
      <p:sp>
        <p:nvSpPr>
          <p:cNvPr id="346" name="Google Shape;346;p19"/>
          <p:cNvSpPr/>
          <p:nvPr/>
        </p:nvSpPr>
        <p:spPr>
          <a:xfrm>
            <a:off x="609600" y="3723640"/>
            <a:ext cx="6373495" cy="128587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Html.RouteLink</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This helper generates a link based on a named route and its parameters</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500"/>
                                        <p:tgtEl>
                                          <p:spTgt spid="3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7"/>
                                        </p:tgtEl>
                                        <p:attrNameLst>
                                          <p:attrName>style.visibility</p:attrName>
                                        </p:attrNameLst>
                                      </p:cBhvr>
                                      <p:to>
                                        <p:strVal val="visible"/>
                                      </p:to>
                                    </p:set>
                                    <p:animEffect transition="in" filter="fade">
                                      <p:cBhvr>
                                        <p:cTn id="12" dur="500"/>
                                        <p:tgtEl>
                                          <p:spTgt spid="3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6"/>
                                        </p:tgtEl>
                                        <p:attrNameLst>
                                          <p:attrName>style.visibility</p:attrName>
                                        </p:attrNameLst>
                                      </p:cBhvr>
                                      <p:to>
                                        <p:strVal val="visible"/>
                                      </p:to>
                                    </p:set>
                                    <p:animEffect transition="in" filter="fade">
                                      <p:cBhvr>
                                        <p:cTn id="17" dur="1000"/>
                                        <p:tgtEl>
                                          <p:spTgt spid="3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6"/>
                                        </p:tgtEl>
                                        <p:attrNameLst>
                                          <p:attrName>style.visibility</p:attrName>
                                        </p:attrNameLst>
                                      </p:cBhvr>
                                      <p:to>
                                        <p:strVal val="visible"/>
                                      </p:to>
                                    </p:set>
                                    <p:animEffect transition="in" filter="fade">
                                      <p:cBhvr>
                                        <p:cTn id="22" dur="1000"/>
                                        <p:tgtEl>
                                          <p:spTgt spid="34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5"/>
                                        </p:tgtEl>
                                        <p:attrNameLst>
                                          <p:attrName>style.visibility</p:attrName>
                                        </p:attrNameLst>
                                      </p:cBhvr>
                                      <p:to>
                                        <p:strVal val="visible"/>
                                      </p:to>
                                    </p:set>
                                    <p:animEffect transition="in" filter="fade">
                                      <p:cBhvr>
                                        <p:cTn id="27" dur="5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0"/>
        <p:cNvGrpSpPr/>
        <p:nvPr/>
      </p:nvGrpSpPr>
      <p:grpSpPr>
        <a:xfrm>
          <a:off x="0" y="0"/>
          <a:ext cx="0" cy="0"/>
          <a:chOff x="0" y="0"/>
          <a:chExt cx="0" cy="0"/>
        </a:xfrm>
      </p:grpSpPr>
      <p:sp>
        <p:nvSpPr>
          <p:cNvPr id="351" name="Google Shape;351;p20"/>
          <p:cNvSpPr/>
          <p:nvPr/>
        </p:nvSpPr>
        <p:spPr>
          <a:xfrm>
            <a:off x="2449195" y="3016885"/>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a:solidFill>
                  <a:srgbClr val="002060"/>
                </a:solidFill>
                <a:latin typeface="Arial"/>
                <a:ea typeface="Arial"/>
                <a:cs typeface="Arial"/>
                <a:sym typeface="Arial"/>
              </a:rPr>
              <a:t>@Html.Partial("_PartialViewName")</a:t>
            </a:r>
            <a:endParaRPr sz="1200">
              <a:solidFill>
                <a:srgbClr val="002060"/>
              </a:solidFill>
              <a:latin typeface="Arial"/>
              <a:ea typeface="Arial"/>
              <a:cs typeface="Arial"/>
              <a:sym typeface="Arial"/>
            </a:endParaRPr>
          </a:p>
        </p:txBody>
      </p:sp>
      <p:sp>
        <p:nvSpPr>
          <p:cNvPr id="352" name="Google Shape;352;p20"/>
          <p:cNvSpPr/>
          <p:nvPr/>
        </p:nvSpPr>
        <p:spPr>
          <a:xfrm>
            <a:off x="609600" y="1322070"/>
            <a:ext cx="6373495" cy="1460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Html.Partial</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This helper renders a partial view within the current view. It can be used to reuse sections of markup.</a:t>
            </a:r>
            <a:endParaRPr sz="1600" dirty="0">
              <a:solidFill>
                <a:schemeClr val="lt1"/>
              </a:solidFill>
              <a:latin typeface="Comic Sans MS"/>
              <a:ea typeface="Comic Sans MS"/>
              <a:cs typeface="Comic Sans MS"/>
              <a:sym typeface="Comic Sans MS"/>
            </a:endParaRPr>
          </a:p>
        </p:txBody>
      </p:sp>
      <p:grpSp>
        <p:nvGrpSpPr>
          <p:cNvPr id="353" name="Google Shape;353;p20"/>
          <p:cNvGrpSpPr/>
          <p:nvPr/>
        </p:nvGrpSpPr>
        <p:grpSpPr>
          <a:xfrm rot="10800000" flipH="1">
            <a:off x="6593205" y="0"/>
            <a:ext cx="5928360" cy="6634480"/>
            <a:chOff x="6095999" y="52996"/>
            <a:chExt cx="6093363" cy="6805005"/>
          </a:xfrm>
        </p:grpSpPr>
        <p:sp>
          <p:nvSpPr>
            <p:cNvPr id="354" name="Google Shape;354;p20"/>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5" name="Google Shape;355;p20"/>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56" name="Google Shape;356;p20"/>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57" name="Google Shape;357;p20"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58" name="Google Shape;358;p20"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59" name="Google Shape;359;p20"/>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a:buNone/>
            </a:pPr>
            <a:r>
              <a:rPr lang="en-US" sz="2800" b="1" i="0" u="none">
                <a:solidFill>
                  <a:srgbClr val="012D86"/>
                </a:solidFill>
                <a:latin typeface="Bell MT"/>
                <a:ea typeface="Bell MT"/>
                <a:cs typeface="Bell MT"/>
                <a:sym typeface="Bell MT"/>
              </a:rPr>
              <a:t>3 . Partial Views</a:t>
            </a:r>
            <a:endParaRPr sz="2800" b="1" i="0" u="none">
              <a:solidFill>
                <a:srgbClr val="012D86"/>
              </a:solidFill>
              <a:latin typeface="Bell MT"/>
              <a:ea typeface="Bell MT"/>
              <a:cs typeface="Bell MT"/>
              <a:sym typeface="Bell MT"/>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2"/>
                                        </p:tgtEl>
                                        <p:attrNameLst>
                                          <p:attrName>style.visibility</p:attrName>
                                        </p:attrNameLst>
                                      </p:cBhvr>
                                      <p:to>
                                        <p:strVal val="visible"/>
                                      </p:to>
                                    </p:set>
                                    <p:animEffect transition="in" filter="fade">
                                      <p:cBhvr>
                                        <p:cTn id="12" dur="1000"/>
                                        <p:tgtEl>
                                          <p:spTgt spid="35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1"/>
                                        </p:tgtEl>
                                        <p:attrNameLst>
                                          <p:attrName>style.visibility</p:attrName>
                                        </p:attrNameLst>
                                      </p:cBhvr>
                                      <p:to>
                                        <p:strVal val="visible"/>
                                      </p:to>
                                    </p:set>
                                    <p:animEffect transition="in" filter="fade">
                                      <p:cBhvr>
                                        <p:cTn id="17"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21"/>
          <p:cNvSpPr/>
          <p:nvPr/>
        </p:nvSpPr>
        <p:spPr>
          <a:xfrm>
            <a:off x="2449195" y="286512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a:solidFill>
                  <a:srgbClr val="002060"/>
                </a:solidFill>
                <a:latin typeface="Arial"/>
                <a:ea typeface="Arial"/>
                <a:cs typeface="Arial"/>
                <a:sym typeface="Arial"/>
              </a:rPr>
              <a:t>@Html.DisplayFor(m =&gt; m.Name)</a:t>
            </a:r>
            <a:endParaRPr sz="1200">
              <a:solidFill>
                <a:srgbClr val="002060"/>
              </a:solidFill>
              <a:latin typeface="Arial"/>
              <a:ea typeface="Arial"/>
              <a:cs typeface="Arial"/>
              <a:sym typeface="Arial"/>
            </a:endParaRPr>
          </a:p>
        </p:txBody>
      </p:sp>
      <p:sp>
        <p:nvSpPr>
          <p:cNvPr id="365" name="Google Shape;365;p21"/>
          <p:cNvSpPr/>
          <p:nvPr/>
        </p:nvSpPr>
        <p:spPr>
          <a:xfrm>
            <a:off x="609600" y="1322070"/>
            <a:ext cx="6373495" cy="14700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Html.DisplayFor</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This helper generates HTML markup to display the value of a model property, applying any specified display templates or formatting.</a:t>
            </a:r>
            <a:endParaRPr sz="1600" dirty="0">
              <a:solidFill>
                <a:schemeClr val="lt1"/>
              </a:solidFill>
              <a:latin typeface="Comic Sans MS"/>
              <a:ea typeface="Comic Sans MS"/>
              <a:cs typeface="Comic Sans MS"/>
              <a:sym typeface="Comic Sans MS"/>
            </a:endParaRPr>
          </a:p>
        </p:txBody>
      </p:sp>
      <p:grpSp>
        <p:nvGrpSpPr>
          <p:cNvPr id="366" name="Google Shape;366;p21"/>
          <p:cNvGrpSpPr/>
          <p:nvPr/>
        </p:nvGrpSpPr>
        <p:grpSpPr>
          <a:xfrm rot="10800000" flipH="1">
            <a:off x="6582410" y="0"/>
            <a:ext cx="5928360" cy="6634480"/>
            <a:chOff x="6095999" y="52996"/>
            <a:chExt cx="6093363" cy="6805005"/>
          </a:xfrm>
        </p:grpSpPr>
        <p:sp>
          <p:nvSpPr>
            <p:cNvPr id="367" name="Google Shape;367;p21"/>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8" name="Google Shape;368;p21"/>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9" name="Google Shape;369;p21"/>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70" name="Google Shape;370;p21"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71" name="Google Shape;371;p21"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72" name="Google Shape;372;p21"/>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a:buNone/>
            </a:pPr>
            <a:r>
              <a:rPr lang="en-US" sz="2800" b="1" i="0" u="none">
                <a:solidFill>
                  <a:srgbClr val="012D86"/>
                </a:solidFill>
                <a:latin typeface="Bell MT"/>
                <a:ea typeface="Bell MT"/>
                <a:cs typeface="Bell MT"/>
                <a:sym typeface="Bell MT"/>
              </a:rPr>
              <a:t>4 . Displaying Data</a:t>
            </a:r>
            <a:endParaRPr sz="2800" b="1" i="0" u="none">
              <a:solidFill>
                <a:srgbClr val="012D86"/>
              </a:solidFill>
              <a:latin typeface="Bell MT"/>
              <a:ea typeface="Bell MT"/>
              <a:cs typeface="Bell MT"/>
              <a:sym typeface="Bell MT"/>
            </a:endParaRPr>
          </a:p>
        </p:txBody>
      </p:sp>
      <p:sp>
        <p:nvSpPr>
          <p:cNvPr id="373" name="Google Shape;373;p21"/>
          <p:cNvSpPr/>
          <p:nvPr/>
        </p:nvSpPr>
        <p:spPr>
          <a:xfrm>
            <a:off x="2449195" y="526669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a:solidFill>
                  <a:srgbClr val="002060"/>
                </a:solidFill>
                <a:latin typeface="Arial"/>
                <a:ea typeface="Arial"/>
                <a:cs typeface="Arial"/>
                <a:sym typeface="Arial"/>
              </a:rPr>
              <a:t>@Html.EditorFor(m =&gt; m.DateOfBirth)</a:t>
            </a:r>
            <a:endParaRPr sz="1200">
              <a:solidFill>
                <a:srgbClr val="002060"/>
              </a:solidFill>
              <a:latin typeface="Arial"/>
              <a:ea typeface="Arial"/>
              <a:cs typeface="Arial"/>
              <a:sym typeface="Arial"/>
            </a:endParaRPr>
          </a:p>
        </p:txBody>
      </p:sp>
      <p:sp>
        <p:nvSpPr>
          <p:cNvPr id="374" name="Google Shape;374;p21"/>
          <p:cNvSpPr/>
          <p:nvPr/>
        </p:nvSpPr>
        <p:spPr>
          <a:xfrm>
            <a:off x="609600" y="3723640"/>
            <a:ext cx="6373495" cy="130175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Html.EditorFor</a:t>
            </a:r>
            <a:r>
              <a:rPr lang="en-US" sz="1600" dirty="0">
                <a:solidFill>
                  <a:schemeClr val="lt1"/>
                </a:solidFill>
                <a:latin typeface="Comic Sans MS"/>
                <a:ea typeface="Comic Sans MS"/>
                <a:cs typeface="Comic Sans MS"/>
                <a:sym typeface="Comic Sans MS"/>
              </a:rPr>
              <a:t>: </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This helper generates an appropriate editor control for a model property, using any specified editor templates.</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fade">
                                      <p:cBhvr>
                                        <p:cTn id="7" dur="500"/>
                                        <p:tgtEl>
                                          <p:spTgt spid="3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5"/>
                                        </p:tgtEl>
                                        <p:attrNameLst>
                                          <p:attrName>style.visibility</p:attrName>
                                        </p:attrNameLst>
                                      </p:cBhvr>
                                      <p:to>
                                        <p:strVal val="visible"/>
                                      </p:to>
                                    </p:set>
                                    <p:animEffect transition="in" filter="fade">
                                      <p:cBhvr>
                                        <p:cTn id="12" dur="1000"/>
                                        <p:tgtEl>
                                          <p:spTgt spid="3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4"/>
                                        </p:tgtEl>
                                        <p:attrNameLst>
                                          <p:attrName>style.visibility</p:attrName>
                                        </p:attrNameLst>
                                      </p:cBhvr>
                                      <p:to>
                                        <p:strVal val="visible"/>
                                      </p:to>
                                    </p:set>
                                    <p:animEffect transition="in" filter="fade">
                                      <p:cBhvr>
                                        <p:cTn id="17" dur="500"/>
                                        <p:tgtEl>
                                          <p:spTgt spid="36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4"/>
                                        </p:tgtEl>
                                        <p:attrNameLst>
                                          <p:attrName>style.visibility</p:attrName>
                                        </p:attrNameLst>
                                      </p:cBhvr>
                                      <p:to>
                                        <p:strVal val="visible"/>
                                      </p:to>
                                    </p:set>
                                    <p:animEffect transition="in" filter="fade">
                                      <p:cBhvr>
                                        <p:cTn id="22" dur="1000"/>
                                        <p:tgtEl>
                                          <p:spTgt spid="37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3"/>
                                        </p:tgtEl>
                                        <p:attrNameLst>
                                          <p:attrName>style.visibility</p:attrName>
                                        </p:attrNameLst>
                                      </p:cBhvr>
                                      <p:to>
                                        <p:strVal val="visible"/>
                                      </p:to>
                                    </p:set>
                                    <p:animEffect transition="in" filter="fade">
                                      <p:cBhvr>
                                        <p:cTn id="27" dur="500"/>
                                        <p:tgtEl>
                                          <p:spTgt spid="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8"/>
        <p:cNvGrpSpPr/>
        <p:nvPr/>
      </p:nvGrpSpPr>
      <p:grpSpPr>
        <a:xfrm>
          <a:off x="0" y="0"/>
          <a:ext cx="0" cy="0"/>
          <a:chOff x="0" y="0"/>
          <a:chExt cx="0" cy="0"/>
        </a:xfrm>
      </p:grpSpPr>
      <p:sp>
        <p:nvSpPr>
          <p:cNvPr id="379" name="Google Shape;379;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Page Events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380" name="Google Shape;380;p22"/>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In Razor Pages, events are a way to handle user interactions or specific actions that occur during the lifecycle of a page. Events allow you to respond to user input or perform certain operations in response to various triggers. Here are some commonly used events in Razor Pages:</a:t>
            </a:r>
            <a:endParaRPr sz="1600" dirty="0">
              <a:solidFill>
                <a:schemeClr val="lt1"/>
              </a:solidFill>
              <a:latin typeface="Comic Sans MS"/>
              <a:ea typeface="Comic Sans MS"/>
              <a:cs typeface="Comic Sans MS"/>
              <a:sym typeface="Comic Sans MS"/>
            </a:endParaRPr>
          </a:p>
        </p:txBody>
      </p:sp>
      <p:grpSp>
        <p:nvGrpSpPr>
          <p:cNvPr id="381" name="Google Shape;381;p22"/>
          <p:cNvGrpSpPr/>
          <p:nvPr/>
        </p:nvGrpSpPr>
        <p:grpSpPr>
          <a:xfrm rot="10800000" flipH="1">
            <a:off x="6593205" y="0"/>
            <a:ext cx="5928360" cy="6634480"/>
            <a:chOff x="6095999" y="52996"/>
            <a:chExt cx="6093363" cy="6805005"/>
          </a:xfrm>
        </p:grpSpPr>
        <p:sp>
          <p:nvSpPr>
            <p:cNvPr id="382" name="Google Shape;382;p22"/>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3" name="Google Shape;383;p22"/>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4" name="Google Shape;384;p22"/>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85" name="Google Shape;385;p22"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86" name="Google Shape;386;p22"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387" name="Google Shape;387;p22"/>
          <p:cNvSpPr/>
          <p:nvPr/>
        </p:nvSpPr>
        <p:spPr>
          <a:xfrm>
            <a:off x="609600" y="3589020"/>
            <a:ext cx="6373495" cy="142049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lnSpc>
                <a:spcPct val="140000"/>
              </a:lnSpc>
              <a:spcBef>
                <a:spcPts val="0"/>
              </a:spcBef>
              <a:spcAft>
                <a:spcPts val="0"/>
              </a:spcAft>
              <a:buClr>
                <a:schemeClr val="lt1"/>
              </a:buClr>
              <a:buSzPts val="1600"/>
              <a:buFont typeface="Arial"/>
              <a:buAutoNum type="arabicPeriod"/>
            </a:pPr>
            <a:r>
              <a:rPr lang="en-US" sz="1600" dirty="0">
                <a:solidFill>
                  <a:schemeClr val="lt1"/>
                </a:solidFill>
                <a:latin typeface="Comic Sans MS"/>
                <a:ea typeface="Comic Sans MS"/>
                <a:cs typeface="Comic Sans MS"/>
                <a:sym typeface="Comic Sans MS"/>
              </a:rPr>
              <a:t>Page Events</a:t>
            </a:r>
            <a:endParaRPr sz="1600" dirty="0">
              <a:solidFill>
                <a:schemeClr val="lt1"/>
              </a:solidFill>
              <a:latin typeface="Comic Sans MS"/>
              <a:ea typeface="Comic Sans MS"/>
              <a:cs typeface="Comic Sans MS"/>
              <a:sym typeface="Comic Sans MS"/>
            </a:endParaRPr>
          </a:p>
          <a:p>
            <a:pPr marL="342900" marR="0" lvl="0" indent="-342900" algn="l" rtl="0">
              <a:lnSpc>
                <a:spcPct val="140000"/>
              </a:lnSpc>
              <a:spcBef>
                <a:spcPts val="0"/>
              </a:spcBef>
              <a:spcAft>
                <a:spcPts val="0"/>
              </a:spcAft>
              <a:buClr>
                <a:schemeClr val="lt1"/>
              </a:buClr>
              <a:buSzPts val="1600"/>
              <a:buFont typeface="Arial"/>
              <a:buAutoNum type="arabicPeriod"/>
            </a:pPr>
            <a:r>
              <a:rPr lang="en-US" sz="1600" dirty="0">
                <a:solidFill>
                  <a:schemeClr val="lt1"/>
                </a:solidFill>
                <a:latin typeface="Comic Sans MS"/>
                <a:ea typeface="Comic Sans MS"/>
                <a:cs typeface="Comic Sans MS"/>
                <a:sym typeface="Comic Sans MS"/>
              </a:rPr>
              <a:t>Handler Events</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animEffect transition="in" filter="fade">
                                      <p:cBhvr>
                                        <p:cTn id="7" dur="500"/>
                                        <p:tgtEl>
                                          <p:spTgt spid="3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0"/>
                                        </p:tgtEl>
                                        <p:attrNameLst>
                                          <p:attrName>style.visibility</p:attrName>
                                        </p:attrNameLst>
                                      </p:cBhvr>
                                      <p:to>
                                        <p:strVal val="visible"/>
                                      </p:to>
                                    </p:set>
                                    <p:animEffect transition="in" filter="fade">
                                      <p:cBhvr>
                                        <p:cTn id="12" dur="1000"/>
                                        <p:tgtEl>
                                          <p:spTgt spid="3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7"/>
                                        </p:tgtEl>
                                        <p:attrNameLst>
                                          <p:attrName>style.visibility</p:attrName>
                                        </p:attrNameLst>
                                      </p:cBhvr>
                                      <p:to>
                                        <p:strVal val="visible"/>
                                      </p:to>
                                    </p:set>
                                    <p:animEffect transition="in" filter="fade">
                                      <p:cBhvr>
                                        <p:cTn id="17" dur="1000"/>
                                        <p:tgtEl>
                                          <p:spTgt spid="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Page Events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393" name="Google Shape;393;p23"/>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OnGet</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OnPost</a:t>
            </a:r>
            <a:r>
              <a:rPr lang="en-US" sz="1600" dirty="0">
                <a:solidFill>
                  <a:schemeClr val="lt1"/>
                </a:solidFill>
                <a:latin typeface="Comic Sans MS"/>
                <a:ea typeface="Comic Sans MS"/>
                <a:cs typeface="Comic Sans MS"/>
                <a:sym typeface="Comic Sans MS"/>
              </a:rPr>
              <a:t>: These events are triggered when an HTTP GET or POST request is made to the page. You can override these methods in your Razor Page's code-behind file (</a:t>
            </a:r>
            <a:r>
              <a:rPr lang="en-US" sz="1600" dirty="0" err="1">
                <a:solidFill>
                  <a:schemeClr val="lt1"/>
                </a:solidFill>
                <a:latin typeface="Comic Sans MS"/>
                <a:ea typeface="Comic Sans MS"/>
                <a:cs typeface="Comic Sans MS"/>
                <a:sym typeface="Comic Sans MS"/>
              </a:rPr>
              <a:t>PageModel</a:t>
            </a:r>
            <a:r>
              <a:rPr lang="en-US" sz="1600" dirty="0">
                <a:solidFill>
                  <a:schemeClr val="lt1"/>
                </a:solidFill>
                <a:latin typeface="Comic Sans MS"/>
                <a:ea typeface="Comic Sans MS"/>
                <a:cs typeface="Comic Sans MS"/>
                <a:sym typeface="Comic Sans MS"/>
              </a:rPr>
              <a:t>) to handle the corresponding HTTP verb.</a:t>
            </a:r>
            <a:endParaRPr sz="1600" dirty="0">
              <a:solidFill>
                <a:schemeClr val="lt1"/>
              </a:solidFill>
              <a:latin typeface="Comic Sans MS"/>
              <a:ea typeface="Comic Sans MS"/>
              <a:cs typeface="Comic Sans MS"/>
              <a:sym typeface="Comic Sans MS"/>
            </a:endParaRPr>
          </a:p>
        </p:txBody>
      </p:sp>
      <p:grpSp>
        <p:nvGrpSpPr>
          <p:cNvPr id="394" name="Google Shape;394;p23"/>
          <p:cNvGrpSpPr/>
          <p:nvPr/>
        </p:nvGrpSpPr>
        <p:grpSpPr>
          <a:xfrm rot="10800000" flipH="1">
            <a:off x="6593205" y="0"/>
            <a:ext cx="5928360" cy="6634480"/>
            <a:chOff x="6095999" y="52996"/>
            <a:chExt cx="6093363" cy="6805005"/>
          </a:xfrm>
        </p:grpSpPr>
        <p:sp>
          <p:nvSpPr>
            <p:cNvPr id="395" name="Google Shape;395;p23"/>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6" name="Google Shape;396;p23"/>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7" name="Google Shape;397;p23"/>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98" name="Google Shape;398;p23"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399" name="Google Shape;399;p23"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400" name="Google Shape;400;p23"/>
          <p:cNvSpPr/>
          <p:nvPr/>
        </p:nvSpPr>
        <p:spPr>
          <a:xfrm>
            <a:off x="609600" y="3557905"/>
            <a:ext cx="6373495" cy="27305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public </a:t>
            </a:r>
            <a:r>
              <a:rPr lang="en-US" sz="1000" dirty="0" err="1">
                <a:solidFill>
                  <a:srgbClr val="002060"/>
                </a:solidFill>
                <a:latin typeface="Arial"/>
                <a:ea typeface="Arial"/>
                <a:cs typeface="Arial"/>
                <a:sym typeface="Arial"/>
              </a:rPr>
              <a:t>IActionResult</a:t>
            </a:r>
            <a:r>
              <a:rPr lang="en-US" sz="1000" dirty="0">
                <a:solidFill>
                  <a:srgbClr val="002060"/>
                </a:solidFill>
                <a:latin typeface="Arial"/>
                <a:ea typeface="Arial"/>
                <a:cs typeface="Arial"/>
                <a:sym typeface="Arial"/>
              </a:rPr>
              <a:t> </a:t>
            </a:r>
            <a:r>
              <a:rPr lang="en-US" sz="1000" dirty="0" err="1">
                <a:solidFill>
                  <a:srgbClr val="002060"/>
                </a:solidFill>
                <a:latin typeface="Arial"/>
                <a:ea typeface="Arial"/>
                <a:cs typeface="Arial"/>
                <a:sym typeface="Arial"/>
              </a:rPr>
              <a:t>OnGet</a:t>
            </a: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 Logic for handling HTTP GET request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return Page</a:t>
            </a:r>
            <a:r>
              <a:rPr lang="en-US" sz="1000" dirty="0" smtClean="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1000"/>
              <a:buFont typeface="Arial"/>
              <a:buNone/>
            </a:pP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public </a:t>
            </a:r>
            <a:r>
              <a:rPr lang="en-US" sz="1000" dirty="0" err="1">
                <a:solidFill>
                  <a:srgbClr val="002060"/>
                </a:solidFill>
                <a:latin typeface="Arial"/>
                <a:ea typeface="Arial"/>
                <a:cs typeface="Arial"/>
                <a:sym typeface="Arial"/>
              </a:rPr>
              <a:t>IActionResult</a:t>
            </a:r>
            <a:r>
              <a:rPr lang="en-US" sz="1000" dirty="0">
                <a:solidFill>
                  <a:srgbClr val="002060"/>
                </a:solidFill>
                <a:latin typeface="Arial"/>
                <a:ea typeface="Arial"/>
                <a:cs typeface="Arial"/>
                <a:sym typeface="Arial"/>
              </a:rPr>
              <a:t> </a:t>
            </a:r>
            <a:r>
              <a:rPr lang="en-US" sz="1000" dirty="0" err="1">
                <a:solidFill>
                  <a:srgbClr val="002060"/>
                </a:solidFill>
                <a:latin typeface="Arial"/>
                <a:ea typeface="Arial"/>
                <a:cs typeface="Arial"/>
                <a:sym typeface="Arial"/>
              </a:rPr>
              <a:t>OnPost</a:t>
            </a: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 Logic for handling HTTP POST request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return Page();</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animEffect transition="in" filter="fade">
                                      <p:cBhvr>
                                        <p:cTn id="7" dur="500"/>
                                        <p:tgtEl>
                                          <p:spTgt spid="3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3"/>
                                        </p:tgtEl>
                                        <p:attrNameLst>
                                          <p:attrName>style.visibility</p:attrName>
                                        </p:attrNameLst>
                                      </p:cBhvr>
                                      <p:to>
                                        <p:strVal val="visible"/>
                                      </p:to>
                                    </p:set>
                                    <p:animEffect transition="in" filter="fade">
                                      <p:cBhvr>
                                        <p:cTn id="12" dur="1000"/>
                                        <p:tgtEl>
                                          <p:spTgt spid="3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fade">
                                      <p:cBhvr>
                                        <p:cTn id="17" dur="1000"/>
                                        <p:tgtEl>
                                          <p:spTgt spid="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4"/>
          <p:cNvSpPr/>
          <p:nvPr/>
        </p:nvSpPr>
        <p:spPr>
          <a:xfrm>
            <a:off x="609600" y="3372485"/>
            <a:ext cx="6373495" cy="27305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public async Task&lt;IActionResult&gt; OnGetAsync()</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 Asynchronous logic for handling HTTP GET request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return Page();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1000"/>
              <a:buFont typeface="Arial"/>
              <a:buNone/>
            </a:pP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public async Task&lt;IActionResult&gt; OnPostAsync()</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 Asynchronous logic for handling HTTP POST request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return Page();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p:txBody>
      </p:sp>
      <p:sp>
        <p:nvSpPr>
          <p:cNvPr id="406" name="Google Shape;406;p2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Page Events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07" name="Google Shape;407;p24"/>
          <p:cNvSpPr/>
          <p:nvPr/>
        </p:nvSpPr>
        <p:spPr>
          <a:xfrm>
            <a:off x="609600" y="1165860"/>
            <a:ext cx="6373495" cy="19780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OnGetAsync</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OnPostAsync</a:t>
            </a:r>
            <a:r>
              <a:rPr lang="en-US" sz="1600" dirty="0">
                <a:solidFill>
                  <a:schemeClr val="lt1"/>
                </a:solidFill>
                <a:latin typeface="Comic Sans MS"/>
                <a:ea typeface="Comic Sans MS"/>
                <a:cs typeface="Comic Sans MS"/>
                <a:sym typeface="Comic Sans MS"/>
              </a:rPr>
              <a:t>: Similar to </a:t>
            </a:r>
            <a:r>
              <a:rPr lang="en-US" sz="1600" dirty="0" err="1">
                <a:solidFill>
                  <a:schemeClr val="lt1"/>
                </a:solidFill>
                <a:latin typeface="Comic Sans MS"/>
                <a:ea typeface="Comic Sans MS"/>
                <a:cs typeface="Comic Sans MS"/>
                <a:sym typeface="Comic Sans MS"/>
              </a:rPr>
              <a:t>OnGet</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OnPost</a:t>
            </a:r>
            <a:r>
              <a:rPr lang="en-US" sz="1600" dirty="0">
                <a:solidFill>
                  <a:schemeClr val="lt1"/>
                </a:solidFill>
                <a:latin typeface="Comic Sans MS"/>
                <a:ea typeface="Comic Sans MS"/>
                <a:cs typeface="Comic Sans MS"/>
                <a:sym typeface="Comic Sans MS"/>
              </a:rPr>
              <a:t>, these events are asynchronous versions and allow you to perform </a:t>
            </a:r>
            <a:r>
              <a:rPr lang="en-US" sz="1600" dirty="0" err="1">
                <a:solidFill>
                  <a:schemeClr val="lt1"/>
                </a:solidFill>
                <a:latin typeface="Comic Sans MS"/>
                <a:ea typeface="Comic Sans MS"/>
                <a:cs typeface="Comic Sans MS"/>
                <a:sym typeface="Comic Sans MS"/>
              </a:rPr>
              <a:t>async</a:t>
            </a:r>
            <a:r>
              <a:rPr lang="en-US" sz="1600" dirty="0">
                <a:solidFill>
                  <a:schemeClr val="lt1"/>
                </a:solidFill>
                <a:latin typeface="Comic Sans MS"/>
                <a:ea typeface="Comic Sans MS"/>
                <a:cs typeface="Comic Sans MS"/>
                <a:sym typeface="Comic Sans MS"/>
              </a:rPr>
              <a:t> operations during the request handling.</a:t>
            </a:r>
            <a:endParaRPr sz="1600" dirty="0">
              <a:solidFill>
                <a:schemeClr val="lt1"/>
              </a:solidFill>
              <a:latin typeface="Comic Sans MS"/>
              <a:ea typeface="Comic Sans MS"/>
              <a:cs typeface="Comic Sans MS"/>
              <a:sym typeface="Comic Sans MS"/>
            </a:endParaRPr>
          </a:p>
        </p:txBody>
      </p:sp>
      <p:grpSp>
        <p:nvGrpSpPr>
          <p:cNvPr id="408" name="Google Shape;408;p24"/>
          <p:cNvGrpSpPr/>
          <p:nvPr/>
        </p:nvGrpSpPr>
        <p:grpSpPr>
          <a:xfrm rot="10800000" flipH="1">
            <a:off x="6593205" y="0"/>
            <a:ext cx="5928360" cy="6634480"/>
            <a:chOff x="6095999" y="52996"/>
            <a:chExt cx="6093363" cy="6805005"/>
          </a:xfrm>
        </p:grpSpPr>
        <p:sp>
          <p:nvSpPr>
            <p:cNvPr id="409" name="Google Shape;409;p24"/>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0" name="Google Shape;410;p24"/>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1" name="Google Shape;411;p24"/>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12" name="Google Shape;412;p24"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13" name="Google Shape;413;p24"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5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7"/>
                                        </p:tgtEl>
                                        <p:attrNameLst>
                                          <p:attrName>style.visibility</p:attrName>
                                        </p:attrNameLst>
                                      </p:cBhvr>
                                      <p:to>
                                        <p:strVal val="visible"/>
                                      </p:to>
                                    </p:set>
                                    <p:animEffect transition="in" filter="fade">
                                      <p:cBhvr>
                                        <p:cTn id="12" dur="1000"/>
                                        <p:tgtEl>
                                          <p:spTgt spid="40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5"/>
                                        </p:tgtEl>
                                        <p:attrNameLst>
                                          <p:attrName>style.visibility</p:attrName>
                                        </p:attrNameLst>
                                      </p:cBhvr>
                                      <p:to>
                                        <p:strVal val="visible"/>
                                      </p:to>
                                    </p:set>
                                    <p:animEffect transition="in" filter="fade">
                                      <p:cBhvr>
                                        <p:cTn id="17" dur="1000"/>
                                        <p:tgtEl>
                                          <p:spTgt spid="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5"/>
          <p:cNvSpPr/>
          <p:nvPr/>
        </p:nvSpPr>
        <p:spPr>
          <a:xfrm>
            <a:off x="609600" y="3372485"/>
            <a:ext cx="6373495" cy="27305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public IActionResult OnGetDelete()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 Logic for handling GET request specific to the "Delete" handler</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return Page();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1000"/>
              <a:buFont typeface="Arial"/>
              <a:buNone/>
            </a:pP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public IActionResult OnPostDelete()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 Logic for handling POST request specific to the "Delete" handler</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    return Page();</a:t>
            </a:r>
            <a:endParaRPr sz="100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a:solidFill>
                  <a:srgbClr val="002060"/>
                </a:solidFill>
                <a:latin typeface="Arial"/>
                <a:ea typeface="Arial"/>
                <a:cs typeface="Arial"/>
                <a:sym typeface="Arial"/>
              </a:rPr>
              <a:t>}</a:t>
            </a:r>
            <a:endParaRPr sz="1000">
              <a:solidFill>
                <a:srgbClr val="002060"/>
              </a:solidFill>
              <a:latin typeface="Arial"/>
              <a:ea typeface="Arial"/>
              <a:cs typeface="Arial"/>
              <a:sym typeface="Arial"/>
            </a:endParaRPr>
          </a:p>
        </p:txBody>
      </p:sp>
      <p:sp>
        <p:nvSpPr>
          <p:cNvPr id="419" name="Google Shape;419;p2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Handler Events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20" name="Google Shape;420;p25"/>
          <p:cNvSpPr/>
          <p:nvPr/>
        </p:nvSpPr>
        <p:spPr>
          <a:xfrm>
            <a:off x="609600" y="1165860"/>
            <a:ext cx="6373495" cy="19780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OnGet</a:t>
            </a:r>
            <a:r>
              <a:rPr lang="en-US" sz="1600" dirty="0">
                <a:solidFill>
                  <a:schemeClr val="lt1"/>
                </a:solidFill>
                <a:latin typeface="Comic Sans MS"/>
                <a:ea typeface="Comic Sans MS"/>
                <a:cs typeface="Comic Sans MS"/>
                <a:sym typeface="Comic Sans MS"/>
              </a:rPr>
              <a:t> and </a:t>
            </a:r>
            <a:r>
              <a:rPr lang="en-US" sz="1600" dirty="0" err="1">
                <a:solidFill>
                  <a:schemeClr val="lt1"/>
                </a:solidFill>
                <a:latin typeface="Comic Sans MS"/>
                <a:ea typeface="Comic Sans MS"/>
                <a:cs typeface="Comic Sans MS"/>
                <a:sym typeface="Comic Sans MS"/>
              </a:rPr>
              <a:t>OnPost</a:t>
            </a:r>
            <a:r>
              <a:rPr lang="en-US" sz="1600" dirty="0">
                <a:solidFill>
                  <a:schemeClr val="lt1"/>
                </a:solidFill>
                <a:latin typeface="Comic Sans MS"/>
                <a:ea typeface="Comic Sans MS"/>
                <a:cs typeface="Comic Sans MS"/>
                <a:sym typeface="Comic Sans MS"/>
              </a:rPr>
              <a:t>: Similar to page events, these events are associated with individual handler methods. You can define them in your </a:t>
            </a:r>
            <a:r>
              <a:rPr lang="en-US" sz="1600" dirty="0" err="1">
                <a:solidFill>
                  <a:schemeClr val="lt1"/>
                </a:solidFill>
                <a:latin typeface="Comic Sans MS"/>
                <a:ea typeface="Comic Sans MS"/>
                <a:cs typeface="Comic Sans MS"/>
                <a:sym typeface="Comic Sans MS"/>
              </a:rPr>
              <a:t>PageModel</a:t>
            </a:r>
            <a:r>
              <a:rPr lang="en-US" sz="1600" dirty="0">
                <a:solidFill>
                  <a:schemeClr val="lt1"/>
                </a:solidFill>
                <a:latin typeface="Comic Sans MS"/>
                <a:ea typeface="Comic Sans MS"/>
                <a:cs typeface="Comic Sans MS"/>
                <a:sym typeface="Comic Sans MS"/>
              </a:rPr>
              <a:t> to handle specific HTTP verbs for a particular handler method.</a:t>
            </a:r>
            <a:endParaRPr sz="1600" dirty="0">
              <a:solidFill>
                <a:schemeClr val="lt1"/>
              </a:solidFill>
              <a:latin typeface="Comic Sans MS"/>
              <a:ea typeface="Comic Sans MS"/>
              <a:cs typeface="Comic Sans MS"/>
              <a:sym typeface="Comic Sans MS"/>
            </a:endParaRPr>
          </a:p>
        </p:txBody>
      </p:sp>
      <p:grpSp>
        <p:nvGrpSpPr>
          <p:cNvPr id="421" name="Google Shape;421;p25"/>
          <p:cNvGrpSpPr/>
          <p:nvPr/>
        </p:nvGrpSpPr>
        <p:grpSpPr>
          <a:xfrm rot="10800000" flipH="1">
            <a:off x="6593205" y="0"/>
            <a:ext cx="5928360" cy="6634480"/>
            <a:chOff x="6095999" y="52996"/>
            <a:chExt cx="6093363" cy="6805005"/>
          </a:xfrm>
        </p:grpSpPr>
        <p:sp>
          <p:nvSpPr>
            <p:cNvPr id="422" name="Google Shape;422;p25"/>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3" name="Google Shape;423;p25"/>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4" name="Google Shape;424;p25"/>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25" name="Google Shape;425;p25"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26" name="Google Shape;426;p25"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500"/>
                                        <p:tgtEl>
                                          <p:spTgt spid="4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0"/>
                                        </p:tgtEl>
                                        <p:attrNameLst>
                                          <p:attrName>style.visibility</p:attrName>
                                        </p:attrNameLst>
                                      </p:cBhvr>
                                      <p:to>
                                        <p:strVal val="visible"/>
                                      </p:to>
                                    </p:set>
                                    <p:animEffect transition="in" filter="fade">
                                      <p:cBhvr>
                                        <p:cTn id="12" dur="1000"/>
                                        <p:tgtEl>
                                          <p:spTgt spid="4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8"/>
                                        </p:tgtEl>
                                        <p:attrNameLst>
                                          <p:attrName>style.visibility</p:attrName>
                                        </p:attrNameLst>
                                      </p:cBhvr>
                                      <p:to>
                                        <p:strVal val="visible"/>
                                      </p:to>
                                    </p:set>
                                    <p:animEffect transition="in" filter="fade">
                                      <p:cBhvr>
                                        <p:cTn id="17" dur="1000"/>
                                        <p:tgtEl>
                                          <p:spTgt spid="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Handler Events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32" name="Google Shape;432;p26"/>
          <p:cNvSpPr/>
          <p:nvPr/>
        </p:nvSpPr>
        <p:spPr>
          <a:xfrm>
            <a:off x="609600" y="1165860"/>
            <a:ext cx="6373495" cy="4889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Other Handler Events: Razor Pages also provide events like </a:t>
            </a:r>
            <a:r>
              <a:rPr lang="en-US" sz="1600" dirty="0" err="1">
                <a:solidFill>
                  <a:schemeClr val="lt1"/>
                </a:solidFill>
                <a:latin typeface="Comic Sans MS"/>
                <a:ea typeface="Comic Sans MS"/>
                <a:cs typeface="Comic Sans MS"/>
                <a:sym typeface="Comic Sans MS"/>
              </a:rPr>
              <a:t>OnGetHandlerAsync</a:t>
            </a:r>
            <a:r>
              <a:rPr lang="en-US" sz="1600" dirty="0">
                <a:solidFill>
                  <a:schemeClr val="lt1"/>
                </a:solidFill>
                <a:latin typeface="Comic Sans MS"/>
                <a:ea typeface="Comic Sans MS"/>
                <a:cs typeface="Comic Sans MS"/>
                <a:sym typeface="Comic Sans MS"/>
              </a:rPr>
              <a:t>, </a:t>
            </a:r>
            <a:r>
              <a:rPr lang="en-US" sz="1600" dirty="0" err="1">
                <a:solidFill>
                  <a:schemeClr val="lt1"/>
                </a:solidFill>
                <a:latin typeface="Comic Sans MS"/>
                <a:ea typeface="Comic Sans MS"/>
                <a:cs typeface="Comic Sans MS"/>
                <a:sym typeface="Comic Sans MS"/>
              </a:rPr>
              <a:t>OnPostHandlerAsync</a:t>
            </a:r>
            <a:r>
              <a:rPr lang="en-US" sz="1600" dirty="0">
                <a:solidFill>
                  <a:schemeClr val="lt1"/>
                </a:solidFill>
                <a:latin typeface="Comic Sans MS"/>
                <a:ea typeface="Comic Sans MS"/>
                <a:cs typeface="Comic Sans MS"/>
                <a:sym typeface="Comic Sans MS"/>
              </a:rPr>
              <a:t>, </a:t>
            </a:r>
            <a:r>
              <a:rPr lang="en-US" sz="1600" dirty="0" err="1">
                <a:solidFill>
                  <a:schemeClr val="lt1"/>
                </a:solidFill>
                <a:latin typeface="Comic Sans MS"/>
                <a:ea typeface="Comic Sans MS"/>
                <a:cs typeface="Comic Sans MS"/>
                <a:sym typeface="Comic Sans MS"/>
              </a:rPr>
              <a:t>OnHandlerExecuting</a:t>
            </a:r>
            <a:r>
              <a:rPr lang="en-US" sz="1600" dirty="0">
                <a:solidFill>
                  <a:schemeClr val="lt1"/>
                </a:solidFill>
                <a:latin typeface="Comic Sans MS"/>
                <a:ea typeface="Comic Sans MS"/>
                <a:cs typeface="Comic Sans MS"/>
                <a:sym typeface="Comic Sans MS"/>
              </a:rPr>
              <a:t>, </a:t>
            </a:r>
            <a:r>
              <a:rPr lang="en-US" sz="1600" dirty="0" err="1">
                <a:solidFill>
                  <a:schemeClr val="lt1"/>
                </a:solidFill>
                <a:latin typeface="Comic Sans MS"/>
                <a:ea typeface="Comic Sans MS"/>
                <a:cs typeface="Comic Sans MS"/>
                <a:sym typeface="Comic Sans MS"/>
              </a:rPr>
              <a:t>OnHandlerExecuted</a:t>
            </a:r>
            <a:r>
              <a:rPr lang="en-US" sz="1600" dirty="0">
                <a:solidFill>
                  <a:schemeClr val="lt1"/>
                </a:solidFill>
                <a:latin typeface="Comic Sans MS"/>
                <a:ea typeface="Comic Sans MS"/>
                <a:cs typeface="Comic Sans MS"/>
                <a:sym typeface="Comic Sans MS"/>
              </a:rPr>
              <a:t>, etc., which allow you to perform actions before and after the execution of specific handler methods.</a:t>
            </a: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These events allow you to handle user input, perform data processing, execute business logic, and control the flow of your Razor Pages application. You can override these events in your page model (</a:t>
            </a:r>
            <a:r>
              <a:rPr lang="en-US" sz="1600" dirty="0" err="1">
                <a:solidFill>
                  <a:schemeClr val="lt1"/>
                </a:solidFill>
                <a:latin typeface="Comic Sans MS"/>
                <a:ea typeface="Comic Sans MS"/>
                <a:cs typeface="Comic Sans MS"/>
                <a:sym typeface="Comic Sans MS"/>
              </a:rPr>
              <a:t>PageModel</a:t>
            </a:r>
            <a:r>
              <a:rPr lang="en-US" sz="1600" dirty="0">
                <a:solidFill>
                  <a:schemeClr val="lt1"/>
                </a:solidFill>
                <a:latin typeface="Comic Sans MS"/>
                <a:ea typeface="Comic Sans MS"/>
                <a:cs typeface="Comic Sans MS"/>
                <a:sym typeface="Comic Sans MS"/>
              </a:rPr>
              <a:t> class) to define the desired behavior for your application.</a:t>
            </a:r>
            <a:endParaRPr sz="1600" dirty="0">
              <a:solidFill>
                <a:schemeClr val="lt1"/>
              </a:solidFill>
              <a:latin typeface="Comic Sans MS"/>
              <a:ea typeface="Comic Sans MS"/>
              <a:cs typeface="Comic Sans MS"/>
              <a:sym typeface="Comic Sans MS"/>
            </a:endParaRPr>
          </a:p>
        </p:txBody>
      </p:sp>
      <p:grpSp>
        <p:nvGrpSpPr>
          <p:cNvPr id="433" name="Google Shape;433;p26"/>
          <p:cNvGrpSpPr/>
          <p:nvPr/>
        </p:nvGrpSpPr>
        <p:grpSpPr>
          <a:xfrm rot="10800000" flipH="1">
            <a:off x="6593205" y="0"/>
            <a:ext cx="5928360" cy="6634480"/>
            <a:chOff x="6095999" y="52996"/>
            <a:chExt cx="6093363" cy="6805005"/>
          </a:xfrm>
        </p:grpSpPr>
        <p:sp>
          <p:nvSpPr>
            <p:cNvPr id="434" name="Google Shape;434;p26"/>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5" name="Google Shape;435;p26"/>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6" name="Google Shape;436;p26"/>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37" name="Google Shape;437;p26"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38" name="Google Shape;438;p26"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1"/>
                                        </p:tgtEl>
                                        <p:attrNameLst>
                                          <p:attrName>style.visibility</p:attrName>
                                        </p:attrNameLst>
                                      </p:cBhvr>
                                      <p:to>
                                        <p:strVal val="visible"/>
                                      </p:to>
                                    </p:set>
                                    <p:animEffect transition="in" filter="fade">
                                      <p:cBhvr>
                                        <p:cTn id="7" dur="500"/>
                                        <p:tgtEl>
                                          <p:spTgt spid="4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2"/>
                                        </p:tgtEl>
                                        <p:attrNameLst>
                                          <p:attrName>style.visibility</p:attrName>
                                        </p:attrNameLst>
                                      </p:cBhvr>
                                      <p:to>
                                        <p:strVal val="visible"/>
                                      </p:to>
                                    </p:set>
                                    <p:animEffect transition="in" filter="fade">
                                      <p:cBhvr>
                                        <p:cTn id="12" dur="1000"/>
                                        <p:tgtEl>
                                          <p:spTgt spid="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Page Filters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44" name="Google Shape;444;p27"/>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Filters are a powerful feature that allow you to add cross-cutting concerns to your application. They enable you to execute code before or after specific stages in the Razor Pages lifecycle or before or after individual page handler methods.</a:t>
            </a:r>
            <a:endParaRPr sz="1600" dirty="0">
              <a:solidFill>
                <a:schemeClr val="lt1"/>
              </a:solidFill>
              <a:latin typeface="Comic Sans MS"/>
              <a:ea typeface="Comic Sans MS"/>
              <a:cs typeface="Comic Sans MS"/>
              <a:sym typeface="Comic Sans MS"/>
            </a:endParaRPr>
          </a:p>
        </p:txBody>
      </p:sp>
      <p:grpSp>
        <p:nvGrpSpPr>
          <p:cNvPr id="445" name="Google Shape;445;p27"/>
          <p:cNvGrpSpPr/>
          <p:nvPr/>
        </p:nvGrpSpPr>
        <p:grpSpPr>
          <a:xfrm rot="10800000" flipH="1">
            <a:off x="6593205" y="0"/>
            <a:ext cx="5928360" cy="6634480"/>
            <a:chOff x="6095999" y="52996"/>
            <a:chExt cx="6093363" cy="6805005"/>
          </a:xfrm>
        </p:grpSpPr>
        <p:sp>
          <p:nvSpPr>
            <p:cNvPr id="446" name="Google Shape;446;p27"/>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7" name="Google Shape;447;p27"/>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8" name="Google Shape;448;p27"/>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49" name="Google Shape;449;p27"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50" name="Google Shape;450;p27"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451" name="Google Shape;451;p27"/>
          <p:cNvSpPr/>
          <p:nvPr/>
        </p:nvSpPr>
        <p:spPr>
          <a:xfrm>
            <a:off x="609600" y="3589020"/>
            <a:ext cx="6373495" cy="176022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There are two types of filters in Razor Pages:</a:t>
            </a:r>
            <a:endParaRPr sz="1600" dirty="0">
              <a:solidFill>
                <a:schemeClr val="lt1"/>
              </a:solidFill>
              <a:latin typeface="Comic Sans MS"/>
              <a:ea typeface="Comic Sans MS"/>
              <a:cs typeface="Comic Sans MS"/>
              <a:sym typeface="Comic Sans MS"/>
            </a:endParaRPr>
          </a:p>
          <a:p>
            <a:pPr marL="342900" marR="0" lvl="0" indent="-342900" algn="l" rtl="0">
              <a:lnSpc>
                <a:spcPct val="140000"/>
              </a:lnSpc>
              <a:spcBef>
                <a:spcPts val="0"/>
              </a:spcBef>
              <a:spcAft>
                <a:spcPts val="0"/>
              </a:spcAft>
              <a:buClr>
                <a:schemeClr val="lt1"/>
              </a:buClr>
              <a:buSzPts val="1600"/>
              <a:buFont typeface="Arial"/>
              <a:buAutoNum type="arabicPeriod"/>
            </a:pPr>
            <a:r>
              <a:rPr lang="en-US" sz="1600" dirty="0">
                <a:solidFill>
                  <a:schemeClr val="lt1"/>
                </a:solidFill>
                <a:latin typeface="Comic Sans MS"/>
                <a:ea typeface="Comic Sans MS"/>
                <a:cs typeface="Comic Sans MS"/>
                <a:sym typeface="Comic Sans MS"/>
              </a:rPr>
              <a:t>Page Filters</a:t>
            </a:r>
            <a:endParaRPr sz="1600" dirty="0">
              <a:solidFill>
                <a:schemeClr val="lt1"/>
              </a:solidFill>
              <a:latin typeface="Comic Sans MS"/>
              <a:ea typeface="Comic Sans MS"/>
              <a:cs typeface="Comic Sans MS"/>
              <a:sym typeface="Comic Sans MS"/>
            </a:endParaRPr>
          </a:p>
          <a:p>
            <a:pPr marL="342900" marR="0" lvl="0" indent="-342900" algn="l" rtl="0">
              <a:lnSpc>
                <a:spcPct val="140000"/>
              </a:lnSpc>
              <a:spcBef>
                <a:spcPts val="0"/>
              </a:spcBef>
              <a:spcAft>
                <a:spcPts val="0"/>
              </a:spcAft>
              <a:buClr>
                <a:schemeClr val="lt1"/>
              </a:buClr>
              <a:buSzPts val="1600"/>
              <a:buFont typeface="Arial"/>
              <a:buAutoNum type="arabicPeriod"/>
            </a:pPr>
            <a:r>
              <a:rPr lang="en-US" sz="1600" dirty="0">
                <a:solidFill>
                  <a:schemeClr val="lt1"/>
                </a:solidFill>
                <a:latin typeface="Comic Sans MS"/>
                <a:ea typeface="Comic Sans MS"/>
                <a:cs typeface="Comic Sans MS"/>
                <a:sym typeface="Comic Sans MS"/>
              </a:rPr>
              <a:t>Handler Filters</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animEffect transition="in" filter="fade">
                                      <p:cBhvr>
                                        <p:cTn id="7" dur="500"/>
                                        <p:tgtEl>
                                          <p:spTgt spid="4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4"/>
                                        </p:tgtEl>
                                        <p:attrNameLst>
                                          <p:attrName>style.visibility</p:attrName>
                                        </p:attrNameLst>
                                      </p:cBhvr>
                                      <p:to>
                                        <p:strVal val="visible"/>
                                      </p:to>
                                    </p:set>
                                    <p:animEffect transition="in" filter="fade">
                                      <p:cBhvr>
                                        <p:cTn id="12" dur="1000"/>
                                        <p:tgtEl>
                                          <p:spTgt spid="4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1"/>
                                        </p:tgtEl>
                                        <p:attrNameLst>
                                          <p:attrName>style.visibility</p:attrName>
                                        </p:attrNameLst>
                                      </p:cBhvr>
                                      <p:to>
                                        <p:strVal val="visible"/>
                                      </p:to>
                                    </p:set>
                                    <p:animEffect transition="in" filter="fade">
                                      <p:cBhvr>
                                        <p:cTn id="17" dur="10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8"/>
          <p:cNvSpPr/>
          <p:nvPr/>
        </p:nvSpPr>
        <p:spPr>
          <a:xfrm>
            <a:off x="609600" y="3371850"/>
            <a:ext cx="6391910" cy="229997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2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Handler Filters: These filters are applied at the individual page handler method level and allow you to perform actions before or after a specific handler method is executed. They are defined using attributes and can be used to handle scenarios like input validation, model binding, logging, and so on.</a:t>
            </a:r>
            <a:endParaRPr sz="1600" dirty="0">
              <a:solidFill>
                <a:schemeClr val="lt1"/>
              </a:solidFill>
              <a:latin typeface="Comic Sans MS"/>
              <a:ea typeface="Comic Sans MS"/>
              <a:cs typeface="Comic Sans MS"/>
              <a:sym typeface="Comic Sans MS"/>
            </a:endParaRPr>
          </a:p>
          <a:p>
            <a:pPr marL="0" marR="0" lvl="0" indent="0" algn="l"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l"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p:txBody>
      </p:sp>
      <p:sp>
        <p:nvSpPr>
          <p:cNvPr id="457" name="Google Shape;457;p2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Page Filters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58" name="Google Shape;458;p28"/>
          <p:cNvSpPr/>
          <p:nvPr/>
        </p:nvSpPr>
        <p:spPr>
          <a:xfrm>
            <a:off x="609599" y="899160"/>
            <a:ext cx="6391275" cy="212344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a:p>
            <a:pPr marL="0" marR="0" lvl="0" indent="0" algn="just" rtl="0">
              <a:lnSpc>
                <a:spcPct val="12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Page Filters: These filters are applied at the page level and can be used to perform actions before or after the entire page is executed. They are defined using the </a:t>
            </a:r>
            <a:r>
              <a:rPr lang="en-US" sz="1600" dirty="0" err="1">
                <a:solidFill>
                  <a:schemeClr val="lt1"/>
                </a:solidFill>
                <a:latin typeface="Comic Sans MS"/>
                <a:ea typeface="Comic Sans MS"/>
                <a:cs typeface="Comic Sans MS"/>
                <a:sym typeface="Comic Sans MS"/>
              </a:rPr>
              <a:t>PageModel</a:t>
            </a:r>
            <a:r>
              <a:rPr lang="en-US" sz="1600" dirty="0">
                <a:solidFill>
                  <a:schemeClr val="lt1"/>
                </a:solidFill>
                <a:latin typeface="Comic Sans MS"/>
                <a:ea typeface="Comic Sans MS"/>
                <a:cs typeface="Comic Sans MS"/>
                <a:sym typeface="Comic Sans MS"/>
              </a:rPr>
              <a:t> base class and can be used to handle scenarios like authentication, authorization, logging, caching, and so on.</a:t>
            </a:r>
            <a:endParaRPr sz="1600" dirty="0">
              <a:solidFill>
                <a:schemeClr val="lt1"/>
              </a:solidFill>
              <a:latin typeface="Comic Sans MS"/>
              <a:ea typeface="Comic Sans MS"/>
              <a:cs typeface="Comic Sans MS"/>
              <a:sym typeface="Comic Sans MS"/>
            </a:endParaRPr>
          </a:p>
          <a:p>
            <a:pPr marL="0" marR="0" lvl="0" indent="0" algn="just" rtl="0">
              <a:lnSpc>
                <a:spcPct val="120000"/>
              </a:lnSpc>
              <a:spcBef>
                <a:spcPts val="0"/>
              </a:spcBef>
              <a:spcAft>
                <a:spcPts val="0"/>
              </a:spcAft>
              <a:buClr>
                <a:schemeClr val="dk1"/>
              </a:buClr>
              <a:buSzPts val="1600"/>
              <a:buFont typeface="Arial"/>
              <a:buNone/>
            </a:pPr>
            <a:endParaRPr sz="1600" dirty="0">
              <a:solidFill>
                <a:schemeClr val="lt1"/>
              </a:solidFill>
              <a:latin typeface="Comic Sans MS"/>
              <a:ea typeface="Comic Sans MS"/>
              <a:cs typeface="Comic Sans MS"/>
              <a:sym typeface="Comic Sans MS"/>
            </a:endParaRPr>
          </a:p>
        </p:txBody>
      </p:sp>
      <p:grpSp>
        <p:nvGrpSpPr>
          <p:cNvPr id="459" name="Google Shape;459;p28"/>
          <p:cNvGrpSpPr/>
          <p:nvPr/>
        </p:nvGrpSpPr>
        <p:grpSpPr>
          <a:xfrm rot="10800000" flipH="1">
            <a:off x="6572250" y="0"/>
            <a:ext cx="5928360" cy="6634480"/>
            <a:chOff x="6095999" y="52996"/>
            <a:chExt cx="6093363" cy="6805005"/>
          </a:xfrm>
        </p:grpSpPr>
        <p:sp>
          <p:nvSpPr>
            <p:cNvPr id="460" name="Google Shape;460;p28"/>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1" name="Google Shape;461;p28"/>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2" name="Google Shape;462;p28"/>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63" name="Google Shape;463;p28"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64" name="Google Shape;464;p28"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7"/>
                                        </p:tgtEl>
                                        <p:attrNameLst>
                                          <p:attrName>style.visibility</p:attrName>
                                        </p:attrNameLst>
                                      </p:cBhvr>
                                      <p:to>
                                        <p:strVal val="visible"/>
                                      </p:to>
                                    </p:set>
                                    <p:animEffect transition="in" filter="fade">
                                      <p:cBhvr>
                                        <p:cTn id="7" dur="500"/>
                                        <p:tgtEl>
                                          <p:spTgt spid="4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8"/>
                                        </p:tgtEl>
                                        <p:attrNameLst>
                                          <p:attrName>style.visibility</p:attrName>
                                        </p:attrNameLst>
                                      </p:cBhvr>
                                      <p:to>
                                        <p:strVal val="visible"/>
                                      </p:to>
                                    </p:set>
                                    <p:animEffect transition="in" filter="fade">
                                      <p:cBhvr>
                                        <p:cTn id="12" dur="1000"/>
                                        <p:tgtEl>
                                          <p:spTgt spid="4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6"/>
                                        </p:tgtEl>
                                        <p:attrNameLst>
                                          <p:attrName>style.visibility</p:attrName>
                                        </p:attrNameLst>
                                      </p:cBhvr>
                                      <p:to>
                                        <p:strVal val="visible"/>
                                      </p:to>
                                    </p:set>
                                    <p:animEffect transition="in" filter="fade">
                                      <p:cBhvr>
                                        <p:cTn id="17" dur="10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Razor Page Validations</a:t>
            </a:r>
            <a:r>
              <a:rPr lang="en-US">
                <a:solidFill>
                  <a:srgbClr val="012D86"/>
                </a:solidFill>
                <a:latin typeface="Bell MT"/>
                <a:ea typeface="Bell MT"/>
                <a:cs typeface="Bell MT"/>
                <a:sym typeface="Bell MT"/>
              </a:rPr>
              <a:t/>
            </a:r>
            <a:br>
              <a:rPr lang="en-US">
                <a:solidFill>
                  <a:srgbClr val="012D86"/>
                </a:solidFill>
                <a:latin typeface="Bell MT"/>
                <a:ea typeface="Bell MT"/>
                <a:cs typeface="Bell MT"/>
                <a:sym typeface="Bell MT"/>
              </a:rPr>
            </a:br>
            <a:endParaRPr>
              <a:solidFill>
                <a:srgbClr val="012D86"/>
              </a:solidFill>
              <a:latin typeface="Bell MT"/>
              <a:ea typeface="Bell MT"/>
              <a:cs typeface="Bell MT"/>
              <a:sym typeface="Bell MT"/>
            </a:endParaRPr>
          </a:p>
        </p:txBody>
      </p:sp>
      <p:sp>
        <p:nvSpPr>
          <p:cNvPr id="470" name="Google Shape;470;p29"/>
          <p:cNvSpPr/>
          <p:nvPr/>
        </p:nvSpPr>
        <p:spPr>
          <a:xfrm>
            <a:off x="532765" y="1417955"/>
            <a:ext cx="5916295" cy="154559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In Razor Pages, you can perform validations on user input to ensure that the data entered by the user meets certain criteria or constraints. </a:t>
            </a:r>
            <a:endParaRPr sz="1600" dirty="0">
              <a:solidFill>
                <a:schemeClr val="lt1"/>
              </a:solidFill>
              <a:latin typeface="Comic Sans MS"/>
              <a:ea typeface="Comic Sans MS"/>
              <a:cs typeface="Comic Sans MS"/>
              <a:sym typeface="Comic Sans MS"/>
            </a:endParaRPr>
          </a:p>
        </p:txBody>
      </p:sp>
      <p:grpSp>
        <p:nvGrpSpPr>
          <p:cNvPr id="471" name="Google Shape;471;p29"/>
          <p:cNvGrpSpPr/>
          <p:nvPr/>
        </p:nvGrpSpPr>
        <p:grpSpPr>
          <a:xfrm rot="10800000" flipH="1">
            <a:off x="6572250" y="0"/>
            <a:ext cx="5928360" cy="6634480"/>
            <a:chOff x="6095999" y="52996"/>
            <a:chExt cx="6093363" cy="6805005"/>
          </a:xfrm>
        </p:grpSpPr>
        <p:sp>
          <p:nvSpPr>
            <p:cNvPr id="472" name="Google Shape;472;p29"/>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3" name="Google Shape;473;p29"/>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4" name="Google Shape;474;p29"/>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75" name="Google Shape;475;p29" descr="Web Design"/>
          <p:cNvPicPr preferRelativeResize="0">
            <a:picLocks noGrp="1"/>
          </p:cNvPicPr>
          <p:nvPr>
            <p:ph type="body" idx="1"/>
          </p:nvPr>
        </p:nvPicPr>
        <p:blipFill rotWithShape="1">
          <a:blip r:embed="rId3">
            <a:alphaModFix/>
          </a:blip>
          <a:srcRect/>
          <a:stretch/>
        </p:blipFill>
        <p:spPr>
          <a:xfrm>
            <a:off x="7687945" y="1165860"/>
            <a:ext cx="4566285" cy="3713480"/>
          </a:xfrm>
          <a:prstGeom prst="rect">
            <a:avLst/>
          </a:prstGeom>
          <a:noFill/>
          <a:ln>
            <a:noFill/>
          </a:ln>
        </p:spPr>
      </p:pic>
      <p:pic>
        <p:nvPicPr>
          <p:cNvPr id="476" name="Google Shape;476;p29" descr="Aitrich-Logo-Transparent-BG-2048x671"/>
          <p:cNvPicPr preferRelativeResize="0"/>
          <p:nvPr/>
        </p:nvPicPr>
        <p:blipFill rotWithShape="1">
          <a:blip r:embed="rId4">
            <a:alphaModFix/>
          </a:blip>
          <a:srcRect/>
          <a:stretch/>
        </p:blipFill>
        <p:spPr>
          <a:xfrm>
            <a:off x="365125" y="6527165"/>
            <a:ext cx="1166495" cy="167005"/>
          </a:xfrm>
          <a:prstGeom prst="rect">
            <a:avLst/>
          </a:prstGeom>
          <a:noFill/>
          <a:ln>
            <a:noFill/>
          </a:ln>
        </p:spPr>
      </p:pic>
      <p:sp>
        <p:nvSpPr>
          <p:cNvPr id="477" name="Google Shape;477;p29"/>
          <p:cNvSpPr/>
          <p:nvPr/>
        </p:nvSpPr>
        <p:spPr>
          <a:xfrm>
            <a:off x="532765" y="3287395"/>
            <a:ext cx="5916295" cy="105473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a:buNone/>
            </a:pPr>
            <a:r>
              <a:rPr lang="en-US" sz="1600" dirty="0" smtClean="0">
                <a:solidFill>
                  <a:schemeClr val="lt1"/>
                </a:solidFill>
                <a:latin typeface="Comic Sans MS"/>
                <a:ea typeface="Comic Sans MS"/>
                <a:cs typeface="Comic Sans MS"/>
                <a:sym typeface="Comic Sans MS"/>
              </a:rPr>
              <a:t>There are various ways to implement validations in Razor Pages, including client-side and server-side validations.</a:t>
            </a:r>
            <a:endParaRPr sz="1600" dirty="0">
              <a:solidFill>
                <a:schemeClr val="lt1"/>
              </a:solidFill>
              <a:latin typeface="Comic Sans MS"/>
              <a:ea typeface="Comic Sans MS"/>
              <a:cs typeface="Comic Sans MS"/>
              <a:sym typeface="Comic Sans MS"/>
            </a:endParaRPr>
          </a:p>
        </p:txBody>
      </p:sp>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9"/>
                                        </p:tgtEl>
                                        <p:attrNameLst>
                                          <p:attrName>style.visibility</p:attrName>
                                        </p:attrNameLst>
                                      </p:cBhvr>
                                      <p:to>
                                        <p:strVal val="visible"/>
                                      </p:to>
                                    </p:set>
                                    <p:animEffect transition="in" filter="fade">
                                      <p:cBhvr>
                                        <p:cTn id="7" dur="500"/>
                                        <p:tgtEl>
                                          <p:spTgt spid="4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0"/>
                                        </p:tgtEl>
                                        <p:attrNameLst>
                                          <p:attrName>style.visibility</p:attrName>
                                        </p:attrNameLst>
                                      </p:cBhvr>
                                      <p:to>
                                        <p:strVal val="visible"/>
                                      </p:to>
                                    </p:set>
                                    <p:animEffect transition="in" filter="fade">
                                      <p:cBhvr>
                                        <p:cTn id="12" dur="1000"/>
                                        <p:tgtEl>
                                          <p:spTgt spid="4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7"/>
                                        </p:tgtEl>
                                        <p:attrNameLst>
                                          <p:attrName>style.visibility</p:attrName>
                                        </p:attrNameLst>
                                      </p:cBhvr>
                                      <p:to>
                                        <p:strVal val="visible"/>
                                      </p:to>
                                    </p:set>
                                    <p:animEffect transition="in" filter="fade">
                                      <p:cBhvr>
                                        <p:cTn id="17" dur="1000"/>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0"/>
          <p:cNvSpPr/>
          <p:nvPr/>
        </p:nvSpPr>
        <p:spPr>
          <a:xfrm>
            <a:off x="760095" y="3571875"/>
            <a:ext cx="7004685" cy="164719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&lt;input asp-for="Name" data-</a:t>
            </a:r>
            <a:r>
              <a:rPr lang="en-US" sz="1200" dirty="0" err="1">
                <a:solidFill>
                  <a:srgbClr val="002060"/>
                </a:solidFill>
                <a:latin typeface="Arial"/>
                <a:ea typeface="Arial"/>
                <a:cs typeface="Arial"/>
                <a:sym typeface="Arial"/>
              </a:rPr>
              <a:t>val</a:t>
            </a:r>
            <a:r>
              <a:rPr lang="en-US" sz="1200" dirty="0">
                <a:solidFill>
                  <a:srgbClr val="002060"/>
                </a:solidFill>
                <a:latin typeface="Arial"/>
                <a:ea typeface="Arial"/>
                <a:cs typeface="Arial"/>
                <a:sym typeface="Arial"/>
              </a:rPr>
              <a:t>="true" data-</a:t>
            </a:r>
            <a:r>
              <a:rPr lang="en-US" sz="1200" dirty="0" err="1">
                <a:solidFill>
                  <a:srgbClr val="002060"/>
                </a:solidFill>
                <a:latin typeface="Arial"/>
                <a:ea typeface="Arial"/>
                <a:cs typeface="Arial"/>
                <a:sym typeface="Arial"/>
              </a:rPr>
              <a:t>val</a:t>
            </a:r>
            <a:r>
              <a:rPr lang="en-US" sz="1200" dirty="0">
                <a:solidFill>
                  <a:srgbClr val="002060"/>
                </a:solidFill>
                <a:latin typeface="Arial"/>
                <a:ea typeface="Arial"/>
                <a:cs typeface="Arial"/>
                <a:sym typeface="Arial"/>
              </a:rPr>
              <a:t>-required="The Name field is required" /&gt;</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&lt;span asp-validation-for="Name"&gt;&lt;/span&gt;</a:t>
            </a:r>
            <a:endParaRPr sz="1200" dirty="0">
              <a:solidFill>
                <a:srgbClr val="002060"/>
              </a:solidFill>
              <a:latin typeface="Arial"/>
              <a:ea typeface="Arial"/>
              <a:cs typeface="Arial"/>
              <a:sym typeface="Arial"/>
            </a:endParaRPr>
          </a:p>
        </p:txBody>
      </p:sp>
      <p:sp>
        <p:nvSpPr>
          <p:cNvPr id="483" name="Google Shape;483;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sp>
        <p:nvSpPr>
          <p:cNvPr id="484" name="Google Shape;484;p30"/>
          <p:cNvSpPr/>
          <p:nvPr/>
        </p:nvSpPr>
        <p:spPr>
          <a:xfrm>
            <a:off x="760095" y="1417955"/>
            <a:ext cx="5163185" cy="201104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Required Fields: You can use the data-</a:t>
            </a:r>
            <a:r>
              <a:rPr lang="en-US" sz="1600" dirty="0" err="1">
                <a:solidFill>
                  <a:schemeClr val="lt1"/>
                </a:solidFill>
                <a:latin typeface="Comic Sans MS"/>
                <a:ea typeface="Comic Sans MS"/>
                <a:cs typeface="Comic Sans MS"/>
                <a:sym typeface="Comic Sans MS"/>
              </a:rPr>
              <a:t>val</a:t>
            </a:r>
            <a:r>
              <a:rPr lang="en-US" sz="1600" dirty="0">
                <a:solidFill>
                  <a:schemeClr val="lt1"/>
                </a:solidFill>
                <a:latin typeface="Comic Sans MS"/>
                <a:ea typeface="Comic Sans MS"/>
                <a:cs typeface="Comic Sans MS"/>
                <a:sym typeface="Comic Sans MS"/>
              </a:rPr>
              <a:t>-required and data-</a:t>
            </a:r>
            <a:r>
              <a:rPr lang="en-US" sz="1600" dirty="0" err="1">
                <a:solidFill>
                  <a:schemeClr val="lt1"/>
                </a:solidFill>
                <a:latin typeface="Comic Sans MS"/>
                <a:ea typeface="Comic Sans MS"/>
                <a:cs typeface="Comic Sans MS"/>
                <a:sym typeface="Comic Sans MS"/>
              </a:rPr>
              <a:t>val</a:t>
            </a:r>
            <a:r>
              <a:rPr lang="en-US" sz="1600" dirty="0">
                <a:solidFill>
                  <a:schemeClr val="lt1"/>
                </a:solidFill>
                <a:latin typeface="Comic Sans MS"/>
                <a:ea typeface="Comic Sans MS"/>
                <a:cs typeface="Comic Sans MS"/>
                <a:sym typeface="Comic Sans MS"/>
              </a:rPr>
              <a:t> attributes to mark fields as required. Razor Pages automatically generates the necessary JavaScript validation code based on these attributes.</a:t>
            </a:r>
            <a:endParaRPr sz="1600" dirty="0">
              <a:solidFill>
                <a:schemeClr val="lt1"/>
              </a:solidFill>
              <a:latin typeface="Comic Sans MS"/>
              <a:ea typeface="Comic Sans MS"/>
              <a:cs typeface="Comic Sans MS"/>
              <a:sym typeface="Comic Sans MS"/>
            </a:endParaRPr>
          </a:p>
        </p:txBody>
      </p:sp>
      <p:pic>
        <p:nvPicPr>
          <p:cNvPr id="485" name="Google Shape;485;p30"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grpSp>
        <p:nvGrpSpPr>
          <p:cNvPr id="486" name="Google Shape;486;p30"/>
          <p:cNvGrpSpPr/>
          <p:nvPr/>
        </p:nvGrpSpPr>
        <p:grpSpPr>
          <a:xfrm rot="10800000" flipH="1">
            <a:off x="6582410" y="635"/>
            <a:ext cx="5928360" cy="6857365"/>
            <a:chOff x="6095999" y="52996"/>
            <a:chExt cx="6093363" cy="6805005"/>
          </a:xfrm>
        </p:grpSpPr>
        <p:sp>
          <p:nvSpPr>
            <p:cNvPr id="487" name="Google Shape;487;p30"/>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8" name="Google Shape;488;p30"/>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9" name="Google Shape;489;p30"/>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490" name="Google Shape;490;p30" descr="Web Design"/>
          <p:cNvPicPr preferRelativeResize="0">
            <a:picLocks noGrp="1"/>
          </p:cNvPicPr>
          <p:nvPr>
            <p:ph type="body" idx="1"/>
          </p:nvPr>
        </p:nvPicPr>
        <p:blipFill rotWithShape="1">
          <a:blip r:embed="rId4">
            <a:alphaModFix/>
          </a:blip>
          <a:srcRect/>
          <a:stretch/>
        </p:blipFill>
        <p:spPr>
          <a:xfrm>
            <a:off x="7687945" y="1165860"/>
            <a:ext cx="4566285" cy="3713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3"/>
                                        </p:tgtEl>
                                        <p:attrNameLst>
                                          <p:attrName>style.visibility</p:attrName>
                                        </p:attrNameLst>
                                      </p:cBhvr>
                                      <p:to>
                                        <p:strVal val="visible"/>
                                      </p:to>
                                    </p:set>
                                    <p:animEffect transition="in" filter="fade">
                                      <p:cBhvr>
                                        <p:cTn id="7" dur="500"/>
                                        <p:tgtEl>
                                          <p:spTgt spid="4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4"/>
                                        </p:tgtEl>
                                        <p:attrNameLst>
                                          <p:attrName>style.visibility</p:attrName>
                                        </p:attrNameLst>
                                      </p:cBhvr>
                                      <p:to>
                                        <p:strVal val="visible"/>
                                      </p:to>
                                    </p:set>
                                    <p:animEffect transition="in" filter="fade">
                                      <p:cBhvr>
                                        <p:cTn id="12" dur="1000"/>
                                        <p:tgtEl>
                                          <p:spTgt spid="4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2"/>
                                        </p:tgtEl>
                                        <p:attrNameLst>
                                          <p:attrName>style.visibility</p:attrName>
                                        </p:attrNameLst>
                                      </p:cBhvr>
                                      <p:to>
                                        <p:strVal val="visible"/>
                                      </p:to>
                                    </p:set>
                                    <p:animEffect transition="in" filter="fade">
                                      <p:cBhvr>
                                        <p:cTn id="17" dur="1000"/>
                                        <p:tgtEl>
                                          <p:spTgt spid="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1"/>
          <p:cNvSpPr/>
          <p:nvPr/>
        </p:nvSpPr>
        <p:spPr>
          <a:xfrm>
            <a:off x="1971040" y="3612515"/>
            <a:ext cx="5280025" cy="22872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public class </a:t>
            </a:r>
            <a:r>
              <a:rPr lang="en-US" sz="1200" dirty="0" err="1">
                <a:solidFill>
                  <a:srgbClr val="002060"/>
                </a:solidFill>
                <a:latin typeface="Arial"/>
                <a:ea typeface="Arial"/>
                <a:cs typeface="Arial"/>
                <a:sym typeface="Arial"/>
              </a:rPr>
              <a:t>MyModel</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    [Required]</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    public string Name { get; set; }</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1200"/>
              <a:buFont typeface="Arial"/>
              <a:buNone/>
            </a:pP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    [Range(18, 99)]</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    public </a:t>
            </a:r>
            <a:r>
              <a:rPr lang="en-US" sz="1200" dirty="0" err="1">
                <a:solidFill>
                  <a:srgbClr val="002060"/>
                </a:solidFill>
                <a:latin typeface="Arial"/>
                <a:ea typeface="Arial"/>
                <a:cs typeface="Arial"/>
                <a:sym typeface="Arial"/>
              </a:rPr>
              <a:t>int</a:t>
            </a:r>
            <a:r>
              <a:rPr lang="en-US" sz="1200" dirty="0">
                <a:solidFill>
                  <a:srgbClr val="002060"/>
                </a:solidFill>
                <a:latin typeface="Arial"/>
                <a:ea typeface="Arial"/>
                <a:cs typeface="Arial"/>
                <a:sym typeface="Arial"/>
              </a:rPr>
              <a:t> Age { get; set; }</a:t>
            </a:r>
            <a:endParaRPr sz="12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200"/>
              <a:buFont typeface="Arial"/>
              <a:buNone/>
            </a:pPr>
            <a:r>
              <a:rPr lang="en-US" sz="1200" dirty="0">
                <a:solidFill>
                  <a:srgbClr val="002060"/>
                </a:solidFill>
                <a:latin typeface="Arial"/>
                <a:ea typeface="Arial"/>
                <a:cs typeface="Arial"/>
                <a:sym typeface="Arial"/>
              </a:rPr>
              <a:t>}</a:t>
            </a:r>
            <a:endParaRPr sz="1200" dirty="0">
              <a:solidFill>
                <a:srgbClr val="002060"/>
              </a:solidFill>
              <a:latin typeface="Arial"/>
              <a:ea typeface="Arial"/>
              <a:cs typeface="Arial"/>
              <a:sym typeface="Arial"/>
            </a:endParaRPr>
          </a:p>
        </p:txBody>
      </p:sp>
      <p:sp>
        <p:nvSpPr>
          <p:cNvPr id="496" name="Google Shape;496;p3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Client Side Validation</a:t>
            </a:r>
            <a:endParaRPr>
              <a:solidFill>
                <a:srgbClr val="012D86"/>
              </a:solidFill>
              <a:latin typeface="Bell MT"/>
              <a:ea typeface="Bell MT"/>
              <a:cs typeface="Bell MT"/>
              <a:sym typeface="Bell MT"/>
            </a:endParaRPr>
          </a:p>
        </p:txBody>
      </p:sp>
      <p:pic>
        <p:nvPicPr>
          <p:cNvPr id="497" name="Google Shape;497;p31"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sp>
        <p:nvSpPr>
          <p:cNvPr id="498" name="Google Shape;498;p31"/>
          <p:cNvSpPr/>
          <p:nvPr/>
        </p:nvSpPr>
        <p:spPr>
          <a:xfrm>
            <a:off x="770255" y="1417955"/>
            <a:ext cx="5163185" cy="201041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Data Type Validations: You can use data annotations on your model properties to specify the expected data types, such as [Required], [</a:t>
            </a:r>
            <a:r>
              <a:rPr lang="en-US" sz="1600" dirty="0" err="1">
                <a:solidFill>
                  <a:schemeClr val="lt1"/>
                </a:solidFill>
                <a:latin typeface="Comic Sans MS"/>
                <a:ea typeface="Comic Sans MS"/>
                <a:cs typeface="Comic Sans MS"/>
                <a:sym typeface="Comic Sans MS"/>
              </a:rPr>
              <a:t>StringLength</a:t>
            </a:r>
            <a:r>
              <a:rPr lang="en-US" sz="1600" dirty="0">
                <a:solidFill>
                  <a:schemeClr val="lt1"/>
                </a:solidFill>
                <a:latin typeface="Comic Sans MS"/>
                <a:ea typeface="Comic Sans MS"/>
                <a:cs typeface="Comic Sans MS"/>
                <a:sym typeface="Comic Sans MS"/>
              </a:rPr>
              <a:t>], [Range], etc.</a:t>
            </a:r>
            <a:endParaRPr sz="1600" dirty="0">
              <a:solidFill>
                <a:schemeClr val="lt1"/>
              </a:solidFill>
              <a:latin typeface="Comic Sans MS"/>
              <a:ea typeface="Comic Sans MS"/>
              <a:cs typeface="Comic Sans MS"/>
              <a:sym typeface="Comic Sans MS"/>
            </a:endParaRPr>
          </a:p>
        </p:txBody>
      </p:sp>
      <p:grpSp>
        <p:nvGrpSpPr>
          <p:cNvPr id="499" name="Google Shape;499;p31"/>
          <p:cNvGrpSpPr/>
          <p:nvPr/>
        </p:nvGrpSpPr>
        <p:grpSpPr>
          <a:xfrm rot="10800000" flipH="1">
            <a:off x="6582410" y="635"/>
            <a:ext cx="5928360" cy="6857365"/>
            <a:chOff x="6095999" y="52996"/>
            <a:chExt cx="6093363" cy="6805005"/>
          </a:xfrm>
        </p:grpSpPr>
        <p:sp>
          <p:nvSpPr>
            <p:cNvPr id="500" name="Google Shape;500;p31"/>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1" name="Google Shape;501;p31"/>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2" name="Google Shape;502;p31"/>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503" name="Google Shape;503;p31" descr="Web Design"/>
          <p:cNvPicPr preferRelativeResize="0">
            <a:picLocks noGrp="1"/>
          </p:cNvPicPr>
          <p:nvPr>
            <p:ph type="body" idx="1"/>
          </p:nvPr>
        </p:nvPicPr>
        <p:blipFill rotWithShape="1">
          <a:blip r:embed="rId4">
            <a:alphaModFix/>
          </a:blip>
          <a:srcRect/>
          <a:stretch/>
        </p:blipFill>
        <p:spPr>
          <a:xfrm>
            <a:off x="7687945" y="1165860"/>
            <a:ext cx="4566285" cy="3713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6"/>
                                        </p:tgtEl>
                                        <p:attrNameLst>
                                          <p:attrName>style.visibility</p:attrName>
                                        </p:attrNameLst>
                                      </p:cBhvr>
                                      <p:to>
                                        <p:strVal val="visible"/>
                                      </p:to>
                                    </p:set>
                                    <p:animEffect transition="in" filter="fade">
                                      <p:cBhvr>
                                        <p:cTn id="7" dur="500"/>
                                        <p:tgtEl>
                                          <p:spTgt spid="4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98"/>
                                        </p:tgtEl>
                                        <p:attrNameLst>
                                          <p:attrName>style.visibility</p:attrName>
                                        </p:attrNameLst>
                                      </p:cBhvr>
                                      <p:to>
                                        <p:strVal val="visible"/>
                                      </p:to>
                                    </p:set>
                                    <p:animEffect transition="in" filter="fade">
                                      <p:cBhvr>
                                        <p:cTn id="12" dur="1000"/>
                                        <p:tgtEl>
                                          <p:spTgt spid="4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95"/>
                                        </p:tgtEl>
                                        <p:attrNameLst>
                                          <p:attrName>style.visibility</p:attrName>
                                        </p:attrNameLst>
                                      </p:cBhvr>
                                      <p:to>
                                        <p:strVal val="visible"/>
                                      </p:to>
                                    </p:set>
                                    <p:animEffect transition="in" filter="fade">
                                      <p:cBhvr>
                                        <p:cTn id="17" dur="1000"/>
                                        <p:tgtEl>
                                          <p:spTgt spid="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2"/>
          <p:cNvSpPr/>
          <p:nvPr/>
        </p:nvSpPr>
        <p:spPr>
          <a:xfrm>
            <a:off x="1971040" y="3612515"/>
            <a:ext cx="5280025" cy="22872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public </a:t>
            </a:r>
            <a:r>
              <a:rPr lang="en-US" sz="1000" dirty="0" err="1">
                <a:solidFill>
                  <a:srgbClr val="002060"/>
                </a:solidFill>
                <a:latin typeface="Arial"/>
                <a:ea typeface="Arial"/>
                <a:cs typeface="Arial"/>
                <a:sym typeface="Arial"/>
              </a:rPr>
              <a:t>IActionResult</a:t>
            </a:r>
            <a:r>
              <a:rPr lang="en-US" sz="1000" dirty="0">
                <a:solidFill>
                  <a:srgbClr val="002060"/>
                </a:solidFill>
                <a:latin typeface="Arial"/>
                <a:ea typeface="Arial"/>
                <a:cs typeface="Arial"/>
                <a:sym typeface="Arial"/>
              </a:rPr>
              <a:t> </a:t>
            </a:r>
            <a:r>
              <a:rPr lang="en-US" sz="1000" dirty="0" err="1">
                <a:solidFill>
                  <a:srgbClr val="002060"/>
                </a:solidFill>
                <a:latin typeface="Arial"/>
                <a:ea typeface="Arial"/>
                <a:cs typeface="Arial"/>
                <a:sym typeface="Arial"/>
              </a:rPr>
              <a:t>OnPost</a:t>
            </a: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if (!</a:t>
            </a:r>
            <a:r>
              <a:rPr lang="en-US" sz="1000" dirty="0" err="1">
                <a:solidFill>
                  <a:srgbClr val="002060"/>
                </a:solidFill>
                <a:latin typeface="Arial"/>
                <a:ea typeface="Arial"/>
                <a:cs typeface="Arial"/>
                <a:sym typeface="Arial"/>
              </a:rPr>
              <a:t>ModelState.IsValid</a:t>
            </a: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return Page();</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1000"/>
              <a:buFont typeface="Arial"/>
              <a:buNone/>
            </a:pP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 Process valid data</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    return </a:t>
            </a:r>
            <a:r>
              <a:rPr lang="en-US" sz="1000" dirty="0" err="1">
                <a:solidFill>
                  <a:srgbClr val="002060"/>
                </a:solidFill>
                <a:latin typeface="Arial"/>
                <a:ea typeface="Arial"/>
                <a:cs typeface="Arial"/>
                <a:sym typeface="Arial"/>
              </a:rPr>
              <a:t>RedirectToPage</a:t>
            </a:r>
            <a:r>
              <a:rPr lang="en-US" sz="1000" dirty="0">
                <a:solidFill>
                  <a:srgbClr val="002060"/>
                </a:solidFill>
                <a:latin typeface="Arial"/>
                <a:ea typeface="Arial"/>
                <a:cs typeface="Arial"/>
                <a:sym typeface="Arial"/>
              </a:rPr>
              <a:t>("Success");</a:t>
            </a:r>
            <a:endParaRPr sz="10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1000"/>
              <a:buFont typeface="Arial"/>
              <a:buNone/>
            </a:pPr>
            <a:r>
              <a:rPr lang="en-US" sz="1000" dirty="0">
                <a:solidFill>
                  <a:srgbClr val="002060"/>
                </a:solidFill>
                <a:latin typeface="Arial"/>
                <a:ea typeface="Arial"/>
                <a:cs typeface="Arial"/>
                <a:sym typeface="Arial"/>
              </a:rPr>
              <a:t>}</a:t>
            </a:r>
            <a:endParaRPr sz="1000" dirty="0">
              <a:solidFill>
                <a:srgbClr val="002060"/>
              </a:solidFill>
              <a:latin typeface="Arial"/>
              <a:ea typeface="Arial"/>
              <a:cs typeface="Arial"/>
              <a:sym typeface="Arial"/>
            </a:endParaRPr>
          </a:p>
        </p:txBody>
      </p:sp>
      <p:sp>
        <p:nvSpPr>
          <p:cNvPr id="509" name="Google Shape;509;p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sp>
        <p:nvSpPr>
          <p:cNvPr id="510" name="Google Shape;510;p32"/>
          <p:cNvSpPr/>
          <p:nvPr/>
        </p:nvSpPr>
        <p:spPr>
          <a:xfrm>
            <a:off x="760095" y="1417955"/>
            <a:ext cx="5296535" cy="201104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a:buNone/>
            </a:pPr>
            <a:r>
              <a:rPr lang="en-US" sz="1600" dirty="0" err="1">
                <a:solidFill>
                  <a:schemeClr val="lt1"/>
                </a:solidFill>
                <a:latin typeface="Comic Sans MS"/>
                <a:ea typeface="Comic Sans MS"/>
                <a:cs typeface="Comic Sans MS"/>
                <a:sym typeface="Comic Sans MS"/>
              </a:rPr>
              <a:t>ModelState</a:t>
            </a:r>
            <a:r>
              <a:rPr lang="en-US" sz="1600" dirty="0">
                <a:solidFill>
                  <a:schemeClr val="lt1"/>
                </a:solidFill>
                <a:latin typeface="Comic Sans MS"/>
                <a:ea typeface="Comic Sans MS"/>
                <a:cs typeface="Comic Sans MS"/>
                <a:sym typeface="Comic Sans MS"/>
              </a:rPr>
              <a:t>: Razor Pages automatically validates the model state during model binding. You can check for validation errors using the </a:t>
            </a:r>
            <a:r>
              <a:rPr lang="en-US" sz="1600" dirty="0" err="1">
                <a:solidFill>
                  <a:schemeClr val="lt1"/>
                </a:solidFill>
                <a:latin typeface="Comic Sans MS"/>
                <a:ea typeface="Comic Sans MS"/>
                <a:cs typeface="Comic Sans MS"/>
                <a:sym typeface="Comic Sans MS"/>
              </a:rPr>
              <a:t>ModelState.IsValid</a:t>
            </a:r>
            <a:r>
              <a:rPr lang="en-US" sz="1600" dirty="0">
                <a:solidFill>
                  <a:schemeClr val="lt1"/>
                </a:solidFill>
                <a:latin typeface="Comic Sans MS"/>
                <a:ea typeface="Comic Sans MS"/>
                <a:cs typeface="Comic Sans MS"/>
                <a:sym typeface="Comic Sans MS"/>
              </a:rPr>
              <a:t> property and display error messages in your Razor Pages.</a:t>
            </a:r>
            <a:endParaRPr sz="1600" dirty="0">
              <a:solidFill>
                <a:schemeClr val="lt1"/>
              </a:solidFill>
              <a:latin typeface="Comic Sans MS"/>
              <a:ea typeface="Comic Sans MS"/>
              <a:cs typeface="Comic Sans MS"/>
              <a:sym typeface="Comic Sans MS"/>
            </a:endParaRPr>
          </a:p>
        </p:txBody>
      </p:sp>
      <p:pic>
        <p:nvPicPr>
          <p:cNvPr id="511" name="Google Shape;511;p32"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grpSp>
        <p:nvGrpSpPr>
          <p:cNvPr id="512" name="Google Shape;512;p32"/>
          <p:cNvGrpSpPr/>
          <p:nvPr/>
        </p:nvGrpSpPr>
        <p:grpSpPr>
          <a:xfrm rot="10800000" flipH="1">
            <a:off x="6582410" y="635"/>
            <a:ext cx="5928360" cy="6857365"/>
            <a:chOff x="6095999" y="52996"/>
            <a:chExt cx="6093363" cy="6805005"/>
          </a:xfrm>
        </p:grpSpPr>
        <p:sp>
          <p:nvSpPr>
            <p:cNvPr id="513" name="Google Shape;513;p32"/>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4" name="Google Shape;514;p32"/>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5" name="Google Shape;515;p32"/>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516" name="Google Shape;516;p32" descr="Web Design"/>
          <p:cNvPicPr preferRelativeResize="0">
            <a:picLocks noGrp="1"/>
          </p:cNvPicPr>
          <p:nvPr>
            <p:ph type="body" idx="1"/>
          </p:nvPr>
        </p:nvPicPr>
        <p:blipFill rotWithShape="1">
          <a:blip r:embed="rId4">
            <a:alphaModFix/>
          </a:blip>
          <a:srcRect/>
          <a:stretch/>
        </p:blipFill>
        <p:spPr>
          <a:xfrm>
            <a:off x="7687945" y="1165860"/>
            <a:ext cx="4566285" cy="3713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animEffect transition="in" filter="fade">
                                      <p:cBhvr>
                                        <p:cTn id="7" dur="500"/>
                                        <p:tgtEl>
                                          <p:spTgt spid="5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0"/>
                                        </p:tgtEl>
                                        <p:attrNameLst>
                                          <p:attrName>style.visibility</p:attrName>
                                        </p:attrNameLst>
                                      </p:cBhvr>
                                      <p:to>
                                        <p:strVal val="visible"/>
                                      </p:to>
                                    </p:set>
                                    <p:animEffect transition="in" filter="fade">
                                      <p:cBhvr>
                                        <p:cTn id="12" dur="1000"/>
                                        <p:tgtEl>
                                          <p:spTgt spid="5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8"/>
                                        </p:tgtEl>
                                        <p:attrNameLst>
                                          <p:attrName>style.visibility</p:attrName>
                                        </p:attrNameLst>
                                      </p:cBhvr>
                                      <p:to>
                                        <p:strVal val="visible"/>
                                      </p:to>
                                    </p:set>
                                    <p:animEffect transition="in" filter="fade">
                                      <p:cBhvr>
                                        <p:cTn id="17" dur="10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3"/>
          <p:cNvSpPr/>
          <p:nvPr/>
        </p:nvSpPr>
        <p:spPr>
          <a:xfrm>
            <a:off x="1682115" y="3747135"/>
            <a:ext cx="5548630" cy="29476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public class </a:t>
            </a:r>
            <a:r>
              <a:rPr lang="en-US" sz="700" dirty="0" err="1">
                <a:solidFill>
                  <a:srgbClr val="002060"/>
                </a:solidFill>
                <a:latin typeface="Arial"/>
                <a:ea typeface="Arial"/>
                <a:cs typeface="Arial"/>
                <a:sym typeface="Arial"/>
              </a:rPr>
              <a:t>CustomValidationAttribute</a:t>
            </a:r>
            <a:r>
              <a:rPr lang="en-US" sz="700" dirty="0">
                <a:solidFill>
                  <a:srgbClr val="002060"/>
                </a:solidFill>
                <a:latin typeface="Arial"/>
                <a:ea typeface="Arial"/>
                <a:cs typeface="Arial"/>
                <a:sym typeface="Arial"/>
              </a:rPr>
              <a:t> : </a:t>
            </a:r>
            <a:r>
              <a:rPr lang="en-US" sz="700" dirty="0" err="1">
                <a:solidFill>
                  <a:srgbClr val="002060"/>
                </a:solidFill>
                <a:latin typeface="Arial"/>
                <a:ea typeface="Arial"/>
                <a:cs typeface="Arial"/>
                <a:sym typeface="Arial"/>
              </a:rPr>
              <a:t>ValidationAttribute</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protected override </a:t>
            </a:r>
            <a:r>
              <a:rPr lang="en-US" sz="700" dirty="0" err="1">
                <a:solidFill>
                  <a:srgbClr val="002060"/>
                </a:solidFill>
                <a:latin typeface="Arial"/>
                <a:ea typeface="Arial"/>
                <a:cs typeface="Arial"/>
                <a:sym typeface="Arial"/>
              </a:rPr>
              <a:t>ValidationResult</a:t>
            </a:r>
            <a:r>
              <a:rPr lang="en-US" sz="700" dirty="0">
                <a:solidFill>
                  <a:srgbClr val="002060"/>
                </a:solidFill>
                <a:latin typeface="Arial"/>
                <a:ea typeface="Arial"/>
                <a:cs typeface="Arial"/>
                <a:sym typeface="Arial"/>
              </a:rPr>
              <a:t> </a:t>
            </a:r>
            <a:r>
              <a:rPr lang="en-US" sz="700" dirty="0" err="1">
                <a:solidFill>
                  <a:srgbClr val="002060"/>
                </a:solidFill>
                <a:latin typeface="Arial"/>
                <a:ea typeface="Arial"/>
                <a:cs typeface="Arial"/>
                <a:sym typeface="Arial"/>
              </a:rPr>
              <a:t>IsValid</a:t>
            </a:r>
            <a:r>
              <a:rPr lang="en-US" sz="700" dirty="0">
                <a:solidFill>
                  <a:srgbClr val="002060"/>
                </a:solidFill>
                <a:latin typeface="Arial"/>
                <a:ea typeface="Arial"/>
                <a:cs typeface="Arial"/>
                <a:sym typeface="Arial"/>
              </a:rPr>
              <a:t>(object value, </a:t>
            </a:r>
            <a:r>
              <a:rPr lang="en-US" sz="700" dirty="0" err="1">
                <a:solidFill>
                  <a:srgbClr val="002060"/>
                </a:solidFill>
                <a:latin typeface="Arial"/>
                <a:ea typeface="Arial"/>
                <a:cs typeface="Arial"/>
                <a:sym typeface="Arial"/>
              </a:rPr>
              <a:t>ValidationContext</a:t>
            </a:r>
            <a:r>
              <a:rPr lang="en-US" sz="700" dirty="0">
                <a:solidFill>
                  <a:srgbClr val="002060"/>
                </a:solidFill>
                <a:latin typeface="Arial"/>
                <a:ea typeface="Arial"/>
                <a:cs typeface="Arial"/>
                <a:sym typeface="Arial"/>
              </a:rPr>
              <a:t> </a:t>
            </a:r>
            <a:r>
              <a:rPr lang="en-US" sz="700" dirty="0" err="1">
                <a:solidFill>
                  <a:srgbClr val="002060"/>
                </a:solidFill>
                <a:latin typeface="Arial"/>
                <a:ea typeface="Arial"/>
                <a:cs typeface="Arial"/>
                <a:sym typeface="Arial"/>
              </a:rPr>
              <a:t>validationContext</a:t>
            </a: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 Custom validation logic</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if (/* validation fails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return new </a:t>
            </a:r>
            <a:r>
              <a:rPr lang="en-US" sz="700" dirty="0" err="1">
                <a:solidFill>
                  <a:srgbClr val="002060"/>
                </a:solidFill>
                <a:latin typeface="Arial"/>
                <a:ea typeface="Arial"/>
                <a:cs typeface="Arial"/>
                <a:sym typeface="Arial"/>
              </a:rPr>
              <a:t>ValidationResult</a:t>
            </a:r>
            <a:r>
              <a:rPr lang="en-US" sz="700" dirty="0">
                <a:solidFill>
                  <a:srgbClr val="002060"/>
                </a:solidFill>
                <a:latin typeface="Arial"/>
                <a:ea typeface="Arial"/>
                <a:cs typeface="Arial"/>
                <a:sym typeface="Arial"/>
              </a:rPr>
              <a:t>("Validation failed");</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700"/>
              <a:buFont typeface="Arial"/>
              <a:buNone/>
            </a:pP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return </a:t>
            </a:r>
            <a:r>
              <a:rPr lang="en-US" sz="700" dirty="0" err="1">
                <a:solidFill>
                  <a:srgbClr val="002060"/>
                </a:solidFill>
                <a:latin typeface="Arial"/>
                <a:ea typeface="Arial"/>
                <a:cs typeface="Arial"/>
                <a:sym typeface="Arial"/>
              </a:rPr>
              <a:t>ValidationResult.Success</a:t>
            </a: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700"/>
              <a:buFont typeface="Arial"/>
              <a:buNone/>
            </a:pP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public class </a:t>
            </a:r>
            <a:r>
              <a:rPr lang="en-US" sz="700" dirty="0" err="1">
                <a:solidFill>
                  <a:srgbClr val="002060"/>
                </a:solidFill>
                <a:latin typeface="Arial"/>
                <a:ea typeface="Arial"/>
                <a:cs typeface="Arial"/>
                <a:sym typeface="Arial"/>
              </a:rPr>
              <a:t>MyModel</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a:t>
            </a:r>
            <a:r>
              <a:rPr lang="en-US" sz="700" dirty="0" err="1">
                <a:solidFill>
                  <a:srgbClr val="002060"/>
                </a:solidFill>
                <a:latin typeface="Arial"/>
                <a:ea typeface="Arial"/>
                <a:cs typeface="Arial"/>
                <a:sym typeface="Arial"/>
              </a:rPr>
              <a:t>CustomValidation</a:t>
            </a: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    public string </a:t>
            </a:r>
            <a:r>
              <a:rPr lang="en-US" sz="700" dirty="0" err="1">
                <a:solidFill>
                  <a:srgbClr val="002060"/>
                </a:solidFill>
                <a:latin typeface="Arial"/>
                <a:ea typeface="Arial"/>
                <a:cs typeface="Arial"/>
                <a:sym typeface="Arial"/>
              </a:rPr>
              <a:t>SomeProperty</a:t>
            </a:r>
            <a:r>
              <a:rPr lang="en-US" sz="700" dirty="0">
                <a:solidFill>
                  <a:srgbClr val="002060"/>
                </a:solidFill>
                <a:latin typeface="Arial"/>
                <a:ea typeface="Arial"/>
                <a:cs typeface="Arial"/>
                <a:sym typeface="Arial"/>
              </a:rPr>
              <a:t> { get; set; }</a:t>
            </a:r>
            <a:endParaRPr sz="700" dirty="0">
              <a:solidFill>
                <a:srgbClr val="002060"/>
              </a:solidFill>
              <a:latin typeface="Arial"/>
              <a:ea typeface="Arial"/>
              <a:cs typeface="Arial"/>
              <a:sym typeface="Arial"/>
            </a:endParaRPr>
          </a:p>
          <a:p>
            <a:pPr marL="0" marR="0" lvl="0" indent="0" algn="l" rtl="0">
              <a:lnSpc>
                <a:spcPct val="140000"/>
              </a:lnSpc>
              <a:spcBef>
                <a:spcPts val="0"/>
              </a:spcBef>
              <a:spcAft>
                <a:spcPts val="0"/>
              </a:spcAft>
              <a:buClr>
                <a:srgbClr val="002060"/>
              </a:buClr>
              <a:buSzPts val="700"/>
              <a:buFont typeface="Arial"/>
              <a:buNone/>
            </a:pPr>
            <a:r>
              <a:rPr lang="en-US" sz="700" dirty="0">
                <a:solidFill>
                  <a:srgbClr val="002060"/>
                </a:solidFill>
                <a:latin typeface="Arial"/>
                <a:ea typeface="Arial"/>
                <a:cs typeface="Arial"/>
                <a:sym typeface="Arial"/>
              </a:rPr>
              <a:t>}</a:t>
            </a:r>
            <a:endParaRPr sz="700" dirty="0">
              <a:solidFill>
                <a:srgbClr val="002060"/>
              </a:solidFill>
              <a:latin typeface="Arial"/>
              <a:ea typeface="Arial"/>
              <a:cs typeface="Arial"/>
              <a:sym typeface="Arial"/>
            </a:endParaRPr>
          </a:p>
        </p:txBody>
      </p:sp>
      <p:sp>
        <p:nvSpPr>
          <p:cNvPr id="522" name="Google Shape;522;p3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a:buNone/>
            </a:pPr>
            <a:r>
              <a:rPr lang="en-US" b="1">
                <a:solidFill>
                  <a:srgbClr val="012D86"/>
                </a:solidFill>
                <a:latin typeface="Bell MT"/>
                <a:ea typeface="Bell MT"/>
                <a:cs typeface="Bell MT"/>
                <a:sym typeface="Bell MT"/>
              </a:rPr>
              <a:t>Server Side Validation</a:t>
            </a:r>
            <a:endParaRPr>
              <a:solidFill>
                <a:srgbClr val="012D86"/>
              </a:solidFill>
              <a:latin typeface="Bell MT"/>
              <a:ea typeface="Bell MT"/>
              <a:cs typeface="Bell MT"/>
              <a:sym typeface="Bell MT"/>
            </a:endParaRPr>
          </a:p>
        </p:txBody>
      </p:sp>
      <p:pic>
        <p:nvPicPr>
          <p:cNvPr id="523" name="Google Shape;523;p33" descr="Aitrich-Logo-Transparent-BG-2048x671"/>
          <p:cNvPicPr preferRelativeResize="0"/>
          <p:nvPr/>
        </p:nvPicPr>
        <p:blipFill rotWithShape="1">
          <a:blip r:embed="rId3">
            <a:alphaModFix/>
          </a:blip>
          <a:srcRect/>
          <a:stretch/>
        </p:blipFill>
        <p:spPr>
          <a:xfrm>
            <a:off x="365125" y="6527165"/>
            <a:ext cx="1166495" cy="167005"/>
          </a:xfrm>
          <a:prstGeom prst="rect">
            <a:avLst/>
          </a:prstGeom>
          <a:noFill/>
          <a:ln>
            <a:noFill/>
          </a:ln>
        </p:spPr>
      </p:pic>
      <p:sp>
        <p:nvSpPr>
          <p:cNvPr id="524" name="Google Shape;524;p33"/>
          <p:cNvSpPr/>
          <p:nvPr/>
        </p:nvSpPr>
        <p:spPr>
          <a:xfrm>
            <a:off x="728980" y="1290320"/>
            <a:ext cx="5296535" cy="217487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lt1"/>
              </a:buClr>
              <a:buSzPts val="1600"/>
              <a:buFont typeface="Comic Sans MS"/>
              <a:buNone/>
            </a:pPr>
            <a:r>
              <a:rPr lang="en-US" sz="1600" dirty="0">
                <a:solidFill>
                  <a:schemeClr val="lt1"/>
                </a:solidFill>
                <a:latin typeface="Comic Sans MS"/>
                <a:ea typeface="Comic Sans MS"/>
                <a:cs typeface="Comic Sans MS"/>
                <a:sym typeface="Comic Sans MS"/>
              </a:rPr>
              <a:t>Custom Validations: You can create custom validation attributes by deriving from the </a:t>
            </a:r>
            <a:r>
              <a:rPr lang="en-US" sz="1600" dirty="0" err="1">
                <a:solidFill>
                  <a:schemeClr val="lt1"/>
                </a:solidFill>
                <a:latin typeface="Comic Sans MS"/>
                <a:ea typeface="Comic Sans MS"/>
                <a:cs typeface="Comic Sans MS"/>
                <a:sym typeface="Comic Sans MS"/>
              </a:rPr>
              <a:t>ValidationAttribute</a:t>
            </a:r>
            <a:r>
              <a:rPr lang="en-US" sz="1600" dirty="0">
                <a:solidFill>
                  <a:schemeClr val="lt1"/>
                </a:solidFill>
                <a:latin typeface="Comic Sans MS"/>
                <a:ea typeface="Comic Sans MS"/>
                <a:cs typeface="Comic Sans MS"/>
                <a:sym typeface="Comic Sans MS"/>
              </a:rPr>
              <a:t> class and overriding the </a:t>
            </a:r>
            <a:r>
              <a:rPr lang="en-US" sz="1600" dirty="0" err="1">
                <a:solidFill>
                  <a:schemeClr val="lt1"/>
                </a:solidFill>
                <a:latin typeface="Comic Sans MS"/>
                <a:ea typeface="Comic Sans MS"/>
                <a:cs typeface="Comic Sans MS"/>
                <a:sym typeface="Comic Sans MS"/>
              </a:rPr>
              <a:t>IsValid</a:t>
            </a:r>
            <a:r>
              <a:rPr lang="en-US" sz="1600" dirty="0">
                <a:solidFill>
                  <a:schemeClr val="lt1"/>
                </a:solidFill>
                <a:latin typeface="Comic Sans MS"/>
                <a:ea typeface="Comic Sans MS"/>
                <a:cs typeface="Comic Sans MS"/>
                <a:sym typeface="Comic Sans MS"/>
              </a:rPr>
              <a:t> method. This allows you to implement custom validation logic based on your requirements.</a:t>
            </a:r>
            <a:endParaRPr sz="1600" dirty="0">
              <a:solidFill>
                <a:schemeClr val="lt1"/>
              </a:solidFill>
              <a:latin typeface="Comic Sans MS"/>
              <a:ea typeface="Comic Sans MS"/>
              <a:cs typeface="Comic Sans MS"/>
              <a:sym typeface="Comic Sans MS"/>
            </a:endParaRPr>
          </a:p>
        </p:txBody>
      </p:sp>
      <p:grpSp>
        <p:nvGrpSpPr>
          <p:cNvPr id="525" name="Google Shape;525;p33"/>
          <p:cNvGrpSpPr/>
          <p:nvPr/>
        </p:nvGrpSpPr>
        <p:grpSpPr>
          <a:xfrm rot="10800000" flipH="1">
            <a:off x="6582410" y="635"/>
            <a:ext cx="5928360" cy="6857365"/>
            <a:chOff x="6095999" y="52996"/>
            <a:chExt cx="6093363" cy="6805005"/>
          </a:xfrm>
        </p:grpSpPr>
        <p:sp>
          <p:nvSpPr>
            <p:cNvPr id="526" name="Google Shape;526;p33"/>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7" name="Google Shape;527;p33"/>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8" name="Google Shape;528;p33"/>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AC4744">
                    <a:alpha val="9803"/>
                  </a:srgbClr>
                </a:gs>
                <a:gs pos="85000">
                  <a:srgbClr val="7DB6EF">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529" name="Google Shape;529;p33" descr="Web Design"/>
          <p:cNvPicPr preferRelativeResize="0">
            <a:picLocks noGrp="1"/>
          </p:cNvPicPr>
          <p:nvPr>
            <p:ph type="body" idx="1"/>
          </p:nvPr>
        </p:nvPicPr>
        <p:blipFill rotWithShape="1">
          <a:blip r:embed="rId4">
            <a:alphaModFix/>
          </a:blip>
          <a:srcRect/>
          <a:stretch/>
        </p:blipFill>
        <p:spPr>
          <a:xfrm>
            <a:off x="7687945" y="1165860"/>
            <a:ext cx="4566285" cy="37134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
                                        </p:tgtEl>
                                        <p:attrNameLst>
                                          <p:attrName>style.visibility</p:attrName>
                                        </p:attrNameLst>
                                      </p:cBhvr>
                                      <p:to>
                                        <p:strVal val="visible"/>
                                      </p:to>
                                    </p:set>
                                    <p:animEffect transition="in" filter="fade">
                                      <p:cBhvr>
                                        <p:cTn id="7" dur="500"/>
                                        <p:tgtEl>
                                          <p:spTgt spid="5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4"/>
                                        </p:tgtEl>
                                        <p:attrNameLst>
                                          <p:attrName>style.visibility</p:attrName>
                                        </p:attrNameLst>
                                      </p:cBhvr>
                                      <p:to>
                                        <p:strVal val="visible"/>
                                      </p:to>
                                    </p:set>
                                    <p:animEffect transition="in" filter="fade">
                                      <p:cBhvr>
                                        <p:cTn id="12" dur="1000"/>
                                        <p:tgtEl>
                                          <p:spTgt spid="5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1"/>
                                        </p:tgtEl>
                                        <p:attrNameLst>
                                          <p:attrName>style.visibility</p:attrName>
                                        </p:attrNameLst>
                                      </p:cBhvr>
                                      <p:to>
                                        <p:strVal val="visible"/>
                                      </p:to>
                                    </p:set>
                                    <p:animEffect transition="in" filter="fade">
                                      <p:cBhvr>
                                        <p:cTn id="17" dur="10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34" descr="tnq"/>
          <p:cNvPicPr preferRelativeResize="0">
            <a:picLocks noGrp="1"/>
          </p:cNvPicPr>
          <p:nvPr>
            <p:ph type="body" idx="1"/>
          </p:nvPr>
        </p:nvPicPr>
        <p:blipFill rotWithShape="1">
          <a:blip r:embed="rId3">
            <a:alphaModFix/>
          </a:blip>
          <a:srcRect/>
          <a:stretch/>
        </p:blipFill>
        <p:spPr>
          <a:xfrm>
            <a:off x="2742565" y="1253490"/>
            <a:ext cx="6706235" cy="4351655"/>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481</TotalTime>
  <Words>3575</Words>
  <Application>Microsoft Office PowerPoint</Application>
  <PresentationFormat>Widescreen</PresentationFormat>
  <Paragraphs>342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Comic Sans MS</vt:lpstr>
      <vt:lpstr>Arial</vt:lpstr>
      <vt:lpstr>Bell MT</vt:lpstr>
      <vt:lpstr>Calibri</vt:lpstr>
      <vt:lpstr>Default Design</vt:lpstr>
      <vt:lpstr>Asp.Net Core – Razor Pages</vt:lpstr>
      <vt:lpstr>HTML Helpers </vt:lpstr>
      <vt:lpstr>Here are some commonly used HTML Helpers in Razor Pages:</vt:lpstr>
      <vt:lpstr>PowerPoint Presentation</vt:lpstr>
      <vt:lpstr>PowerPoint Presentation</vt:lpstr>
      <vt:lpstr>PowerPoint Presentation</vt:lpstr>
      <vt:lpstr>PowerPoint Presentation</vt:lpstr>
      <vt:lpstr>Razor Page Events </vt:lpstr>
      <vt:lpstr>Page Events </vt:lpstr>
      <vt:lpstr>Page Events </vt:lpstr>
      <vt:lpstr>Handler Events </vt:lpstr>
      <vt:lpstr>Handler Events </vt:lpstr>
      <vt:lpstr>Razor Page Filters </vt:lpstr>
      <vt:lpstr>Razor Page Filters </vt:lpstr>
      <vt:lpstr>Razor Page Validations </vt:lpstr>
      <vt:lpstr>Client Side Validation</vt:lpstr>
      <vt:lpstr>Client Side Validation</vt:lpstr>
      <vt:lpstr>Server Side Validation</vt:lpstr>
      <vt:lpstr>Server Side Validation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Asp.Net Core – Razor Pages</dc:title>
  <cp:lastModifiedBy>Apsara</cp:lastModifiedBy>
  <cp:revision>15</cp:revision>
  <dcterms:created xsi:type="dcterms:W3CDTF">2023-05-03T10:53:00Z</dcterms:created>
  <dcterms:modified xsi:type="dcterms:W3CDTF">2024-02-13T13:05:09Z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1033-11.2.0.11537</vt:lpwstr>
  </property>
</Properties>
</file>