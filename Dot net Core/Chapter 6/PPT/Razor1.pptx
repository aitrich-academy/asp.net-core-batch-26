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90" r:id="rId17"/>
  </p:sldIdLst>
  <p:sldSz cx="12192000" cy="6858000"/>
  <p:notesSz cx="6858000" cy="9144000"/>
  <p:embeddedFontLst>
    <p:embeddedFont>
      <p:font typeface="Bell MT" panose="02020503060305020303" pitchFamily="18" charset="0"/>
      <p:regular r:id="rId19"/>
      <p:bold r:id="rId20"/>
      <p:italic r:id="rId21"/>
    </p:embeddedFont>
    <p:embeddedFont>
      <p:font typeface="Calibri" panose="020F0502020204030204" pitchFamily="34" charset="0"/>
      <p:regular r:id="rId22"/>
      <p:bold r:id="rId23"/>
      <p:italic r:id="rId24"/>
      <p:boldItalic r:id="rId25"/>
    </p:embeddedFont>
    <p:embeddedFont>
      <p:font typeface="Comic Sans MS" panose="030F0702030302020204" pitchFamily="66"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gVyCYyLiOcIJH81SWc2bb9qwPoN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8927" autoAdjust="0"/>
  </p:normalViewPr>
  <p:slideViewPr>
    <p:cSldViewPr snapToGrid="0">
      <p:cViewPr>
        <p:scale>
          <a:sx n="66" d="100"/>
          <a:sy n="66" d="100"/>
        </p:scale>
        <p:origin x="1301"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43"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5466785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smtClean="0"/>
              <a:t>Hello everyone. Welcome to </a:t>
            </a:r>
            <a:r>
              <a:rPr lang="en-US" dirty="0" err="1" smtClean="0"/>
              <a:t>Aitrich</a:t>
            </a:r>
            <a:r>
              <a:rPr lang="en-US" dirty="0" smtClean="0"/>
              <a:t> Academy. Today we are discussing about Razor</a:t>
            </a:r>
            <a:r>
              <a:rPr lang="en-US" baseline="0" dirty="0" smtClean="0"/>
              <a:t> Pages in </a:t>
            </a:r>
            <a:r>
              <a:rPr lang="en-US" baseline="0" dirty="0" err="1" smtClean="0"/>
              <a:t>Asp.Net</a:t>
            </a:r>
            <a:r>
              <a:rPr lang="en-US" baseline="0" dirty="0" smtClean="0"/>
              <a:t> Core</a:t>
            </a:r>
            <a:endParaRPr dirty="0"/>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30181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What</a:t>
            </a:r>
            <a:r>
              <a:rPr lang="en-IN" baseline="0" dirty="0" smtClean="0"/>
              <a:t> are Razor Pages : </a:t>
            </a:r>
          </a:p>
          <a:p>
            <a:pPr marL="0" lvl="0" indent="0" algn="l" rtl="0">
              <a:spcBef>
                <a:spcPts val="0"/>
              </a:spcBef>
              <a:spcAft>
                <a:spcPts val="0"/>
              </a:spcAft>
              <a:buNone/>
            </a:pPr>
            <a:r>
              <a:rPr lang="en-US" sz="1200" b="0" i="0" u="none" strike="noStrike" cap="none" dirty="0" smtClean="0">
                <a:solidFill>
                  <a:schemeClr val="dk1"/>
                </a:solidFill>
                <a:effectLst/>
                <a:latin typeface="Calibri"/>
                <a:ea typeface="Calibri"/>
                <a:cs typeface="Calibri"/>
                <a:sym typeface="Calibri"/>
              </a:rPr>
              <a:t>Razor Pages, in ASP.NET Core, is a server-side, page-centric programming model designed for building web UI. It simplifies web development by offering a straightforward and intuitive approach to creating dynamic and interactive web pages. Let's dive into the key concepts and advantages of Razor Pages in our discussion.</a:t>
            </a:r>
            <a:endParaRPr lang="en-IN" baseline="0" dirty="0" smtClean="0"/>
          </a:p>
          <a:p>
            <a:pPr marL="0" lvl="0" indent="0" algn="l" rtl="0">
              <a:spcBef>
                <a:spcPts val="0"/>
              </a:spcBef>
              <a:spcAft>
                <a:spcPts val="0"/>
              </a:spcAft>
              <a:buNone/>
            </a:pPr>
            <a:endParaRPr dirty="0"/>
          </a:p>
        </p:txBody>
      </p:sp>
      <p:sp>
        <p:nvSpPr>
          <p:cNvPr id="106" name="Google Shape;10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4501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Razor Pages</a:t>
            </a:r>
          </a:p>
          <a:p>
            <a:r>
              <a:rPr lang="en-US" sz="1200" b="0" i="0" u="none" strike="noStrike" cap="none" dirty="0" smtClean="0">
                <a:solidFill>
                  <a:schemeClr val="dk1"/>
                </a:solidFill>
                <a:effectLst/>
                <a:latin typeface="Calibri"/>
                <a:ea typeface="Calibri"/>
                <a:cs typeface="Calibri"/>
                <a:sym typeface="Calibri"/>
              </a:rPr>
              <a:t>Let's uncover the inner workings of an ASP.NET Razor Page:</a:t>
            </a:r>
          </a:p>
          <a:p>
            <a:endParaRPr lang="en-US" sz="1200" b="0" i="0" u="none" strike="noStrike" cap="none" dirty="0" smtClean="0">
              <a:solidFill>
                <a:schemeClr val="dk1"/>
              </a:solidFill>
              <a:effectLst/>
              <a:latin typeface="Calibri"/>
              <a:ea typeface="Calibri"/>
              <a:cs typeface="Calibri"/>
              <a:sym typeface="Calibri"/>
            </a:endParaRPr>
          </a:p>
          <a:p>
            <a:r>
              <a:rPr lang="en-US" sz="1200" b="0" i="0" u="none" strike="noStrike" cap="none" dirty="0" smtClean="0">
                <a:solidFill>
                  <a:schemeClr val="dk1"/>
                </a:solidFill>
                <a:effectLst/>
                <a:latin typeface="Calibri"/>
                <a:ea typeface="Calibri"/>
                <a:cs typeface="Calibri"/>
                <a:sym typeface="Calibri"/>
              </a:rPr>
              <a:t>File Extension: Every Razor Page has a special name like '</a:t>
            </a:r>
            <a:r>
              <a:rPr lang="en-US" sz="1200" b="0" i="0" u="none" strike="noStrike" cap="none" dirty="0" err="1" smtClean="0">
                <a:solidFill>
                  <a:schemeClr val="dk1"/>
                </a:solidFill>
                <a:effectLst/>
                <a:latin typeface="Calibri"/>
                <a:ea typeface="Calibri"/>
                <a:cs typeface="Calibri"/>
                <a:sym typeface="Calibri"/>
              </a:rPr>
              <a:t>Index.cshtml</a:t>
            </a:r>
            <a:r>
              <a:rPr lang="en-US" sz="1200" b="0" i="0" u="none" strike="noStrike" cap="none" dirty="0" smtClean="0">
                <a:solidFill>
                  <a:schemeClr val="dk1"/>
                </a:solidFill>
                <a:effectLst/>
                <a:latin typeface="Calibri"/>
                <a:ea typeface="Calibri"/>
                <a:cs typeface="Calibri"/>
                <a:sym typeface="Calibri"/>
              </a:rPr>
              <a:t>,' and it always ends with '.</a:t>
            </a:r>
            <a:r>
              <a:rPr lang="en-US" sz="1200" b="0" i="0" u="none" strike="noStrike" cap="none" dirty="0" err="1" smtClean="0">
                <a:solidFill>
                  <a:schemeClr val="dk1"/>
                </a:solidFill>
                <a:effectLst/>
                <a:latin typeface="Calibri"/>
                <a:ea typeface="Calibri"/>
                <a:cs typeface="Calibri"/>
                <a:sym typeface="Calibri"/>
              </a:rPr>
              <a:t>cshtml</a:t>
            </a:r>
            <a:r>
              <a:rPr lang="en-US" sz="1200" b="0" i="0" u="none" strike="noStrike" cap="none" dirty="0" smtClean="0">
                <a:solidFill>
                  <a:schemeClr val="dk1"/>
                </a:solidFill>
                <a:effectLst/>
                <a:latin typeface="Calibri"/>
                <a:ea typeface="Calibri"/>
                <a:cs typeface="Calibri"/>
                <a:sym typeface="Calibri"/>
              </a:rPr>
              <a:t>'. This extension is like a signature, saying, 'Hey, I'm a Razor Page!'</a:t>
            </a:r>
          </a:p>
          <a:p>
            <a:endParaRPr lang="en-US" sz="1200" b="0" i="0" u="none" strike="noStrike" cap="none" dirty="0" smtClean="0">
              <a:solidFill>
                <a:schemeClr val="dk1"/>
              </a:solidFill>
              <a:effectLst/>
              <a:latin typeface="Calibri"/>
              <a:ea typeface="Calibri"/>
              <a:cs typeface="Calibri"/>
              <a:sym typeface="Calibri"/>
            </a:endParaRPr>
          </a:p>
          <a:p>
            <a:r>
              <a:rPr lang="en-US" sz="1200" b="0" i="0" u="none" strike="noStrike" cap="none" dirty="0" smtClean="0">
                <a:solidFill>
                  <a:schemeClr val="dk1"/>
                </a:solidFill>
                <a:effectLst/>
                <a:latin typeface="Calibri"/>
                <a:ea typeface="Calibri"/>
                <a:cs typeface="Calibri"/>
                <a:sym typeface="Calibri"/>
              </a:rPr>
              <a:t>Mix of HTML and Razor Syntax: Inside this '.</a:t>
            </a:r>
            <a:r>
              <a:rPr lang="en-US" sz="1200" b="0" i="0" u="none" strike="noStrike" cap="none" dirty="0" err="1" smtClean="0">
                <a:solidFill>
                  <a:schemeClr val="dk1"/>
                </a:solidFill>
                <a:effectLst/>
                <a:latin typeface="Calibri"/>
                <a:ea typeface="Calibri"/>
                <a:cs typeface="Calibri"/>
                <a:sym typeface="Calibri"/>
              </a:rPr>
              <a:t>cshtml</a:t>
            </a:r>
            <a:r>
              <a:rPr lang="en-US" sz="1200" b="0" i="0" u="none" strike="noStrike" cap="none" dirty="0" smtClean="0">
                <a:solidFill>
                  <a:schemeClr val="dk1"/>
                </a:solidFill>
                <a:effectLst/>
                <a:latin typeface="Calibri"/>
                <a:ea typeface="Calibri"/>
                <a:cs typeface="Calibri"/>
                <a:sym typeface="Calibri"/>
              </a:rPr>
              <a:t>' file, it's a blend of regular webpage code (HTML) and some special instructions written in C#, known as Razor syntax. It's like having magic code that adds functionality and interactivity to the webpage.</a:t>
            </a:r>
          </a:p>
          <a:p>
            <a:endParaRPr lang="en-US" sz="1200" b="0" i="0" u="none" strike="noStrike" cap="none" dirty="0" smtClean="0">
              <a:solidFill>
                <a:schemeClr val="dk1"/>
              </a:solidFill>
              <a:effectLst/>
              <a:latin typeface="Calibri"/>
              <a:ea typeface="Calibri"/>
              <a:cs typeface="Calibri"/>
              <a:sym typeface="Calibri"/>
            </a:endParaRPr>
          </a:p>
          <a:p>
            <a:r>
              <a:rPr lang="en-US" sz="1200" b="0" i="0" u="none" strike="noStrike" cap="none" dirty="0" smtClean="0">
                <a:solidFill>
                  <a:schemeClr val="dk1"/>
                </a:solidFill>
                <a:effectLst/>
                <a:latin typeface="Calibri"/>
                <a:ea typeface="Calibri"/>
                <a:cs typeface="Calibri"/>
                <a:sym typeface="Calibri"/>
              </a:rPr>
              <a:t>Execution on the Server: The Razor parts (the C# mixed with HTML) are like secret instructions for the computer. They get executed on the computer, which we call the web server, before the webpage is sent to your browser. This ensures that the webpage is dynamic and does what it's supposed to do.</a:t>
            </a:r>
          </a:p>
          <a:p>
            <a:endParaRPr lang="en-US" sz="1200" b="0" i="0" u="none" strike="noStrike" cap="none" dirty="0" smtClean="0">
              <a:solidFill>
                <a:schemeClr val="dk1"/>
              </a:solidFill>
              <a:effectLst/>
              <a:latin typeface="Calibri"/>
              <a:ea typeface="Calibri"/>
              <a:cs typeface="Calibri"/>
              <a:sym typeface="Calibri"/>
            </a:endParaRPr>
          </a:p>
          <a:p>
            <a:r>
              <a:rPr lang="en-US" sz="1200" b="0" i="0" u="none" strike="noStrike" cap="none" dirty="0" smtClean="0">
                <a:solidFill>
                  <a:schemeClr val="dk1"/>
                </a:solidFill>
                <a:effectLst/>
                <a:latin typeface="Calibri"/>
                <a:ea typeface="Calibri"/>
                <a:cs typeface="Calibri"/>
                <a:sym typeface="Calibri"/>
              </a:rPr>
              <a:t>Additional C# Code File: Sometimes, there's another file linked to the Razor Page, and it has a '.</a:t>
            </a:r>
            <a:r>
              <a:rPr lang="en-US" sz="1200" b="0" i="0" u="none" strike="noStrike" cap="none" dirty="0" err="1" smtClean="0">
                <a:solidFill>
                  <a:schemeClr val="dk1"/>
                </a:solidFill>
                <a:effectLst/>
                <a:latin typeface="Calibri"/>
                <a:ea typeface="Calibri"/>
                <a:cs typeface="Calibri"/>
                <a:sym typeface="Calibri"/>
              </a:rPr>
              <a:t>cs</a:t>
            </a:r>
            <a:r>
              <a:rPr lang="en-US" sz="1200" b="0" i="0" u="none" strike="noStrike" cap="none" dirty="0" smtClean="0">
                <a:solidFill>
                  <a:schemeClr val="dk1"/>
                </a:solidFill>
                <a:effectLst/>
                <a:latin typeface="Calibri"/>
                <a:ea typeface="Calibri"/>
                <a:cs typeface="Calibri"/>
                <a:sym typeface="Calibri"/>
              </a:rPr>
              <a:t>' extension. This file contains extra instructions in the C# language. It collaborates with the '.</a:t>
            </a:r>
            <a:r>
              <a:rPr lang="en-US" sz="1200" b="0" i="0" u="none" strike="noStrike" cap="none" dirty="0" err="1" smtClean="0">
                <a:solidFill>
                  <a:schemeClr val="dk1"/>
                </a:solidFill>
                <a:effectLst/>
                <a:latin typeface="Calibri"/>
                <a:ea typeface="Calibri"/>
                <a:cs typeface="Calibri"/>
                <a:sym typeface="Calibri"/>
              </a:rPr>
              <a:t>cshtml</a:t>
            </a:r>
            <a:r>
              <a:rPr lang="en-US" sz="1200" b="0" i="0" u="none" strike="noStrike" cap="none" dirty="0" smtClean="0">
                <a:solidFill>
                  <a:schemeClr val="dk1"/>
                </a:solidFill>
                <a:effectLst/>
                <a:latin typeface="Calibri"/>
                <a:ea typeface="Calibri"/>
                <a:cs typeface="Calibri"/>
                <a:sym typeface="Calibri"/>
              </a:rPr>
              <a:t>' file to ensure that the webpage behaves exactly as intended.</a:t>
            </a:r>
          </a:p>
          <a:p>
            <a:endParaRPr lang="en-US" sz="1200" b="0" i="0" u="none" strike="noStrike" cap="none" dirty="0" smtClean="0">
              <a:solidFill>
                <a:schemeClr val="dk1"/>
              </a:solidFill>
              <a:effectLst/>
              <a:latin typeface="Calibri"/>
              <a:ea typeface="Calibri"/>
              <a:cs typeface="Calibri"/>
              <a:sym typeface="Calibri"/>
            </a:endParaRPr>
          </a:p>
          <a:p>
            <a:r>
              <a:rPr lang="en-US" sz="1200" b="0" i="0" u="none" strike="noStrike" cap="none" dirty="0" smtClean="0">
                <a:solidFill>
                  <a:schemeClr val="dk1"/>
                </a:solidFill>
                <a:effectLst/>
                <a:latin typeface="Calibri"/>
                <a:ea typeface="Calibri"/>
                <a:cs typeface="Calibri"/>
                <a:sym typeface="Calibri"/>
              </a:rPr>
              <a:t>In Razor with Page Model, each Razor Page is like a dynamic duo - the '.</a:t>
            </a:r>
            <a:r>
              <a:rPr lang="en-US" sz="1200" b="0" i="0" u="none" strike="noStrike" cap="none" dirty="0" err="1" smtClean="0">
                <a:solidFill>
                  <a:schemeClr val="dk1"/>
                </a:solidFill>
                <a:effectLst/>
                <a:latin typeface="Calibri"/>
                <a:ea typeface="Calibri"/>
                <a:cs typeface="Calibri"/>
                <a:sym typeface="Calibri"/>
              </a:rPr>
              <a:t>cshtml</a:t>
            </a:r>
            <a:r>
              <a:rPr lang="en-US" sz="1200" b="0" i="0" u="none" strike="noStrike" cap="none" dirty="0" smtClean="0">
                <a:solidFill>
                  <a:schemeClr val="dk1"/>
                </a:solidFill>
                <a:effectLst/>
                <a:latin typeface="Calibri"/>
                <a:ea typeface="Calibri"/>
                <a:cs typeface="Calibri"/>
                <a:sym typeface="Calibri"/>
              </a:rPr>
              <a:t>' file and its linked '.</a:t>
            </a:r>
            <a:r>
              <a:rPr lang="en-US" sz="1200" b="0" i="0" u="none" strike="noStrike" cap="none" dirty="0" err="1" smtClean="0">
                <a:solidFill>
                  <a:schemeClr val="dk1"/>
                </a:solidFill>
                <a:effectLst/>
                <a:latin typeface="Calibri"/>
                <a:ea typeface="Calibri"/>
                <a:cs typeface="Calibri"/>
                <a:sym typeface="Calibri"/>
              </a:rPr>
              <a:t>cs</a:t>
            </a:r>
            <a:r>
              <a:rPr lang="en-US" sz="1200" b="0" i="0" u="none" strike="noStrike" cap="none" dirty="0" smtClean="0">
                <a:solidFill>
                  <a:schemeClr val="dk1"/>
                </a:solidFill>
                <a:effectLst/>
                <a:latin typeface="Calibri"/>
                <a:ea typeface="Calibri"/>
                <a:cs typeface="Calibri"/>
                <a:sym typeface="Calibri"/>
              </a:rPr>
              <a:t>' file working together to create a captivating webpage</a:t>
            </a:r>
            <a:endParaRPr dirty="0"/>
          </a:p>
        </p:txBody>
      </p:sp>
      <p:sp>
        <p:nvSpPr>
          <p:cNvPr id="116" name="Google Shape;11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22339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smtClean="0"/>
              <a:t>Benefits of Razor Pages </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Now, let's uncover the advantages of using Razor Pages in ASP.NET: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Easy to Get Started:</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Razor Pages make it a breeze to start building dynamic web applications. You get to use familiar tools like HTML, CSS, and C# to create engaging and interactive web pages. It's a friendly entry point for developers, especially those new to web development.</a:t>
            </a:r>
          </a:p>
          <a:p>
            <a:pPr marL="0" lvl="0" indent="0" algn="l" rtl="0">
              <a:spcBef>
                <a:spcPts val="0"/>
              </a:spcBef>
              <a:spcAft>
                <a:spcPts val="0"/>
              </a:spcAft>
              <a:buNone/>
            </a:pPr>
            <a:r>
              <a:rPr lang="en-US" dirty="0" smtClean="0"/>
              <a:t>Encourages Organized Files: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One standout feature is its encouragement of organizing files by feature. This means grouping related files together, making it easier to find and maintain them. It's like having a neat and organized toolbox – everything has its place, which eases the maintenance of your app over time.</a:t>
            </a:r>
          </a:p>
          <a:p>
            <a:pPr marL="0" lvl="0" indent="0" algn="l" rtl="0">
              <a:spcBef>
                <a:spcPts val="0"/>
              </a:spcBef>
              <a:spcAft>
                <a:spcPts val="0"/>
              </a:spcAft>
              <a:buNone/>
            </a:pPr>
            <a:r>
              <a:rPr lang="en-US" dirty="0" smtClean="0"/>
              <a:t>HTML + Server-Side C# Code: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With Razor Pages, you can seamlessly blend HTML with server-side C# code using Razor syntax. This allows you to create dynamic and responsive web pages without the need for complex setups. It's a powerful combination that simplifies the development process.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These benefits collectively contribute to a smooth and efficient development experience. </a:t>
            </a:r>
            <a:endParaRPr dirty="0"/>
          </a:p>
        </p:txBody>
      </p:sp>
      <p:sp>
        <p:nvSpPr>
          <p:cNvPr id="135" name="Google Shape;13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69754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smtClean="0"/>
              <a:t>When</a:t>
            </a:r>
            <a:r>
              <a:rPr lang="en-US" baseline="0" dirty="0" smtClean="0"/>
              <a:t> to use Razor Pages </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dirty="0" smtClean="0"/>
              <a:t>Let's explore the ideal scenarios for Razor Pages: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err="1" smtClean="0"/>
              <a:t>Blazor</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Great for client-heavy SPAs (Single Page Apps), akin to popular frameworks like React or Angular.</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MVC:</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Suited for server-side applications, especially those organized around controllers. It's the original foundation of Razor Pages, offering a more structured approach.</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Razor Pages: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Perfect for server-side applications, particularly when organized by feature. It excels in simplicity for quick start-ups and gracefully scales to handle larger projects.</a:t>
            </a:r>
            <a:endParaRPr dirty="0"/>
          </a:p>
        </p:txBody>
      </p:sp>
      <p:sp>
        <p:nvSpPr>
          <p:cNvPr id="146" name="Google Shape;14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0676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smtClean="0"/>
              <a:t>Razor Pages </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Let's demystify Razor Pages and how they leverage a unique markup language called Razor:</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Razor Markup Language: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Razor Pages use a markup language known as Razor for embedding server-based code into webpages. It's like the special tool that helps us blend server-side logic seamlessly with the webpage.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Razor Syntax:</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The magic happens in the Razor syntax, a harmonious blend of HTML and C#. This combination allows us to define dynamic rendering logic for the page using familiar HTML tags and C# code. It's a powerful duo that makes web development more expressive and flexible.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Two Kinds of Content: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In a webpage using Razor syntax, we encounter two types of content:</a:t>
            </a:r>
          </a:p>
          <a:p>
            <a:pPr marL="0" lvl="0" indent="0" algn="l" rtl="0">
              <a:spcBef>
                <a:spcPts val="0"/>
              </a:spcBef>
              <a:spcAft>
                <a:spcPts val="0"/>
              </a:spcAft>
              <a:buNone/>
            </a:pPr>
            <a:r>
              <a:rPr lang="en-US" dirty="0" smtClean="0"/>
              <a:t>Client Content: This is the regular HTML content that the browser understands and displays.</a:t>
            </a:r>
          </a:p>
          <a:p>
            <a:pPr marL="0" lvl="0" indent="0" algn="l" rtl="0">
              <a:spcBef>
                <a:spcPts val="0"/>
              </a:spcBef>
              <a:spcAft>
                <a:spcPts val="0"/>
              </a:spcAft>
              <a:buNone/>
            </a:pPr>
            <a:r>
              <a:rPr lang="en-US" dirty="0" smtClean="0"/>
              <a:t>Server Code: The C# code within the Razor syntax, defining dynamic behavior. This code runs on the server before the webpage reaches the client's browser.</a:t>
            </a:r>
            <a:endParaRPr dirty="0"/>
          </a:p>
        </p:txBody>
      </p:sp>
      <p:sp>
        <p:nvSpPr>
          <p:cNvPr id="158" name="Google Shape;15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5766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smtClean="0"/>
              <a:t>Razor Pages </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Let's break down the two fundamental components within Razor Pages: Client Content and Server Code.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Client Content: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This contains what you're already familiar with in webpages - HTML markup with elements, style information like CSS, perhaps some client-side scripts such as JavaScript, and plain text. It's what the browser understands and displays.</a:t>
            </a:r>
          </a:p>
          <a:p>
            <a:pPr marL="0" lvl="0" indent="0" algn="l" rtl="0">
              <a:spcBef>
                <a:spcPts val="0"/>
              </a:spcBef>
              <a:spcAft>
                <a:spcPts val="0"/>
              </a:spcAft>
              <a:buNone/>
            </a:pPr>
            <a:r>
              <a:rPr lang="en-US" dirty="0" smtClean="0"/>
              <a:t>Server Code: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With Razor, you can seamlessly embed server code into your client content. This is where the magic happens. If there's server code in the page, the server runs that code first before sending the page to the browser. It allows you to inject dynamic behavior and logic into your webpage.</a:t>
            </a:r>
            <a:endParaRPr dirty="0"/>
          </a:p>
        </p:txBody>
      </p:sp>
      <p:sp>
        <p:nvSpPr>
          <p:cNvPr id="168" name="Google Shape;16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19852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smtClean="0"/>
              <a:t>Creating a ASP.NET Core Web App</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Let's take a quick tour on creating an ASP.NET Core Razor Pages web app using Visual Studio. Follow these steps: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Open Visual Studio:</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Fire up Visual Studio and ensure you have the 'ASP.NET and web development' workload installed.</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Create New Project: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Click on 'Create a new project' and choose 'ASP.NET Core Web Application.'</a:t>
            </a:r>
          </a:p>
          <a:p>
            <a:pPr marL="0" lvl="0" indent="0" algn="l" rtl="0">
              <a:spcBef>
                <a:spcPts val="0"/>
              </a:spcBef>
              <a:spcAft>
                <a:spcPts val="0"/>
              </a:spcAft>
              <a:buNone/>
            </a:pPr>
            <a:r>
              <a:rPr lang="en-US" dirty="0" smtClean="0"/>
              <a:t>Select Razor Pages Template: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Choose the 'ASP.NET Core Web App' template and make sure to select 'Razor Pages.' Click 'Next.‘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Configure Project: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Give your project a name, choose a location, and decide if you want to create a new </a:t>
            </a:r>
            <a:r>
              <a:rPr lang="en-US" dirty="0" err="1" smtClean="0"/>
              <a:t>Git</a:t>
            </a:r>
            <a:r>
              <a:rPr lang="en-US" dirty="0" smtClean="0"/>
              <a:t> repository. Click 'Create.'</a:t>
            </a:r>
            <a:endParaRPr dirty="0"/>
          </a:p>
        </p:txBody>
      </p:sp>
      <p:sp>
        <p:nvSpPr>
          <p:cNvPr id="177" name="Google Shape;17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6680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smtClean="0"/>
              <a:t>Project Structure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Understanding the structure of your ASP.NET Core Razor Pages project is key. Let's explore the essential components: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err="1" smtClean="0"/>
              <a:t>appSettings.json</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This file is like a configuration hub, storing crucial data like connection strings. It centralizes settings that your application needs to function, making it easy to manage.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err="1" smtClean="0"/>
              <a:t>Program.cs</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Acting as the entry point, </a:t>
            </a:r>
            <a:r>
              <a:rPr lang="en-US" dirty="0" err="1" smtClean="0"/>
              <a:t>Program.cs</a:t>
            </a:r>
            <a:r>
              <a:rPr lang="en-US" dirty="0" smtClean="0"/>
              <a:t> is where the program starts. It's not just the beginning; it configures how your app behaves. You can think of it as the director setting the stage for your web application.</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err="1" smtClean="0"/>
              <a:t>wwwroot</a:t>
            </a:r>
            <a:r>
              <a:rPr lang="en-US" dirty="0" smtClean="0"/>
              <a:t> Folder:</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Inside this folder, you find static files like images, HTML files, JavaScript files, and CSS files. It's the place to store assets that don't need processing but are directly served to the client.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Pages Folder:</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Here is the heart of your Razor Pages application. The Pages folder is where you'll put your ASP.NET ('.</a:t>
            </a:r>
            <a:r>
              <a:rPr lang="en-US" dirty="0" err="1" smtClean="0"/>
              <a:t>cshtml</a:t>
            </a:r>
            <a:r>
              <a:rPr lang="en-US" dirty="0" smtClean="0"/>
              <a:t>') web pages. Each page can handle its logic, and this structure encourages organization.</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err="1" smtClean="0"/>
              <a:t>Layout.cshtml</a:t>
            </a:r>
            <a:r>
              <a:rPr lang="en-US" dirty="0" smtClean="0"/>
              <a:t> File: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This file is like the maestro orchestrating the common elements for all pages. </a:t>
            </a:r>
            <a:r>
              <a:rPr lang="en-US" dirty="0" err="1" smtClean="0"/>
              <a:t>Layout.cshtml</a:t>
            </a:r>
            <a:r>
              <a:rPr lang="en-US" dirty="0" smtClean="0"/>
              <a:t> lets you set up elements shared across multiple pages, such as the navigation menu at the top. It ensures a consistent and cohesive user interface.</a:t>
            </a:r>
            <a:endParaRPr dirty="0"/>
          </a:p>
        </p:txBody>
      </p:sp>
      <p:sp>
        <p:nvSpPr>
          <p:cNvPr id="184" name="Google Shape;18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27666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smtClean="0"/>
              <a:t>Razor Pages is enabled in </a:t>
            </a:r>
            <a:r>
              <a:rPr lang="en-US" dirty="0" err="1" smtClean="0"/>
              <a:t>program.cs</a:t>
            </a:r>
            <a:endParaRPr lang="en-US" dirty="0" smtClean="0"/>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In your ASP.NET Core Razor Pages project, enabling Razor Pages is a crucial step, and it happens in the </a:t>
            </a:r>
            <a:r>
              <a:rPr lang="en-US" dirty="0" err="1" smtClean="0"/>
              <a:t>Program.cs</a:t>
            </a:r>
            <a:r>
              <a:rPr lang="en-US" dirty="0" smtClean="0"/>
              <a:t> file. Let's delve into the process: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err="1" smtClean="0"/>
              <a:t>AddRazorPages</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The </a:t>
            </a:r>
            <a:r>
              <a:rPr lang="en-US" dirty="0" err="1" smtClean="0"/>
              <a:t>AddRazorPages</a:t>
            </a:r>
            <a:r>
              <a:rPr lang="en-US" dirty="0" smtClean="0"/>
              <a:t> method is like flipping the switch to enable Razor Pages services in your app. This line of code adds the necessary services that Razor Pages depend on, setting the stage for their seamless integration into your application.</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err="1" smtClean="0"/>
              <a:t>MapRazorPages</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After adding services, you need to map endpoints for Razor Pages to the </a:t>
            </a:r>
            <a:r>
              <a:rPr lang="en-US" dirty="0" err="1" smtClean="0"/>
              <a:t>IEndpointRouteBuilder</a:t>
            </a:r>
            <a:r>
              <a:rPr lang="en-US" dirty="0" smtClean="0"/>
              <a:t>. The </a:t>
            </a:r>
            <a:r>
              <a:rPr lang="en-US" dirty="0" err="1" smtClean="0"/>
              <a:t>MapRazorPages</a:t>
            </a:r>
            <a:r>
              <a:rPr lang="en-US" dirty="0" smtClean="0"/>
              <a:t> method is responsible for precisely that. It adds the routes for Razor Pages, making them accessible through the specified URL paths.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These lines of code in your </a:t>
            </a:r>
            <a:r>
              <a:rPr lang="en-US" dirty="0" err="1" smtClean="0"/>
              <a:t>Program.cs</a:t>
            </a:r>
            <a:r>
              <a:rPr lang="en-US" dirty="0" smtClean="0"/>
              <a:t> file essentially configure your application to recognize and handle Razor Pages. It's like telling your application, 'Hey, Razor Pages are here, and here's how to deal with them.'</a:t>
            </a:r>
          </a:p>
          <a:p>
            <a:pPr marL="0" lvl="0" indent="0" algn="l" rtl="0">
              <a:spcBef>
                <a:spcPts val="0"/>
              </a:spcBef>
              <a:spcAft>
                <a:spcPts val="0"/>
              </a:spcAft>
              <a:buNone/>
            </a:pPr>
            <a:endParaRPr lang="en-US" dirty="0" smtClean="0"/>
          </a:p>
          <a:p>
            <a:pPr marL="0" lvl="0" indent="0" algn="l" rtl="0">
              <a:spcBef>
                <a:spcPts val="0"/>
              </a:spcBef>
              <a:spcAft>
                <a:spcPts val="0"/>
              </a:spcAft>
              <a:buNone/>
            </a:pPr>
            <a:endParaRPr lang="en-US" dirty="0" smtClean="0"/>
          </a:p>
        </p:txBody>
      </p:sp>
      <p:sp>
        <p:nvSpPr>
          <p:cNvPr id="210" name="Google Shape;21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57252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smtClean="0"/>
              <a:t>Razor Page Anatomy: </a:t>
            </a:r>
          </a:p>
          <a:p>
            <a:pPr marL="0" lvl="0" indent="0" algn="l" rtl="0">
              <a:spcBef>
                <a:spcPts val="0"/>
              </a:spcBef>
              <a:spcAft>
                <a:spcPts val="0"/>
              </a:spcAft>
              <a:buNone/>
            </a:pPr>
            <a:r>
              <a:rPr lang="en-US" dirty="0" smtClean="0"/>
              <a:t>In the realm of Razor Pages, understanding their anatomy is fundamental. Each Razor Page, especially in the Razor with Page Model approach, consists of a pair of files: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a:t>
            </a:r>
            <a:r>
              <a:rPr lang="en-US" dirty="0" err="1" smtClean="0"/>
              <a:t>cshtml</a:t>
            </a:r>
            <a:r>
              <a:rPr lang="en-US" dirty="0" smtClean="0"/>
              <a:t>' File: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This is the HTML markup file where the visual elements of your page reside. However, it's not just static HTML; it's infused with C# code using Razor syntax. This combination allows you to embed dynamic content and logic directly within your HTML, making your web pages responsive and interactive.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a:t>
            </a:r>
            <a:r>
              <a:rPr lang="en-US" dirty="0" err="1" smtClean="0"/>
              <a:t>cshtml.cs</a:t>
            </a:r>
            <a:r>
              <a:rPr lang="en-US" dirty="0" smtClean="0"/>
              <a:t>' File (Code-Behind or Page Model):</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This is like the behind-the-scenes maestro orchestrating the functionality. The '.</a:t>
            </a:r>
            <a:r>
              <a:rPr lang="en-US" dirty="0" err="1" smtClean="0"/>
              <a:t>cshtml.cs</a:t>
            </a:r>
            <a:r>
              <a:rPr lang="en-US" dirty="0" smtClean="0"/>
              <a:t>' file contains C# code that handles various page events and functionalities. It's where you define the logic that responds to user interactions, manages data, and controls the behavior of the page. It's the brainpower behind the visual presentation.</a:t>
            </a:r>
            <a:endParaRPr dirty="0"/>
          </a:p>
        </p:txBody>
      </p:sp>
      <p:sp>
        <p:nvSpPr>
          <p:cNvPr id="219" name="Google Shape;21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62554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Razor page –  .</a:t>
            </a:r>
            <a:r>
              <a:rPr lang="en-IN" dirty="0" err="1" smtClean="0"/>
              <a:t>cshtml</a:t>
            </a:r>
            <a:r>
              <a:rPr lang="en-IN" dirty="0" smtClean="0"/>
              <a:t> page</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Examining the '.</a:t>
            </a:r>
            <a:r>
              <a:rPr lang="en-US" dirty="0" err="1" smtClean="0"/>
              <a:t>cshtml</a:t>
            </a:r>
            <a:r>
              <a:rPr lang="en-US" dirty="0" smtClean="0"/>
              <a:t>' page in a Razor Page is like deciphering a familiar code with a unique twist. Here's what sets it apart: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Similarity to Razor Views: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At first glance, the code resembles a typical Razor view file used in ASP.NET Core apps with controllers and views. It combines HTML markup with embedded C# code using Razor syntax, creating a dynamic and expressive web page.</a:t>
            </a:r>
          </a:p>
          <a:p>
            <a:pPr marL="0" lvl="0" indent="0" algn="l" rtl="0">
              <a:spcBef>
                <a:spcPts val="0"/>
              </a:spcBef>
              <a:spcAft>
                <a:spcPts val="0"/>
              </a:spcAft>
              <a:buNone/>
            </a:pPr>
            <a:r>
              <a:rPr lang="en-US" dirty="0" smtClean="0"/>
              <a:t>@page Directive: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What makes it distinct is the presence of the '@page' directive. This directive transforms the file into an MVC action, indicating that it handles requests directly without going through a controller. It's a defining feature of Razor Pages, and '@page' must be the first Razor directive on a page. Its presence influences the behavior of other Razor constructs.</a:t>
            </a:r>
          </a:p>
          <a:p>
            <a:pPr marL="0" lvl="0" indent="0" algn="l" rtl="0">
              <a:spcBef>
                <a:spcPts val="0"/>
              </a:spcBef>
              <a:spcAft>
                <a:spcPts val="0"/>
              </a:spcAft>
              <a:buNone/>
            </a:pPr>
            <a:r>
              <a:rPr lang="en-US" dirty="0" smtClean="0"/>
              <a:t>.</a:t>
            </a:r>
            <a:r>
              <a:rPr lang="en-US" dirty="0" err="1" smtClean="0"/>
              <a:t>cshtml</a:t>
            </a:r>
            <a:r>
              <a:rPr lang="en-US" dirty="0" smtClean="0"/>
              <a:t> Suffix:</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Razor Pages file names end with a '.</a:t>
            </a:r>
            <a:r>
              <a:rPr lang="en-US" dirty="0" err="1" smtClean="0"/>
              <a:t>cshtml</a:t>
            </a:r>
            <a:r>
              <a:rPr lang="en-US" dirty="0" smtClean="0"/>
              <a:t>' suffix, distinguishing them from standard HTML files. This suffix signifies that the file contains both HTML and embedded C# code, creating a dynamic and interactive web page.</a:t>
            </a:r>
          </a:p>
          <a:p>
            <a:pPr marL="0" lvl="0" indent="0" algn="l" rtl="0">
              <a:spcBef>
                <a:spcPts val="0"/>
              </a:spcBef>
              <a:spcAft>
                <a:spcPts val="0"/>
              </a:spcAft>
              <a:buNone/>
            </a:pPr>
            <a:r>
              <a:rPr lang="en-US" dirty="0" smtClean="0"/>
              <a:t>@model Directive: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The '@model' directive specifies the model type available to the Razor page. It's like declaring the data structure that the page interacts with, providing a clear understanding of the page's expectations and functionalities.</a:t>
            </a:r>
            <a:endParaRPr lang="en-IN" dirty="0" smtClean="0"/>
          </a:p>
          <a:p>
            <a:pPr marL="0" lvl="0" indent="0" algn="l" rtl="0">
              <a:spcBef>
                <a:spcPts val="0"/>
              </a:spcBef>
              <a:spcAft>
                <a:spcPts val="0"/>
              </a:spcAft>
              <a:buNone/>
            </a:pPr>
            <a:endParaRPr lang="en-IN" dirty="0" smtClean="0"/>
          </a:p>
          <a:p>
            <a:pPr marL="0" lvl="0" indent="0" algn="l" rtl="0">
              <a:spcBef>
                <a:spcPts val="0"/>
              </a:spcBef>
              <a:spcAft>
                <a:spcPts val="0"/>
              </a:spcAft>
              <a:buNone/>
            </a:pPr>
            <a:endParaRPr dirty="0"/>
          </a:p>
        </p:txBody>
      </p:sp>
      <p:sp>
        <p:nvSpPr>
          <p:cNvPr id="228" name="Google Shape;22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45344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Rendering HTML</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When it comes to rendering HTML in Razor Pages, it's important to understand that the default Razor language is HTML itself. Let's break down the process: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Default Razor Language: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In Razor Pages, the default language is HTML. This means that rendering HTML from Razor markup is no different than rendering HTML from a standard HTML file. The server processes and renders HTML markup from '.</a:t>
            </a:r>
            <a:r>
              <a:rPr lang="en-US" dirty="0" err="1" smtClean="0"/>
              <a:t>cshtml</a:t>
            </a:r>
            <a:r>
              <a:rPr lang="en-US" dirty="0" smtClean="0"/>
              <a:t>' Razor files without any alterations.</a:t>
            </a:r>
          </a:p>
          <a:p>
            <a:pPr marL="0" lvl="0" indent="0" algn="l" rtl="0">
              <a:spcBef>
                <a:spcPts val="0"/>
              </a:spcBef>
              <a:spcAft>
                <a:spcPts val="0"/>
              </a:spcAft>
              <a:buNone/>
            </a:pPr>
            <a:r>
              <a:rPr lang="en-US" dirty="0" smtClean="0"/>
              <a:t>Server Unchanged Rendering:</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HTML markup within '.</a:t>
            </a:r>
            <a:r>
              <a:rPr lang="en-US" dirty="0" err="1" smtClean="0"/>
              <a:t>cshtml</a:t>
            </a:r>
            <a:r>
              <a:rPr lang="en-US" dirty="0" smtClean="0"/>
              <a:t>' Razor files is rendered by the server unchanged. This ensures consistency and reliability in displaying web content. The server acts as the powerhouse, dynamically serving the HTML content to the client browser exactly as it's written in the Razor file.</a:t>
            </a:r>
            <a:endParaRPr lang="en-IN" dirty="0" smtClean="0"/>
          </a:p>
          <a:p>
            <a:pPr marL="0" lvl="0" indent="0" algn="l" rtl="0">
              <a:spcBef>
                <a:spcPts val="0"/>
              </a:spcBef>
              <a:spcAft>
                <a:spcPts val="0"/>
              </a:spcAft>
              <a:buNone/>
            </a:pPr>
            <a:endParaRPr lang="en-IN" dirty="0" smtClean="0"/>
          </a:p>
          <a:p>
            <a:pPr marL="0" lvl="0" indent="0" algn="l" rtl="0">
              <a:spcBef>
                <a:spcPts val="0"/>
              </a:spcBef>
              <a:spcAft>
                <a:spcPts val="0"/>
              </a:spcAft>
              <a:buNone/>
            </a:pPr>
            <a:endParaRPr dirty="0"/>
          </a:p>
        </p:txBody>
      </p:sp>
      <p:sp>
        <p:nvSpPr>
          <p:cNvPr id="236" name="Google Shape;23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7687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Razor Syntax: </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Razor Syntax is the powerhouse of dynamic content creation in ASP.NET Core. Let's dive into the key aspects: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Markup Syntax for Embedding .NET Code: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Razor is a markup syntax designed for seamlessly embedding .NET-based code into webpages. It's the bridge that connects the worlds of C# and HTML, allowing them to coexist harmoniously.</a:t>
            </a:r>
          </a:p>
          <a:p>
            <a:pPr marL="0" lvl="0" indent="0" algn="l" rtl="0">
              <a:spcBef>
                <a:spcPts val="0"/>
              </a:spcBef>
              <a:spcAft>
                <a:spcPts val="0"/>
              </a:spcAft>
              <a:buNone/>
            </a:pPr>
            <a:r>
              <a:rPr lang="en-US" dirty="0" smtClean="0"/>
              <a:t>Composition of Razor Syntax:</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The Razor syntax encompasses Razor markup, C#, and HTML. Files using Razor generally carry a '.</a:t>
            </a:r>
            <a:r>
              <a:rPr lang="en-US" dirty="0" err="1" smtClean="0"/>
              <a:t>cshtml</a:t>
            </a:r>
            <a:r>
              <a:rPr lang="en-US" dirty="0" smtClean="0"/>
              <a:t>' extension. It's also prevalent in Razor component files with a '.razor' extension. This flexibility makes Razor syntax versatile for various scenarios in ASP.NET Core.</a:t>
            </a:r>
          </a:p>
          <a:p>
            <a:pPr marL="0" lvl="0" indent="0" algn="l" rtl="0">
              <a:spcBef>
                <a:spcPts val="0"/>
              </a:spcBef>
              <a:spcAft>
                <a:spcPts val="0"/>
              </a:spcAft>
              <a:buNone/>
            </a:pPr>
            <a:r>
              <a:rPr lang="en-US" dirty="0" smtClean="0"/>
              <a:t>Similarity to SPA Frameworks: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Razor syntax bears similarities to templating engines in popular JavaScript single-page application (SPA) frameworks like Angular, React, </a:t>
            </a:r>
            <a:r>
              <a:rPr lang="en-US" dirty="0" err="1" smtClean="0"/>
              <a:t>VueJs</a:t>
            </a:r>
            <a:r>
              <a:rPr lang="en-US" dirty="0" smtClean="0"/>
              <a:t>, and Svelte. This makes it easier for developers familiar with these frameworks to transition into ASP.NET Core development.</a:t>
            </a:r>
          </a:p>
          <a:p>
            <a:pPr marL="0" lvl="0" indent="0" algn="l" rtl="0">
              <a:spcBef>
                <a:spcPts val="0"/>
              </a:spcBef>
              <a:spcAft>
                <a:spcPts val="0"/>
              </a:spcAft>
              <a:buNone/>
            </a:pPr>
            <a:r>
              <a:rPr lang="en-US" dirty="0" smtClean="0"/>
              <a:t>C# Expressions and @ Symbol:</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Razor supports C# and uses the '@' symbol to transition between HTML and C#. When '@' is followed by a Razor reserved keyword, it signals a transition into Razor-specific markup. Otherwise, it smoothly transitions into plain HTML. This dual-role of '@' symbol adds dynamism to the Razor syntax.</a:t>
            </a:r>
          </a:p>
          <a:p>
            <a:pPr marL="0" lvl="0" indent="0" algn="l" rtl="0">
              <a:spcBef>
                <a:spcPts val="0"/>
              </a:spcBef>
              <a:spcAft>
                <a:spcPts val="0"/>
              </a:spcAft>
              <a:buNone/>
            </a:pPr>
            <a:r>
              <a:rPr lang="en-US" dirty="0" smtClean="0"/>
              <a:t>Escaping @ Symbol:</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To escape an '@' symbol in Razor markup, you use a second '@' symbol. This ensures that the '@' is treated as a literal character rather than a transition indicator.</a:t>
            </a:r>
            <a:endParaRPr dirty="0"/>
          </a:p>
        </p:txBody>
      </p:sp>
      <p:sp>
        <p:nvSpPr>
          <p:cNvPr id="248" name="Google Shape;24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5605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err="1" smtClean="0"/>
              <a:t>PageModel</a:t>
            </a:r>
            <a:r>
              <a:rPr lang="en-US" dirty="0" smtClean="0"/>
              <a:t> -  .</a:t>
            </a:r>
            <a:r>
              <a:rPr lang="en-US" dirty="0" err="1" smtClean="0"/>
              <a:t>cshtml.cs</a:t>
            </a:r>
            <a:r>
              <a:rPr lang="en-US" dirty="0" smtClean="0"/>
              <a:t> page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When we talk about the '.</a:t>
            </a:r>
            <a:r>
              <a:rPr lang="en-US" dirty="0" err="1" smtClean="0"/>
              <a:t>cshtml.cs</a:t>
            </a:r>
            <a:r>
              <a:rPr lang="en-US" dirty="0" smtClean="0"/>
              <a:t>' file in Razor Pages, we're referring to the </a:t>
            </a:r>
            <a:r>
              <a:rPr lang="en-US" dirty="0" err="1" smtClean="0"/>
              <a:t>PageModel</a:t>
            </a:r>
            <a:r>
              <a:rPr lang="en-US" dirty="0" smtClean="0"/>
              <a:t>. This file plays a crucial role in handling page-related logic and operations. Let's explore its key features: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err="1" smtClean="0"/>
              <a:t>OnPost</a:t>
            </a:r>
            <a:r>
              <a:rPr lang="en-US" dirty="0" smtClean="0"/>
              <a:t> and </a:t>
            </a:r>
            <a:r>
              <a:rPr lang="en-US" dirty="0" err="1" smtClean="0"/>
              <a:t>OnGet</a:t>
            </a:r>
            <a:r>
              <a:rPr lang="en-US" dirty="0" smtClean="0"/>
              <a:t> Methods: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The </a:t>
            </a:r>
            <a:r>
              <a:rPr lang="en-US" dirty="0" err="1" smtClean="0"/>
              <a:t>PageModel</a:t>
            </a:r>
            <a:r>
              <a:rPr lang="en-US" dirty="0" smtClean="0"/>
              <a:t> contains methods like '</a:t>
            </a:r>
            <a:r>
              <a:rPr lang="en-US" dirty="0" err="1" smtClean="0"/>
              <a:t>OnPost</a:t>
            </a:r>
            <a:r>
              <a:rPr lang="en-US" dirty="0" smtClean="0"/>
              <a:t>' and '</a:t>
            </a:r>
            <a:r>
              <a:rPr lang="en-US" dirty="0" err="1" smtClean="0"/>
              <a:t>OnGet</a:t>
            </a:r>
            <a:r>
              <a:rPr lang="en-US" dirty="0" smtClean="0"/>
              <a:t>' to handle specific actions. '</a:t>
            </a:r>
            <a:r>
              <a:rPr lang="en-US" dirty="0" err="1" smtClean="0"/>
              <a:t>OnPost</a:t>
            </a:r>
            <a:r>
              <a:rPr lang="en-US" dirty="0" smtClean="0"/>
              <a:t>' is often used to manage form submissions, while '</a:t>
            </a:r>
            <a:r>
              <a:rPr lang="en-US" dirty="0" err="1" smtClean="0"/>
              <a:t>OnGet</a:t>
            </a:r>
            <a:r>
              <a:rPr lang="en-US" dirty="0" smtClean="0"/>
              <a:t>' initializes the state needed for the page. These methods define the behavior of the page when it receives HTTP requests.</a:t>
            </a:r>
          </a:p>
          <a:p>
            <a:pPr marL="0" lvl="0" indent="0" algn="l" rtl="0">
              <a:spcBef>
                <a:spcPts val="0"/>
              </a:spcBef>
              <a:spcAft>
                <a:spcPts val="0"/>
              </a:spcAft>
              <a:buNone/>
            </a:pPr>
            <a:r>
              <a:rPr lang="en-US" dirty="0" smtClean="0"/>
              <a:t>Page Handlers and Data Rendering:</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The </a:t>
            </a:r>
            <a:r>
              <a:rPr lang="en-US" dirty="0" err="1" smtClean="0"/>
              <a:t>PageModel</a:t>
            </a:r>
            <a:r>
              <a:rPr lang="en-US" dirty="0" smtClean="0"/>
              <a:t> defines page handlers for HTTP requests sent to the page and manages the data used to render the page. It encapsulates both the handling of incoming requests and the preparation of data for rendering, making it a central hub for page-related activities.</a:t>
            </a:r>
          </a:p>
          <a:p>
            <a:pPr marL="0" lvl="0" indent="0" algn="l" rtl="0">
              <a:spcBef>
                <a:spcPts val="0"/>
              </a:spcBef>
              <a:spcAft>
                <a:spcPts val="0"/>
              </a:spcAft>
              <a:buNone/>
            </a:pPr>
            <a:r>
              <a:rPr lang="en-US" dirty="0" smtClean="0"/>
              <a:t>Encapsulation of Data and Logic:</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One of the strengths of the </a:t>
            </a:r>
            <a:r>
              <a:rPr lang="en-US" dirty="0" err="1" smtClean="0"/>
              <a:t>PageModel</a:t>
            </a:r>
            <a:r>
              <a:rPr lang="en-US" dirty="0" smtClean="0"/>
              <a:t> is its ability to encapsulate data properties and logic operations scoped specifically to its associated Razor page. This encapsulation ensures a clean and organized structure for managing the intricacies of the page.</a:t>
            </a:r>
          </a:p>
          <a:p>
            <a:pPr marL="0" lvl="0" indent="0" algn="l" rtl="0">
              <a:spcBef>
                <a:spcPts val="0"/>
              </a:spcBef>
              <a:spcAft>
                <a:spcPts val="0"/>
              </a:spcAft>
              <a:buNone/>
            </a:pPr>
            <a:r>
              <a:rPr lang="en-US" dirty="0" smtClean="0"/>
              <a:t>Managing Page Events: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Page events, like the lifecycle events of the page, can be managed within the </a:t>
            </a:r>
            <a:r>
              <a:rPr lang="en-US" dirty="0" err="1" smtClean="0"/>
              <a:t>PageModel</a:t>
            </a:r>
            <a:r>
              <a:rPr lang="en-US" dirty="0" smtClean="0"/>
              <a:t>. This allows developers to execute specific actions at different points in the page lifecycle, ensuring precise control over page behavior.</a:t>
            </a:r>
          </a:p>
          <a:p>
            <a:pPr marL="0" lvl="0" indent="0" algn="l" rtl="0">
              <a:spcBef>
                <a:spcPts val="0"/>
              </a:spcBef>
              <a:spcAft>
                <a:spcPts val="0"/>
              </a:spcAft>
              <a:buNone/>
            </a:pPr>
            <a:r>
              <a:rPr lang="en-US" dirty="0" smtClean="0"/>
              <a:t>Logic Hub of the Page: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In essence, the </a:t>
            </a:r>
            <a:r>
              <a:rPr lang="en-US" dirty="0" err="1" smtClean="0"/>
              <a:t>PageModel</a:t>
            </a:r>
            <a:r>
              <a:rPr lang="en-US" dirty="0" smtClean="0"/>
              <a:t> is the logic part of the page. It orchestrates how the page responds to user actions, processes data, and interacts with the server.</a:t>
            </a:r>
          </a:p>
          <a:p>
            <a:pPr marL="0" lvl="0" indent="0" algn="l" rtl="0">
              <a:spcBef>
                <a:spcPts val="0"/>
              </a:spcBef>
              <a:spcAft>
                <a:spcPts val="0"/>
              </a:spcAft>
              <a:buNone/>
            </a:pPr>
            <a:r>
              <a:rPr lang="en-US" dirty="0" smtClean="0"/>
              <a:t>Naming Convention:</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By convention, the </a:t>
            </a:r>
            <a:r>
              <a:rPr lang="en-US" dirty="0" err="1" smtClean="0"/>
              <a:t>PageModel</a:t>
            </a:r>
            <a:r>
              <a:rPr lang="en-US" dirty="0" smtClean="0"/>
              <a:t> class file has the same name as the Razor Page file with '.</a:t>
            </a:r>
            <a:r>
              <a:rPr lang="en-US" dirty="0" err="1" smtClean="0"/>
              <a:t>cs</a:t>
            </a:r>
            <a:r>
              <a:rPr lang="en-US" dirty="0" smtClean="0"/>
              <a:t>' appended. This convention simplifies the association between the Razor Page and its corresponding </a:t>
            </a:r>
            <a:r>
              <a:rPr lang="en-US" dirty="0" err="1" smtClean="0"/>
              <a:t>PageModel</a:t>
            </a:r>
            <a:r>
              <a:rPr lang="en-US" dirty="0" smtClean="0"/>
              <a:t>.</a:t>
            </a:r>
            <a:endParaRPr dirty="0"/>
          </a:p>
        </p:txBody>
      </p:sp>
      <p:sp>
        <p:nvSpPr>
          <p:cNvPr id="258" name="Google Shape;25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01638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smtClean="0">
                <a:solidFill>
                  <a:srgbClr val="374151"/>
                </a:solidFill>
              </a:rPr>
              <a:t>Thank you for joining this session!</a:t>
            </a:r>
            <a:endParaRPr lang="en-US" dirty="0" smtClean="0"/>
          </a:p>
          <a:p>
            <a:pPr marL="0" lvl="0" indent="0" algn="l" rtl="0">
              <a:spcBef>
                <a:spcPts val="0"/>
              </a:spcBef>
              <a:spcAft>
                <a:spcPts val="0"/>
              </a:spcAft>
              <a:buNone/>
            </a:pPr>
            <a:endParaRPr dirty="0"/>
          </a:p>
        </p:txBody>
      </p:sp>
      <p:sp>
        <p:nvSpPr>
          <p:cNvPr id="532" name="Google Shape;53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0935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4500"/>
              <a:buFont typeface="Arial"/>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100000"/>
              </a:lnSpc>
              <a:spcBef>
                <a:spcPts val="360"/>
              </a:spcBef>
              <a:spcAft>
                <a:spcPts val="0"/>
              </a:spcAft>
              <a:buClr>
                <a:schemeClr val="dk1"/>
              </a:buClr>
              <a:buSzPts val="1800"/>
              <a:buFont typeface="Arial"/>
              <a:buNone/>
              <a:defRPr sz="1800"/>
            </a:lvl1pPr>
            <a:lvl2pPr lvl="1" algn="ctr">
              <a:lnSpc>
                <a:spcPct val="100000"/>
              </a:lnSpc>
              <a:spcBef>
                <a:spcPts val="300"/>
              </a:spcBef>
              <a:spcAft>
                <a:spcPts val="0"/>
              </a:spcAft>
              <a:buClr>
                <a:schemeClr val="dk1"/>
              </a:buClr>
              <a:buSzPts val="1500"/>
              <a:buFont typeface="Arial"/>
              <a:buNone/>
              <a:defRPr sz="1500"/>
            </a:lvl2pPr>
            <a:lvl3pPr lvl="2" algn="ctr">
              <a:lnSpc>
                <a:spcPct val="100000"/>
              </a:lnSpc>
              <a:spcBef>
                <a:spcPts val="270"/>
              </a:spcBef>
              <a:spcAft>
                <a:spcPts val="0"/>
              </a:spcAft>
              <a:buClr>
                <a:schemeClr val="dk1"/>
              </a:buClr>
              <a:buSzPts val="1350"/>
              <a:buFont typeface="Arial"/>
              <a:buNone/>
              <a:defRPr sz="1350"/>
            </a:lvl3pPr>
            <a:lvl4pPr lvl="3" algn="ctr">
              <a:lnSpc>
                <a:spcPct val="100000"/>
              </a:lnSpc>
              <a:spcBef>
                <a:spcPts val="240"/>
              </a:spcBef>
              <a:spcAft>
                <a:spcPts val="0"/>
              </a:spcAft>
              <a:buClr>
                <a:schemeClr val="dk1"/>
              </a:buClr>
              <a:buSzPts val="1200"/>
              <a:buFont typeface="Arial"/>
              <a:buNone/>
              <a:defRPr sz="1200"/>
            </a:lvl4pPr>
            <a:lvl5pPr lvl="4" algn="ctr">
              <a:lnSpc>
                <a:spcPct val="100000"/>
              </a:lnSpc>
              <a:spcBef>
                <a:spcPts val="240"/>
              </a:spcBef>
              <a:spcAft>
                <a:spcPts val="0"/>
              </a:spcAft>
              <a:buClr>
                <a:schemeClr val="dk1"/>
              </a:buClr>
              <a:buSzPts val="1200"/>
              <a:buFont typeface="Arial"/>
              <a:buNone/>
              <a:defRPr sz="1200"/>
            </a:lvl5pPr>
            <a:lvl6pPr lvl="5" algn="ctr">
              <a:lnSpc>
                <a:spcPct val="100000"/>
              </a:lnSpc>
              <a:spcBef>
                <a:spcPts val="240"/>
              </a:spcBef>
              <a:spcAft>
                <a:spcPts val="0"/>
              </a:spcAft>
              <a:buClr>
                <a:schemeClr val="dk1"/>
              </a:buClr>
              <a:buSzPts val="1200"/>
              <a:buFont typeface="Arial"/>
              <a:buNone/>
              <a:defRPr sz="1200"/>
            </a:lvl6pPr>
            <a:lvl7pPr lvl="6" algn="ctr">
              <a:lnSpc>
                <a:spcPct val="100000"/>
              </a:lnSpc>
              <a:spcBef>
                <a:spcPts val="240"/>
              </a:spcBef>
              <a:spcAft>
                <a:spcPts val="0"/>
              </a:spcAft>
              <a:buClr>
                <a:schemeClr val="dk1"/>
              </a:buClr>
              <a:buSzPts val="1200"/>
              <a:buFont typeface="Arial"/>
              <a:buNone/>
              <a:defRPr sz="1200"/>
            </a:lvl7pPr>
            <a:lvl8pPr lvl="7" algn="ctr">
              <a:lnSpc>
                <a:spcPct val="100000"/>
              </a:lnSpc>
              <a:spcBef>
                <a:spcPts val="240"/>
              </a:spcBef>
              <a:spcAft>
                <a:spcPts val="0"/>
              </a:spcAft>
              <a:buClr>
                <a:schemeClr val="dk1"/>
              </a:buClr>
              <a:buSzPts val="1200"/>
              <a:buFont typeface="Arial"/>
              <a:buNone/>
              <a:defRPr sz="1200"/>
            </a:lvl8pPr>
            <a:lvl9pPr lvl="8" algn="ctr">
              <a:lnSpc>
                <a:spcPct val="100000"/>
              </a:lnSpc>
              <a:spcBef>
                <a:spcPts val="240"/>
              </a:spcBef>
              <a:spcAft>
                <a:spcPts val="0"/>
              </a:spcAft>
              <a:buClr>
                <a:schemeClr val="dk1"/>
              </a:buClr>
              <a:buSzPts val="1200"/>
              <a:buFont typeface="Arial"/>
              <a:buNone/>
              <a:defRPr sz="1200"/>
            </a:lvl9pPr>
          </a:lstStyle>
          <a:p>
            <a:endParaRPr/>
          </a:p>
        </p:txBody>
      </p:sp>
      <p:sp>
        <p:nvSpPr>
          <p:cNvPr id="18" name="Google Shape;18;p36"/>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6"/>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6"/>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
        <p:cNvGrpSpPr/>
        <p:nvPr/>
      </p:nvGrpSpPr>
      <p:grpSpPr>
        <a:xfrm>
          <a:off x="0" y="0"/>
          <a:ext cx="0" cy="0"/>
          <a:chOff x="0" y="0"/>
          <a:chExt cx="0" cy="0"/>
        </a:xfrm>
      </p:grpSpPr>
      <p:sp>
        <p:nvSpPr>
          <p:cNvPr id="22" name="Google Shape;22;p3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7"/>
          <p:cNvSpPr txBox="1">
            <a:spLocks noGrp="1"/>
          </p:cNvSpPr>
          <p:nvPr>
            <p:ph type="body" idx="1"/>
          </p:nvPr>
        </p:nvSpPr>
        <p:spPr>
          <a:xfrm>
            <a:off x="609600" y="1600200"/>
            <a:ext cx="5376672"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37"/>
          <p:cNvSpPr txBox="1">
            <a:spLocks noGrp="1"/>
          </p:cNvSpPr>
          <p:nvPr>
            <p:ph type="body" idx="2"/>
          </p:nvPr>
        </p:nvSpPr>
        <p:spPr>
          <a:xfrm>
            <a:off x="6205728" y="1600200"/>
            <a:ext cx="5376672"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 name="Google Shape;25;p37"/>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7"/>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7"/>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3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38"/>
          <p:cNvSpPr txBox="1">
            <a:spLocks noGrp="1"/>
          </p:cNvSpPr>
          <p:nvPr>
            <p:ph type="body" idx="1"/>
          </p:nvPr>
        </p:nvSpPr>
        <p:spPr>
          <a:xfrm>
            <a:off x="609600" y="1600200"/>
            <a:ext cx="109728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1" name="Google Shape;31;p38"/>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8"/>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38"/>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39"/>
          <p:cNvSpPr txBox="1">
            <a:spLocks noGrp="1"/>
          </p:cNvSpPr>
          <p:nvPr>
            <p:ph type="title"/>
          </p:nvPr>
        </p:nvSpPr>
        <p:spPr>
          <a:xfrm>
            <a:off x="831851" y="1709738"/>
            <a:ext cx="10515600" cy="2852737"/>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4500"/>
              <a:buFont typeface="Arial"/>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39"/>
          <p:cNvSpPr txBox="1">
            <a:spLocks noGrp="1"/>
          </p:cNvSpPr>
          <p:nvPr>
            <p:ph type="body" idx="1"/>
          </p:nvPr>
        </p:nvSpPr>
        <p:spPr>
          <a:xfrm>
            <a:off x="831851"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60"/>
              </a:spcBef>
              <a:spcAft>
                <a:spcPts val="0"/>
              </a:spcAft>
              <a:buClr>
                <a:srgbClr val="888888"/>
              </a:buClr>
              <a:buSzPts val="1800"/>
              <a:buFont typeface="Arial"/>
              <a:buNone/>
              <a:defRPr sz="1800">
                <a:solidFill>
                  <a:srgbClr val="888888"/>
                </a:solidFill>
              </a:defRPr>
            </a:lvl1pPr>
            <a:lvl2pPr marL="914400" lvl="1" indent="-228600" algn="l">
              <a:lnSpc>
                <a:spcPct val="100000"/>
              </a:lnSpc>
              <a:spcBef>
                <a:spcPts val="300"/>
              </a:spcBef>
              <a:spcAft>
                <a:spcPts val="0"/>
              </a:spcAft>
              <a:buClr>
                <a:srgbClr val="888888"/>
              </a:buClr>
              <a:buSzPts val="1500"/>
              <a:buFont typeface="Arial"/>
              <a:buNone/>
              <a:defRPr sz="1500">
                <a:solidFill>
                  <a:srgbClr val="888888"/>
                </a:solidFill>
              </a:defRPr>
            </a:lvl2pPr>
            <a:lvl3pPr marL="1371600" lvl="2" indent="-228600" algn="l">
              <a:lnSpc>
                <a:spcPct val="100000"/>
              </a:lnSpc>
              <a:spcBef>
                <a:spcPts val="270"/>
              </a:spcBef>
              <a:spcAft>
                <a:spcPts val="0"/>
              </a:spcAft>
              <a:buClr>
                <a:srgbClr val="888888"/>
              </a:buClr>
              <a:buSzPts val="1350"/>
              <a:buFont typeface="Arial"/>
              <a:buNone/>
              <a:defRPr sz="1350">
                <a:solidFill>
                  <a:srgbClr val="888888"/>
                </a:solidFill>
              </a:defRPr>
            </a:lvl3pPr>
            <a:lvl4pPr marL="1828800" lvl="3" indent="-228600" algn="l">
              <a:lnSpc>
                <a:spcPct val="100000"/>
              </a:lnSpc>
              <a:spcBef>
                <a:spcPts val="240"/>
              </a:spcBef>
              <a:spcAft>
                <a:spcPts val="0"/>
              </a:spcAft>
              <a:buClr>
                <a:srgbClr val="888888"/>
              </a:buClr>
              <a:buSzPts val="1200"/>
              <a:buFont typeface="Arial"/>
              <a:buNone/>
              <a:defRPr sz="1200">
                <a:solidFill>
                  <a:srgbClr val="888888"/>
                </a:solidFill>
              </a:defRPr>
            </a:lvl4pPr>
            <a:lvl5pPr marL="2286000" lvl="4" indent="-228600" algn="l">
              <a:lnSpc>
                <a:spcPct val="100000"/>
              </a:lnSpc>
              <a:spcBef>
                <a:spcPts val="240"/>
              </a:spcBef>
              <a:spcAft>
                <a:spcPts val="0"/>
              </a:spcAft>
              <a:buClr>
                <a:srgbClr val="888888"/>
              </a:buClr>
              <a:buSzPts val="1200"/>
              <a:buFont typeface="Arial"/>
              <a:buNone/>
              <a:defRPr sz="1200">
                <a:solidFill>
                  <a:srgbClr val="888888"/>
                </a:solidFill>
              </a:defRPr>
            </a:lvl5pPr>
            <a:lvl6pPr marL="2743200" lvl="5" indent="-228600" algn="l">
              <a:lnSpc>
                <a:spcPct val="100000"/>
              </a:lnSpc>
              <a:spcBef>
                <a:spcPts val="240"/>
              </a:spcBef>
              <a:spcAft>
                <a:spcPts val="0"/>
              </a:spcAft>
              <a:buClr>
                <a:srgbClr val="888888"/>
              </a:buClr>
              <a:buSzPts val="1200"/>
              <a:buFont typeface="Arial"/>
              <a:buNone/>
              <a:defRPr sz="1200">
                <a:solidFill>
                  <a:srgbClr val="888888"/>
                </a:solidFill>
              </a:defRPr>
            </a:lvl6pPr>
            <a:lvl7pPr marL="3200400" lvl="6" indent="-228600" algn="l">
              <a:lnSpc>
                <a:spcPct val="100000"/>
              </a:lnSpc>
              <a:spcBef>
                <a:spcPts val="240"/>
              </a:spcBef>
              <a:spcAft>
                <a:spcPts val="0"/>
              </a:spcAft>
              <a:buClr>
                <a:srgbClr val="888888"/>
              </a:buClr>
              <a:buSzPts val="1200"/>
              <a:buFont typeface="Arial"/>
              <a:buNone/>
              <a:defRPr sz="1200">
                <a:solidFill>
                  <a:srgbClr val="888888"/>
                </a:solidFill>
              </a:defRPr>
            </a:lvl7pPr>
            <a:lvl8pPr marL="3657600" lvl="7" indent="-228600" algn="l">
              <a:lnSpc>
                <a:spcPct val="100000"/>
              </a:lnSpc>
              <a:spcBef>
                <a:spcPts val="240"/>
              </a:spcBef>
              <a:spcAft>
                <a:spcPts val="0"/>
              </a:spcAft>
              <a:buClr>
                <a:srgbClr val="888888"/>
              </a:buClr>
              <a:buSzPts val="1200"/>
              <a:buFont typeface="Arial"/>
              <a:buNone/>
              <a:defRPr sz="1200">
                <a:solidFill>
                  <a:srgbClr val="888888"/>
                </a:solidFill>
              </a:defRPr>
            </a:lvl8pPr>
            <a:lvl9pPr marL="4114800" lvl="8" indent="-228600" algn="l">
              <a:lnSpc>
                <a:spcPct val="100000"/>
              </a:lnSpc>
              <a:spcBef>
                <a:spcPts val="240"/>
              </a:spcBef>
              <a:spcAft>
                <a:spcPts val="0"/>
              </a:spcAft>
              <a:buClr>
                <a:srgbClr val="888888"/>
              </a:buClr>
              <a:buSzPts val="1200"/>
              <a:buFont typeface="Arial"/>
              <a:buNone/>
              <a:defRPr sz="1200">
                <a:solidFill>
                  <a:srgbClr val="888888"/>
                </a:solidFill>
              </a:defRPr>
            </a:lvl9pPr>
          </a:lstStyle>
          <a:p>
            <a:endParaRPr/>
          </a:p>
        </p:txBody>
      </p:sp>
      <p:sp>
        <p:nvSpPr>
          <p:cNvPr id="37" name="Google Shape;37;p39"/>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9"/>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9"/>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4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60"/>
              </a:spcBef>
              <a:spcAft>
                <a:spcPts val="0"/>
              </a:spcAft>
              <a:buClr>
                <a:schemeClr val="dk1"/>
              </a:buClr>
              <a:buSzPts val="1800"/>
              <a:buFont typeface="Arial"/>
              <a:buNone/>
              <a:defRPr sz="1800" b="1"/>
            </a:lvl1pPr>
            <a:lvl2pPr marL="914400" lvl="1" indent="-228600" algn="l">
              <a:lnSpc>
                <a:spcPct val="100000"/>
              </a:lnSpc>
              <a:spcBef>
                <a:spcPts val="300"/>
              </a:spcBef>
              <a:spcAft>
                <a:spcPts val="0"/>
              </a:spcAft>
              <a:buClr>
                <a:schemeClr val="dk1"/>
              </a:buClr>
              <a:buSzPts val="1500"/>
              <a:buFont typeface="Arial"/>
              <a:buNone/>
              <a:defRPr sz="1500" b="1"/>
            </a:lvl2pPr>
            <a:lvl3pPr marL="1371600" lvl="2" indent="-228600" algn="l">
              <a:lnSpc>
                <a:spcPct val="100000"/>
              </a:lnSpc>
              <a:spcBef>
                <a:spcPts val="270"/>
              </a:spcBef>
              <a:spcAft>
                <a:spcPts val="0"/>
              </a:spcAft>
              <a:buClr>
                <a:schemeClr val="dk1"/>
              </a:buClr>
              <a:buSzPts val="1350"/>
              <a:buFont typeface="Arial"/>
              <a:buNone/>
              <a:defRPr sz="1350" b="1"/>
            </a:lvl3pPr>
            <a:lvl4pPr marL="1828800" lvl="3" indent="-228600" algn="l">
              <a:lnSpc>
                <a:spcPct val="100000"/>
              </a:lnSpc>
              <a:spcBef>
                <a:spcPts val="240"/>
              </a:spcBef>
              <a:spcAft>
                <a:spcPts val="0"/>
              </a:spcAft>
              <a:buClr>
                <a:schemeClr val="dk1"/>
              </a:buClr>
              <a:buSzPts val="1200"/>
              <a:buFont typeface="Arial"/>
              <a:buNone/>
              <a:defRPr sz="1200" b="1"/>
            </a:lvl4pPr>
            <a:lvl5pPr marL="2286000" lvl="4" indent="-228600" algn="l">
              <a:lnSpc>
                <a:spcPct val="100000"/>
              </a:lnSpc>
              <a:spcBef>
                <a:spcPts val="240"/>
              </a:spcBef>
              <a:spcAft>
                <a:spcPts val="0"/>
              </a:spcAft>
              <a:buClr>
                <a:schemeClr val="dk1"/>
              </a:buClr>
              <a:buSzPts val="1200"/>
              <a:buFont typeface="Arial"/>
              <a:buNone/>
              <a:defRPr sz="1200" b="1"/>
            </a:lvl5pPr>
            <a:lvl6pPr marL="2743200" lvl="5" indent="-228600" algn="l">
              <a:lnSpc>
                <a:spcPct val="100000"/>
              </a:lnSpc>
              <a:spcBef>
                <a:spcPts val="240"/>
              </a:spcBef>
              <a:spcAft>
                <a:spcPts val="0"/>
              </a:spcAft>
              <a:buClr>
                <a:schemeClr val="dk1"/>
              </a:buClr>
              <a:buSzPts val="1200"/>
              <a:buFont typeface="Arial"/>
              <a:buNone/>
              <a:defRPr sz="1200" b="1"/>
            </a:lvl6pPr>
            <a:lvl7pPr marL="3200400" lvl="6" indent="-228600" algn="l">
              <a:lnSpc>
                <a:spcPct val="100000"/>
              </a:lnSpc>
              <a:spcBef>
                <a:spcPts val="240"/>
              </a:spcBef>
              <a:spcAft>
                <a:spcPts val="0"/>
              </a:spcAft>
              <a:buClr>
                <a:schemeClr val="dk1"/>
              </a:buClr>
              <a:buSzPts val="1200"/>
              <a:buFont typeface="Arial"/>
              <a:buNone/>
              <a:defRPr sz="1200" b="1"/>
            </a:lvl7pPr>
            <a:lvl8pPr marL="3657600" lvl="7" indent="-228600" algn="l">
              <a:lnSpc>
                <a:spcPct val="100000"/>
              </a:lnSpc>
              <a:spcBef>
                <a:spcPts val="240"/>
              </a:spcBef>
              <a:spcAft>
                <a:spcPts val="0"/>
              </a:spcAft>
              <a:buClr>
                <a:schemeClr val="dk1"/>
              </a:buClr>
              <a:buSzPts val="1200"/>
              <a:buFont typeface="Arial"/>
              <a:buNone/>
              <a:defRPr sz="1200" b="1"/>
            </a:lvl8pPr>
            <a:lvl9pPr marL="4114800" lvl="8" indent="-228600" algn="l">
              <a:lnSpc>
                <a:spcPct val="100000"/>
              </a:lnSpc>
              <a:spcBef>
                <a:spcPts val="240"/>
              </a:spcBef>
              <a:spcAft>
                <a:spcPts val="0"/>
              </a:spcAft>
              <a:buClr>
                <a:schemeClr val="dk1"/>
              </a:buClr>
              <a:buSzPts val="1200"/>
              <a:buFont typeface="Arial"/>
              <a:buNone/>
              <a:defRPr sz="1200" b="1"/>
            </a:lvl9pPr>
          </a:lstStyle>
          <a:p>
            <a:endParaRPr/>
          </a:p>
        </p:txBody>
      </p:sp>
      <p:sp>
        <p:nvSpPr>
          <p:cNvPr id="43" name="Google Shape;43;p4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4" name="Google Shape;44;p4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60"/>
              </a:spcBef>
              <a:spcAft>
                <a:spcPts val="0"/>
              </a:spcAft>
              <a:buClr>
                <a:schemeClr val="dk1"/>
              </a:buClr>
              <a:buSzPts val="1800"/>
              <a:buFont typeface="Arial"/>
              <a:buNone/>
              <a:defRPr sz="1800" b="1"/>
            </a:lvl1pPr>
            <a:lvl2pPr marL="914400" lvl="1" indent="-228600" algn="l">
              <a:lnSpc>
                <a:spcPct val="100000"/>
              </a:lnSpc>
              <a:spcBef>
                <a:spcPts val="300"/>
              </a:spcBef>
              <a:spcAft>
                <a:spcPts val="0"/>
              </a:spcAft>
              <a:buClr>
                <a:schemeClr val="dk1"/>
              </a:buClr>
              <a:buSzPts val="1500"/>
              <a:buFont typeface="Arial"/>
              <a:buNone/>
              <a:defRPr sz="1500" b="1"/>
            </a:lvl2pPr>
            <a:lvl3pPr marL="1371600" lvl="2" indent="-228600" algn="l">
              <a:lnSpc>
                <a:spcPct val="100000"/>
              </a:lnSpc>
              <a:spcBef>
                <a:spcPts val="270"/>
              </a:spcBef>
              <a:spcAft>
                <a:spcPts val="0"/>
              </a:spcAft>
              <a:buClr>
                <a:schemeClr val="dk1"/>
              </a:buClr>
              <a:buSzPts val="1350"/>
              <a:buFont typeface="Arial"/>
              <a:buNone/>
              <a:defRPr sz="1350" b="1"/>
            </a:lvl3pPr>
            <a:lvl4pPr marL="1828800" lvl="3" indent="-228600" algn="l">
              <a:lnSpc>
                <a:spcPct val="100000"/>
              </a:lnSpc>
              <a:spcBef>
                <a:spcPts val="240"/>
              </a:spcBef>
              <a:spcAft>
                <a:spcPts val="0"/>
              </a:spcAft>
              <a:buClr>
                <a:schemeClr val="dk1"/>
              </a:buClr>
              <a:buSzPts val="1200"/>
              <a:buFont typeface="Arial"/>
              <a:buNone/>
              <a:defRPr sz="1200" b="1"/>
            </a:lvl4pPr>
            <a:lvl5pPr marL="2286000" lvl="4" indent="-228600" algn="l">
              <a:lnSpc>
                <a:spcPct val="100000"/>
              </a:lnSpc>
              <a:spcBef>
                <a:spcPts val="240"/>
              </a:spcBef>
              <a:spcAft>
                <a:spcPts val="0"/>
              </a:spcAft>
              <a:buClr>
                <a:schemeClr val="dk1"/>
              </a:buClr>
              <a:buSzPts val="1200"/>
              <a:buFont typeface="Arial"/>
              <a:buNone/>
              <a:defRPr sz="1200" b="1"/>
            </a:lvl5pPr>
            <a:lvl6pPr marL="2743200" lvl="5" indent="-228600" algn="l">
              <a:lnSpc>
                <a:spcPct val="100000"/>
              </a:lnSpc>
              <a:spcBef>
                <a:spcPts val="240"/>
              </a:spcBef>
              <a:spcAft>
                <a:spcPts val="0"/>
              </a:spcAft>
              <a:buClr>
                <a:schemeClr val="dk1"/>
              </a:buClr>
              <a:buSzPts val="1200"/>
              <a:buFont typeface="Arial"/>
              <a:buNone/>
              <a:defRPr sz="1200" b="1"/>
            </a:lvl6pPr>
            <a:lvl7pPr marL="3200400" lvl="6" indent="-228600" algn="l">
              <a:lnSpc>
                <a:spcPct val="100000"/>
              </a:lnSpc>
              <a:spcBef>
                <a:spcPts val="240"/>
              </a:spcBef>
              <a:spcAft>
                <a:spcPts val="0"/>
              </a:spcAft>
              <a:buClr>
                <a:schemeClr val="dk1"/>
              </a:buClr>
              <a:buSzPts val="1200"/>
              <a:buFont typeface="Arial"/>
              <a:buNone/>
              <a:defRPr sz="1200" b="1"/>
            </a:lvl7pPr>
            <a:lvl8pPr marL="3657600" lvl="7" indent="-228600" algn="l">
              <a:lnSpc>
                <a:spcPct val="100000"/>
              </a:lnSpc>
              <a:spcBef>
                <a:spcPts val="240"/>
              </a:spcBef>
              <a:spcAft>
                <a:spcPts val="0"/>
              </a:spcAft>
              <a:buClr>
                <a:schemeClr val="dk1"/>
              </a:buClr>
              <a:buSzPts val="1200"/>
              <a:buFont typeface="Arial"/>
              <a:buNone/>
              <a:defRPr sz="1200" b="1"/>
            </a:lvl8pPr>
            <a:lvl9pPr marL="4114800" lvl="8" indent="-228600" algn="l">
              <a:lnSpc>
                <a:spcPct val="100000"/>
              </a:lnSpc>
              <a:spcBef>
                <a:spcPts val="240"/>
              </a:spcBef>
              <a:spcAft>
                <a:spcPts val="0"/>
              </a:spcAft>
              <a:buClr>
                <a:schemeClr val="dk1"/>
              </a:buClr>
              <a:buSzPts val="1200"/>
              <a:buFont typeface="Arial"/>
              <a:buNone/>
              <a:defRPr sz="1200" b="1"/>
            </a:lvl9pPr>
          </a:lstStyle>
          <a:p>
            <a:endParaRPr/>
          </a:p>
        </p:txBody>
      </p:sp>
      <p:sp>
        <p:nvSpPr>
          <p:cNvPr id="45" name="Google Shape;45;p4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6" name="Google Shape;46;p40"/>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0"/>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0"/>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4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1"/>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1"/>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1"/>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42"/>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2"/>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2"/>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4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400"/>
              <a:buFont typeface="Arial"/>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Font typeface="Arial"/>
              <a:buChar char="•"/>
              <a:defRPr sz="2400"/>
            </a:lvl1pPr>
            <a:lvl2pPr marL="914400" lvl="1" indent="-361950" algn="l">
              <a:lnSpc>
                <a:spcPct val="100000"/>
              </a:lnSpc>
              <a:spcBef>
                <a:spcPts val="420"/>
              </a:spcBef>
              <a:spcAft>
                <a:spcPts val="0"/>
              </a:spcAft>
              <a:buClr>
                <a:schemeClr val="dk1"/>
              </a:buClr>
              <a:buSzPts val="2100"/>
              <a:buFont typeface="Arial"/>
              <a:buChar char="–"/>
              <a:defRPr sz="2100"/>
            </a:lvl2pPr>
            <a:lvl3pPr marL="1371600" lvl="2" indent="-342900" algn="l">
              <a:lnSpc>
                <a:spcPct val="100000"/>
              </a:lnSpc>
              <a:spcBef>
                <a:spcPts val="360"/>
              </a:spcBef>
              <a:spcAft>
                <a:spcPts val="0"/>
              </a:spcAft>
              <a:buClr>
                <a:schemeClr val="dk1"/>
              </a:buClr>
              <a:buSzPts val="1800"/>
              <a:buFont typeface="Arial"/>
              <a:buChar char="•"/>
              <a:defRPr sz="1800"/>
            </a:lvl3pPr>
            <a:lvl4pPr marL="1828800" lvl="3" indent="-323850" algn="l">
              <a:lnSpc>
                <a:spcPct val="100000"/>
              </a:lnSpc>
              <a:spcBef>
                <a:spcPts val="300"/>
              </a:spcBef>
              <a:spcAft>
                <a:spcPts val="0"/>
              </a:spcAft>
              <a:buClr>
                <a:schemeClr val="dk1"/>
              </a:buClr>
              <a:buSzPts val="1500"/>
              <a:buFont typeface="Arial"/>
              <a:buChar char="–"/>
              <a:defRPr sz="1500"/>
            </a:lvl4pPr>
            <a:lvl5pPr marL="2286000" lvl="4" indent="-323850" algn="l">
              <a:lnSpc>
                <a:spcPct val="100000"/>
              </a:lnSpc>
              <a:spcBef>
                <a:spcPts val="300"/>
              </a:spcBef>
              <a:spcAft>
                <a:spcPts val="0"/>
              </a:spcAft>
              <a:buClr>
                <a:schemeClr val="dk1"/>
              </a:buClr>
              <a:buSzPts val="1500"/>
              <a:buFont typeface="Arial"/>
              <a:buChar char="»"/>
              <a:defRPr sz="1500"/>
            </a:lvl5pPr>
            <a:lvl6pPr marL="2743200" lvl="5" indent="-323850" algn="l">
              <a:lnSpc>
                <a:spcPct val="100000"/>
              </a:lnSpc>
              <a:spcBef>
                <a:spcPts val="300"/>
              </a:spcBef>
              <a:spcAft>
                <a:spcPts val="0"/>
              </a:spcAft>
              <a:buClr>
                <a:schemeClr val="dk1"/>
              </a:buClr>
              <a:buSzPts val="1500"/>
              <a:buFont typeface="Arial"/>
              <a:buChar char="»"/>
              <a:defRPr sz="1500"/>
            </a:lvl6pPr>
            <a:lvl7pPr marL="3200400" lvl="6" indent="-323850" algn="l">
              <a:lnSpc>
                <a:spcPct val="100000"/>
              </a:lnSpc>
              <a:spcBef>
                <a:spcPts val="300"/>
              </a:spcBef>
              <a:spcAft>
                <a:spcPts val="0"/>
              </a:spcAft>
              <a:buClr>
                <a:schemeClr val="dk1"/>
              </a:buClr>
              <a:buSzPts val="1500"/>
              <a:buFont typeface="Arial"/>
              <a:buChar char="»"/>
              <a:defRPr sz="1500"/>
            </a:lvl7pPr>
            <a:lvl8pPr marL="3657600" lvl="7" indent="-323850" algn="l">
              <a:lnSpc>
                <a:spcPct val="100000"/>
              </a:lnSpc>
              <a:spcBef>
                <a:spcPts val="300"/>
              </a:spcBef>
              <a:spcAft>
                <a:spcPts val="0"/>
              </a:spcAft>
              <a:buClr>
                <a:schemeClr val="dk1"/>
              </a:buClr>
              <a:buSzPts val="1500"/>
              <a:buFont typeface="Arial"/>
              <a:buChar char="»"/>
              <a:defRPr sz="1500"/>
            </a:lvl8pPr>
            <a:lvl9pPr marL="4114800" lvl="8" indent="-323850" algn="l">
              <a:lnSpc>
                <a:spcPct val="100000"/>
              </a:lnSpc>
              <a:spcBef>
                <a:spcPts val="300"/>
              </a:spcBef>
              <a:spcAft>
                <a:spcPts val="0"/>
              </a:spcAft>
              <a:buClr>
                <a:schemeClr val="dk1"/>
              </a:buClr>
              <a:buSzPts val="1500"/>
              <a:buFont typeface="Arial"/>
              <a:buChar char="»"/>
              <a:defRPr sz="1500"/>
            </a:lvl9pPr>
          </a:lstStyle>
          <a:p>
            <a:endParaRPr/>
          </a:p>
        </p:txBody>
      </p:sp>
      <p:sp>
        <p:nvSpPr>
          <p:cNvPr id="61" name="Google Shape;61;p4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40"/>
              </a:spcBef>
              <a:spcAft>
                <a:spcPts val="0"/>
              </a:spcAft>
              <a:buClr>
                <a:schemeClr val="dk1"/>
              </a:buClr>
              <a:buSzPts val="1200"/>
              <a:buFont typeface="Arial"/>
              <a:buNone/>
              <a:defRPr sz="1200"/>
            </a:lvl1pPr>
            <a:lvl2pPr marL="914400" lvl="1" indent="-228600" algn="l">
              <a:lnSpc>
                <a:spcPct val="100000"/>
              </a:lnSpc>
              <a:spcBef>
                <a:spcPts val="210"/>
              </a:spcBef>
              <a:spcAft>
                <a:spcPts val="0"/>
              </a:spcAft>
              <a:buClr>
                <a:schemeClr val="dk1"/>
              </a:buClr>
              <a:buSzPts val="1050"/>
              <a:buFont typeface="Arial"/>
              <a:buNone/>
              <a:defRPr sz="1050"/>
            </a:lvl2pPr>
            <a:lvl3pPr marL="1371600" lvl="2" indent="-228600" algn="l">
              <a:lnSpc>
                <a:spcPct val="100000"/>
              </a:lnSpc>
              <a:spcBef>
                <a:spcPts val="180"/>
              </a:spcBef>
              <a:spcAft>
                <a:spcPts val="0"/>
              </a:spcAft>
              <a:buClr>
                <a:schemeClr val="dk1"/>
              </a:buClr>
              <a:buSzPts val="900"/>
              <a:buFont typeface="Arial"/>
              <a:buNone/>
              <a:defRPr sz="900"/>
            </a:lvl3pPr>
            <a:lvl4pPr marL="1828800" lvl="3" indent="-228600" algn="l">
              <a:lnSpc>
                <a:spcPct val="100000"/>
              </a:lnSpc>
              <a:spcBef>
                <a:spcPts val="150"/>
              </a:spcBef>
              <a:spcAft>
                <a:spcPts val="0"/>
              </a:spcAft>
              <a:buClr>
                <a:schemeClr val="dk1"/>
              </a:buClr>
              <a:buSzPts val="750"/>
              <a:buFont typeface="Arial"/>
              <a:buNone/>
              <a:defRPr sz="750"/>
            </a:lvl4pPr>
            <a:lvl5pPr marL="2286000" lvl="4" indent="-228600" algn="l">
              <a:lnSpc>
                <a:spcPct val="100000"/>
              </a:lnSpc>
              <a:spcBef>
                <a:spcPts val="150"/>
              </a:spcBef>
              <a:spcAft>
                <a:spcPts val="0"/>
              </a:spcAft>
              <a:buClr>
                <a:schemeClr val="dk1"/>
              </a:buClr>
              <a:buSzPts val="750"/>
              <a:buFont typeface="Arial"/>
              <a:buNone/>
              <a:defRPr sz="750"/>
            </a:lvl5pPr>
            <a:lvl6pPr marL="2743200" lvl="5" indent="-228600" algn="l">
              <a:lnSpc>
                <a:spcPct val="100000"/>
              </a:lnSpc>
              <a:spcBef>
                <a:spcPts val="150"/>
              </a:spcBef>
              <a:spcAft>
                <a:spcPts val="0"/>
              </a:spcAft>
              <a:buClr>
                <a:schemeClr val="dk1"/>
              </a:buClr>
              <a:buSzPts val="750"/>
              <a:buFont typeface="Arial"/>
              <a:buNone/>
              <a:defRPr sz="750"/>
            </a:lvl6pPr>
            <a:lvl7pPr marL="3200400" lvl="6" indent="-228600" algn="l">
              <a:lnSpc>
                <a:spcPct val="100000"/>
              </a:lnSpc>
              <a:spcBef>
                <a:spcPts val="150"/>
              </a:spcBef>
              <a:spcAft>
                <a:spcPts val="0"/>
              </a:spcAft>
              <a:buClr>
                <a:schemeClr val="dk1"/>
              </a:buClr>
              <a:buSzPts val="750"/>
              <a:buFont typeface="Arial"/>
              <a:buNone/>
              <a:defRPr sz="750"/>
            </a:lvl7pPr>
            <a:lvl8pPr marL="3657600" lvl="7" indent="-228600" algn="l">
              <a:lnSpc>
                <a:spcPct val="100000"/>
              </a:lnSpc>
              <a:spcBef>
                <a:spcPts val="150"/>
              </a:spcBef>
              <a:spcAft>
                <a:spcPts val="0"/>
              </a:spcAft>
              <a:buClr>
                <a:schemeClr val="dk1"/>
              </a:buClr>
              <a:buSzPts val="750"/>
              <a:buFont typeface="Arial"/>
              <a:buNone/>
              <a:defRPr sz="750"/>
            </a:lvl8pPr>
            <a:lvl9pPr marL="4114800" lvl="8" indent="-228600" algn="l">
              <a:lnSpc>
                <a:spcPct val="100000"/>
              </a:lnSpc>
              <a:spcBef>
                <a:spcPts val="150"/>
              </a:spcBef>
              <a:spcAft>
                <a:spcPts val="0"/>
              </a:spcAft>
              <a:buClr>
                <a:schemeClr val="dk1"/>
              </a:buClr>
              <a:buSzPts val="750"/>
              <a:buFont typeface="Arial"/>
              <a:buNone/>
              <a:defRPr sz="750"/>
            </a:lvl9pPr>
          </a:lstStyle>
          <a:p>
            <a:endParaRPr/>
          </a:p>
        </p:txBody>
      </p:sp>
      <p:sp>
        <p:nvSpPr>
          <p:cNvPr id="62" name="Google Shape;62;p43"/>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3"/>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3"/>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400"/>
              <a:buFont typeface="Arial"/>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44"/>
          <p:cNvSpPr>
            <a:spLocks noGrp="1"/>
          </p:cNvSpPr>
          <p:nvPr>
            <p:ph type="pic" idx="2"/>
          </p:nvPr>
        </p:nvSpPr>
        <p:spPr>
          <a:xfrm>
            <a:off x="5183188" y="987425"/>
            <a:ext cx="6172200" cy="4873625"/>
          </a:xfrm>
          <a:prstGeom prst="rect">
            <a:avLst/>
          </a:prstGeom>
          <a:noFill/>
          <a:ln>
            <a:noFill/>
          </a:ln>
        </p:spPr>
      </p:sp>
      <p:sp>
        <p:nvSpPr>
          <p:cNvPr id="68" name="Google Shape;68;p4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40"/>
              </a:spcBef>
              <a:spcAft>
                <a:spcPts val="0"/>
              </a:spcAft>
              <a:buClr>
                <a:schemeClr val="dk1"/>
              </a:buClr>
              <a:buSzPts val="1200"/>
              <a:buFont typeface="Arial"/>
              <a:buNone/>
              <a:defRPr sz="1200"/>
            </a:lvl1pPr>
            <a:lvl2pPr marL="914400" lvl="1" indent="-228600" algn="l">
              <a:lnSpc>
                <a:spcPct val="100000"/>
              </a:lnSpc>
              <a:spcBef>
                <a:spcPts val="210"/>
              </a:spcBef>
              <a:spcAft>
                <a:spcPts val="0"/>
              </a:spcAft>
              <a:buClr>
                <a:schemeClr val="dk1"/>
              </a:buClr>
              <a:buSzPts val="1050"/>
              <a:buFont typeface="Arial"/>
              <a:buNone/>
              <a:defRPr sz="1050"/>
            </a:lvl2pPr>
            <a:lvl3pPr marL="1371600" lvl="2" indent="-228600" algn="l">
              <a:lnSpc>
                <a:spcPct val="100000"/>
              </a:lnSpc>
              <a:spcBef>
                <a:spcPts val="180"/>
              </a:spcBef>
              <a:spcAft>
                <a:spcPts val="0"/>
              </a:spcAft>
              <a:buClr>
                <a:schemeClr val="dk1"/>
              </a:buClr>
              <a:buSzPts val="900"/>
              <a:buFont typeface="Arial"/>
              <a:buNone/>
              <a:defRPr sz="900"/>
            </a:lvl3pPr>
            <a:lvl4pPr marL="1828800" lvl="3" indent="-228600" algn="l">
              <a:lnSpc>
                <a:spcPct val="100000"/>
              </a:lnSpc>
              <a:spcBef>
                <a:spcPts val="150"/>
              </a:spcBef>
              <a:spcAft>
                <a:spcPts val="0"/>
              </a:spcAft>
              <a:buClr>
                <a:schemeClr val="dk1"/>
              </a:buClr>
              <a:buSzPts val="750"/>
              <a:buFont typeface="Arial"/>
              <a:buNone/>
              <a:defRPr sz="750"/>
            </a:lvl4pPr>
            <a:lvl5pPr marL="2286000" lvl="4" indent="-228600" algn="l">
              <a:lnSpc>
                <a:spcPct val="100000"/>
              </a:lnSpc>
              <a:spcBef>
                <a:spcPts val="150"/>
              </a:spcBef>
              <a:spcAft>
                <a:spcPts val="0"/>
              </a:spcAft>
              <a:buClr>
                <a:schemeClr val="dk1"/>
              </a:buClr>
              <a:buSzPts val="750"/>
              <a:buFont typeface="Arial"/>
              <a:buNone/>
              <a:defRPr sz="750"/>
            </a:lvl5pPr>
            <a:lvl6pPr marL="2743200" lvl="5" indent="-228600" algn="l">
              <a:lnSpc>
                <a:spcPct val="100000"/>
              </a:lnSpc>
              <a:spcBef>
                <a:spcPts val="150"/>
              </a:spcBef>
              <a:spcAft>
                <a:spcPts val="0"/>
              </a:spcAft>
              <a:buClr>
                <a:schemeClr val="dk1"/>
              </a:buClr>
              <a:buSzPts val="750"/>
              <a:buFont typeface="Arial"/>
              <a:buNone/>
              <a:defRPr sz="750"/>
            </a:lvl6pPr>
            <a:lvl7pPr marL="3200400" lvl="6" indent="-228600" algn="l">
              <a:lnSpc>
                <a:spcPct val="100000"/>
              </a:lnSpc>
              <a:spcBef>
                <a:spcPts val="150"/>
              </a:spcBef>
              <a:spcAft>
                <a:spcPts val="0"/>
              </a:spcAft>
              <a:buClr>
                <a:schemeClr val="dk1"/>
              </a:buClr>
              <a:buSzPts val="750"/>
              <a:buFont typeface="Arial"/>
              <a:buNone/>
              <a:defRPr sz="750"/>
            </a:lvl7pPr>
            <a:lvl8pPr marL="3657600" lvl="7" indent="-228600" algn="l">
              <a:lnSpc>
                <a:spcPct val="100000"/>
              </a:lnSpc>
              <a:spcBef>
                <a:spcPts val="150"/>
              </a:spcBef>
              <a:spcAft>
                <a:spcPts val="0"/>
              </a:spcAft>
              <a:buClr>
                <a:schemeClr val="dk1"/>
              </a:buClr>
              <a:buSzPts val="750"/>
              <a:buFont typeface="Arial"/>
              <a:buNone/>
              <a:defRPr sz="750"/>
            </a:lvl8pPr>
            <a:lvl9pPr marL="4114800" lvl="8" indent="-228600" algn="l">
              <a:lnSpc>
                <a:spcPct val="100000"/>
              </a:lnSpc>
              <a:spcBef>
                <a:spcPts val="150"/>
              </a:spcBef>
              <a:spcAft>
                <a:spcPts val="0"/>
              </a:spcAft>
              <a:buClr>
                <a:schemeClr val="dk1"/>
              </a:buClr>
              <a:buSzPts val="750"/>
              <a:buFont typeface="Arial"/>
              <a:buNone/>
              <a:defRPr sz="750"/>
            </a:lvl9pPr>
          </a:lstStyle>
          <a:p>
            <a:endParaRPr/>
          </a:p>
        </p:txBody>
      </p:sp>
      <p:sp>
        <p:nvSpPr>
          <p:cNvPr id="69" name="Google Shape;69;p44"/>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4"/>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4"/>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5"/>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45"/>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5"/>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5"/>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6"/>
          <p:cNvSpPr txBox="1">
            <a:spLocks noGrp="1"/>
          </p:cNvSpPr>
          <p:nvPr>
            <p:ph type="title"/>
          </p:nvPr>
        </p:nvSpPr>
        <p:spPr>
          <a:xfrm rot="5400000">
            <a:off x="7285038" y="1828801"/>
            <a:ext cx="5851525" cy="2743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6"/>
          <p:cNvSpPr txBox="1">
            <a:spLocks noGrp="1"/>
          </p:cNvSpPr>
          <p:nvPr>
            <p:ph type="body" idx="1"/>
          </p:nvPr>
        </p:nvSpPr>
        <p:spPr>
          <a:xfrm rot="5400000">
            <a:off x="1719124" y="-834886"/>
            <a:ext cx="5851525" cy="807057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46"/>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6"/>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6"/>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2"/>
              </a:buClr>
              <a:buSzPts val="4400"/>
              <a:buFont typeface="Arial"/>
              <a:buNone/>
              <a:defRPr sz="44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5"/>
          <p:cNvSpPr txBox="1">
            <a:spLocks noGrp="1"/>
          </p:cNvSpPr>
          <p:nvPr>
            <p:ph type="body" idx="1"/>
          </p:nvPr>
        </p:nvSpPr>
        <p:spPr>
          <a:xfrm>
            <a:off x="609600" y="1600200"/>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 name="Google Shape;12;p35"/>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35"/>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35"/>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400" b="0" i="0" u="none" strike="noStrike" cap="none">
                <a:solidFill>
                  <a:schemeClr val="dk1"/>
                </a:solidFill>
                <a:latin typeface="Arial"/>
                <a:ea typeface="Arial"/>
                <a:cs typeface="Arial"/>
                <a:sym typeface="Arial"/>
              </a:defRPr>
            </a:lvl1pPr>
            <a:lvl2pPr marL="0" marR="0" lvl="1" indent="0" algn="r" rtl="0">
              <a:spcBef>
                <a:spcPts val="0"/>
              </a:spcBef>
              <a:buNone/>
              <a:defRPr sz="1400" b="0" i="0" u="none" strike="noStrike" cap="none">
                <a:solidFill>
                  <a:schemeClr val="dk1"/>
                </a:solidFill>
                <a:latin typeface="Arial"/>
                <a:ea typeface="Arial"/>
                <a:cs typeface="Arial"/>
                <a:sym typeface="Arial"/>
              </a:defRPr>
            </a:lvl2pPr>
            <a:lvl3pPr marL="0" marR="0" lvl="2" indent="0" algn="r" rtl="0">
              <a:spcBef>
                <a:spcPts val="0"/>
              </a:spcBef>
              <a:buNone/>
              <a:defRPr sz="1400" b="0" i="0" u="none" strike="noStrike" cap="none">
                <a:solidFill>
                  <a:schemeClr val="dk1"/>
                </a:solidFill>
                <a:latin typeface="Arial"/>
                <a:ea typeface="Arial"/>
                <a:cs typeface="Arial"/>
                <a:sym typeface="Arial"/>
              </a:defRPr>
            </a:lvl3pPr>
            <a:lvl4pPr marL="0" marR="0" lvl="3" indent="0" algn="r" rtl="0">
              <a:spcBef>
                <a:spcPts val="0"/>
              </a:spcBef>
              <a:buNone/>
              <a:defRPr sz="1400" b="0" i="0" u="none" strike="noStrike" cap="none">
                <a:solidFill>
                  <a:schemeClr val="dk1"/>
                </a:solidFill>
                <a:latin typeface="Arial"/>
                <a:ea typeface="Arial"/>
                <a:cs typeface="Arial"/>
                <a:sym typeface="Arial"/>
              </a:defRPr>
            </a:lvl4pPr>
            <a:lvl5pPr marL="0" marR="0" lvl="4" indent="0" algn="r" rtl="0">
              <a:spcBef>
                <a:spcPts val="0"/>
              </a:spcBef>
              <a:buNone/>
              <a:defRPr sz="1400" b="0" i="0" u="none" strike="noStrike" cap="none">
                <a:solidFill>
                  <a:schemeClr val="dk1"/>
                </a:solidFill>
                <a:latin typeface="Arial"/>
                <a:ea typeface="Arial"/>
                <a:cs typeface="Arial"/>
                <a:sym typeface="Arial"/>
              </a:defRPr>
            </a:lvl5pPr>
            <a:lvl6pPr marL="0" marR="0" lvl="5" indent="0" algn="r" rtl="0">
              <a:spcBef>
                <a:spcPts val="0"/>
              </a:spcBef>
              <a:buNone/>
              <a:defRPr sz="1400" b="0" i="0" u="none" strike="noStrike" cap="none">
                <a:solidFill>
                  <a:schemeClr val="dk1"/>
                </a:solidFill>
                <a:latin typeface="Arial"/>
                <a:ea typeface="Arial"/>
                <a:cs typeface="Arial"/>
                <a:sym typeface="Arial"/>
              </a:defRPr>
            </a:lvl6pPr>
            <a:lvl7pPr marL="0" marR="0" lvl="6" indent="0" algn="r" rtl="0">
              <a:spcBef>
                <a:spcPts val="0"/>
              </a:spcBef>
              <a:buNone/>
              <a:defRPr sz="1400" b="0" i="0" u="none" strike="noStrike" cap="none">
                <a:solidFill>
                  <a:schemeClr val="dk1"/>
                </a:solidFill>
                <a:latin typeface="Arial"/>
                <a:ea typeface="Arial"/>
                <a:cs typeface="Arial"/>
                <a:sym typeface="Arial"/>
              </a:defRPr>
            </a:lvl7pPr>
            <a:lvl8pPr marL="0" marR="0" lvl="7" indent="0" algn="r" rtl="0">
              <a:spcBef>
                <a:spcPts val="0"/>
              </a:spcBef>
              <a:buNone/>
              <a:defRPr sz="1400" b="0" i="0" u="none" strike="noStrike" cap="none">
                <a:solidFill>
                  <a:schemeClr val="dk1"/>
                </a:solidFill>
                <a:latin typeface="Arial"/>
                <a:ea typeface="Arial"/>
                <a:cs typeface="Arial"/>
                <a:sym typeface="Arial"/>
              </a:defRPr>
            </a:lvl8pPr>
            <a:lvl9pPr marL="0" marR="0" lvl="8" indent="0" algn="r" rtl="0">
              <a:spcBef>
                <a:spcPts val="0"/>
              </a:spcBef>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88" name="Google Shape;88;p1"/>
          <p:cNvSpPr/>
          <p:nvPr/>
        </p:nvSpPr>
        <p:spPr>
          <a:xfrm>
            <a:off x="-124" y="0"/>
            <a:ext cx="12188949"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89" name="Google Shape;89;p1"/>
          <p:cNvGrpSpPr/>
          <p:nvPr/>
        </p:nvGrpSpPr>
        <p:grpSpPr>
          <a:xfrm>
            <a:off x="8228965" y="721995"/>
            <a:ext cx="3272155" cy="5680710"/>
            <a:chOff x="651279" y="598259"/>
            <a:chExt cx="10889442" cy="5680742"/>
          </a:xfrm>
        </p:grpSpPr>
        <p:sp>
          <p:nvSpPr>
            <p:cNvPr id="90" name="Google Shape;90;p1"/>
            <p:cNvSpPr/>
            <p:nvPr/>
          </p:nvSpPr>
          <p:spPr>
            <a:xfrm>
              <a:off x="651279" y="598259"/>
              <a:ext cx="10889442" cy="56807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1" name="Google Shape;91;p1"/>
            <p:cNvSpPr/>
            <p:nvPr/>
          </p:nvSpPr>
          <p:spPr>
            <a:xfrm>
              <a:off x="651279" y="598259"/>
              <a:ext cx="10889442" cy="5680742"/>
            </a:xfrm>
            <a:prstGeom prst="rect">
              <a:avLst/>
            </a:prstGeom>
            <a:solidFill>
              <a:schemeClr val="accent6">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pic>
        <p:nvPicPr>
          <p:cNvPr id="92" name="Google Shape;92;p1" descr="Icon&#10;&#10;Description automatically generated"/>
          <p:cNvPicPr preferRelativeResize="0"/>
          <p:nvPr/>
        </p:nvPicPr>
        <p:blipFill rotWithShape="1">
          <a:blip r:embed="rId3">
            <a:alphaModFix/>
          </a:blip>
          <a:srcRect l="504" r="-3" b="-3"/>
          <a:stretch/>
        </p:blipFill>
        <p:spPr>
          <a:xfrm>
            <a:off x="9081498" y="2278220"/>
            <a:ext cx="1742742" cy="2162907"/>
          </a:xfrm>
          <a:prstGeom prst="rect">
            <a:avLst/>
          </a:prstGeom>
          <a:noFill/>
          <a:ln>
            <a:noFill/>
          </a:ln>
        </p:spPr>
      </p:pic>
      <p:grpSp>
        <p:nvGrpSpPr>
          <p:cNvPr id="93" name="Google Shape;93;p1"/>
          <p:cNvGrpSpPr/>
          <p:nvPr/>
        </p:nvGrpSpPr>
        <p:grpSpPr>
          <a:xfrm>
            <a:off x="0" y="0"/>
            <a:ext cx="12188952" cy="6858000"/>
            <a:chOff x="0" y="0"/>
            <a:chExt cx="12188952" cy="6858000"/>
          </a:xfrm>
        </p:grpSpPr>
        <p:sp>
          <p:nvSpPr>
            <p:cNvPr id="94" name="Google Shape;94;p1"/>
            <p:cNvSpPr/>
            <p:nvPr/>
          </p:nvSpPr>
          <p:spPr>
            <a:xfrm>
              <a:off x="26122" y="6015669"/>
              <a:ext cx="2605762" cy="842331"/>
            </a:xfrm>
            <a:custGeom>
              <a:avLst/>
              <a:gdLst/>
              <a:ahLst/>
              <a:cxnLst/>
              <a:rect l="l" t="t" r="r" b="b"/>
              <a:pathLst>
                <a:path w="3180577" h="1033951" extrusionOk="0">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5" name="Google Shape;95;p1"/>
            <p:cNvSpPr/>
            <p:nvPr/>
          </p:nvSpPr>
          <p:spPr>
            <a:xfrm>
              <a:off x="655184" y="5798001"/>
              <a:ext cx="2485581" cy="1059999"/>
            </a:xfrm>
            <a:custGeom>
              <a:avLst/>
              <a:gdLst/>
              <a:ahLst/>
              <a:cxnLst/>
              <a:rect l="l" t="t" r="r" b="b"/>
              <a:pathLst>
                <a:path w="2449768" h="1050628" extrusionOk="0">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6" name="Google Shape;96;p1"/>
            <p:cNvSpPr/>
            <p:nvPr/>
          </p:nvSpPr>
          <p:spPr>
            <a:xfrm>
              <a:off x="3474720" y="0"/>
              <a:ext cx="6177282" cy="1778750"/>
            </a:xfrm>
            <a:custGeom>
              <a:avLst/>
              <a:gdLst/>
              <a:ahLst/>
              <a:cxnLst/>
              <a:rect l="l" t="t" r="r" b="b"/>
              <a:pathLst>
                <a:path w="6386648" h="1849426" extrusionOk="0">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lt1">
                <a:alpha val="4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7" name="Google Shape;97;p1"/>
            <p:cNvSpPr/>
            <p:nvPr/>
          </p:nvSpPr>
          <p:spPr>
            <a:xfrm>
              <a:off x="0" y="2390523"/>
              <a:ext cx="611491" cy="1421482"/>
            </a:xfrm>
            <a:custGeom>
              <a:avLst/>
              <a:gdLst/>
              <a:ahLst/>
              <a:cxnLst/>
              <a:rect l="l" t="t" r="r" b="b"/>
              <a:pathLst>
                <a:path w="611491" h="1429512" extrusionOk="0">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8" name="Google Shape;98;p1"/>
            <p:cNvSpPr/>
            <p:nvPr/>
          </p:nvSpPr>
          <p:spPr>
            <a:xfrm>
              <a:off x="3792772" y="0"/>
              <a:ext cx="2423863" cy="1343767"/>
            </a:xfrm>
            <a:custGeom>
              <a:avLst/>
              <a:gdLst/>
              <a:ahLst/>
              <a:cxnLst/>
              <a:rect l="l" t="t" r="r" b="b"/>
              <a:pathLst>
                <a:path w="3015964" h="1681468" extrusionOk="0">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lt1">
                <a:alpha val="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9" name="Google Shape;99;p1"/>
            <p:cNvSpPr/>
            <p:nvPr/>
          </p:nvSpPr>
          <p:spPr>
            <a:xfrm>
              <a:off x="10946850" y="0"/>
              <a:ext cx="1242102" cy="2620884"/>
            </a:xfrm>
            <a:custGeom>
              <a:avLst/>
              <a:gdLst/>
              <a:ahLst/>
              <a:cxnLst/>
              <a:rect l="l" t="t" r="r" b="b"/>
              <a:pathLst>
                <a:path w="1242102" h="2635689" extrusionOk="0">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lt1">
                <a:alpha val="4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0" name="Google Shape;100;p1"/>
            <p:cNvSpPr/>
            <p:nvPr/>
          </p:nvSpPr>
          <p:spPr>
            <a:xfrm>
              <a:off x="0" y="0"/>
              <a:ext cx="1577788" cy="980141"/>
            </a:xfrm>
            <a:custGeom>
              <a:avLst/>
              <a:gdLst/>
              <a:ahLst/>
              <a:cxnLst/>
              <a:rect l="l" t="t" r="r" b="b"/>
              <a:pathLst>
                <a:path w="1471018" h="795676" extrusionOk="0">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101" name="Google Shape;101;p1"/>
          <p:cNvSpPr txBox="1">
            <a:spLocks noGrp="1"/>
          </p:cNvSpPr>
          <p:nvPr>
            <p:ph type="ctrTitle"/>
          </p:nvPr>
        </p:nvSpPr>
        <p:spPr>
          <a:xfrm>
            <a:off x="464185" y="405130"/>
            <a:ext cx="7764780" cy="1534795"/>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012D86"/>
              </a:buClr>
              <a:buSzPts val="4800"/>
              <a:buFont typeface="Bell MT"/>
              <a:buNone/>
            </a:pPr>
            <a:r>
              <a:rPr lang="en-US" sz="4800" b="1">
                <a:solidFill>
                  <a:srgbClr val="012D86"/>
                </a:solidFill>
                <a:latin typeface="Bell MT"/>
                <a:ea typeface="Bell MT"/>
                <a:cs typeface="Bell MT"/>
                <a:sym typeface="Bell MT"/>
              </a:rPr>
              <a:t>Asp.Net Core – Razor Pages</a:t>
            </a:r>
            <a:endParaRPr sz="4800" b="1">
              <a:solidFill>
                <a:srgbClr val="012D86"/>
              </a:solidFill>
              <a:latin typeface="Bell MT"/>
              <a:ea typeface="Bell MT"/>
              <a:cs typeface="Bell MT"/>
              <a:sym typeface="Bell MT"/>
            </a:endParaRPr>
          </a:p>
        </p:txBody>
      </p:sp>
      <p:sp>
        <p:nvSpPr>
          <p:cNvPr id="102" name="Google Shape;102;p1"/>
          <p:cNvSpPr txBox="1">
            <a:spLocks noGrp="1"/>
          </p:cNvSpPr>
          <p:nvPr>
            <p:ph type="subTitle" idx="1"/>
          </p:nvPr>
        </p:nvSpPr>
        <p:spPr>
          <a:xfrm>
            <a:off x="810079" y="1939665"/>
            <a:ext cx="8701694" cy="237407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012D86"/>
              </a:buClr>
              <a:buSzPts val="1800"/>
              <a:buFont typeface="Arial"/>
              <a:buNone/>
            </a:pPr>
            <a:r>
              <a:rPr lang="en-US" cap="small">
                <a:solidFill>
                  <a:srgbClr val="012D86"/>
                </a:solidFill>
              </a:rPr>
              <a:t>ASP.Net Core Web Developer Program @ Aitrich Academy</a:t>
            </a:r>
            <a:endParaRPr cap="small">
              <a:solidFill>
                <a:srgbClr val="012D86"/>
              </a:solidFill>
            </a:endParaRPr>
          </a:p>
        </p:txBody>
      </p:sp>
      <p:pic>
        <p:nvPicPr>
          <p:cNvPr id="103" name="Google Shape;103;p1"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500"/>
                                        <p:tgtEl>
                                          <p:spTgt spid="88"/>
                                        </p:tgtEl>
                                      </p:cBhvr>
                                    </p:animEffect>
                                  </p:childTnLst>
                                </p:cTn>
                              </p:par>
                              <p:par>
                                <p:cTn id="8" presetID="10" presetClass="entr" presetSubtype="0" fill="hold" nodeType="withEffect">
                                  <p:stCondLst>
                                    <p:cond delay="0"/>
                                  </p:stCondLst>
                                  <p:childTnLst>
                                    <p:set>
                                      <p:cBhvr>
                                        <p:cTn id="9" dur="1" fill="hold">
                                          <p:stCondLst>
                                            <p:cond delay="0"/>
                                          </p:stCondLst>
                                        </p:cTn>
                                        <p:tgtEl>
                                          <p:spTgt spid="89"/>
                                        </p:tgtEl>
                                        <p:attrNameLst>
                                          <p:attrName>style.visibility</p:attrName>
                                        </p:attrNameLst>
                                      </p:cBhvr>
                                      <p:to>
                                        <p:strVal val="visible"/>
                                      </p:to>
                                    </p:set>
                                    <p:animEffect transition="in" filter="fade">
                                      <p:cBhvr>
                                        <p:cTn id="10" dur="500"/>
                                        <p:tgtEl>
                                          <p:spTgt spid="89"/>
                                        </p:tgtEl>
                                      </p:cBhvr>
                                    </p:animEffect>
                                  </p:childTnLst>
                                </p:cTn>
                              </p:par>
                              <p:par>
                                <p:cTn id="11" presetID="10" presetClass="entr" presetSubtype="0" fill="hold" nodeType="withEffect">
                                  <p:stCondLst>
                                    <p:cond delay="0"/>
                                  </p:stCondLst>
                                  <p:childTnLst>
                                    <p:set>
                                      <p:cBhvr>
                                        <p:cTn id="12" dur="1" fill="hold">
                                          <p:stCondLst>
                                            <p:cond delay="0"/>
                                          </p:stCondLst>
                                        </p:cTn>
                                        <p:tgtEl>
                                          <p:spTgt spid="92"/>
                                        </p:tgtEl>
                                        <p:attrNameLst>
                                          <p:attrName>style.visibility</p:attrName>
                                        </p:attrNameLst>
                                      </p:cBhvr>
                                      <p:to>
                                        <p:strVal val="visible"/>
                                      </p:to>
                                    </p:set>
                                    <p:animEffect transition="in" filter="fade">
                                      <p:cBhvr>
                                        <p:cTn id="13" dur="500"/>
                                        <p:tgtEl>
                                          <p:spTgt spid="92"/>
                                        </p:tgtEl>
                                      </p:cBhvr>
                                    </p:animEffect>
                                  </p:childTnLst>
                                </p:cTn>
                              </p:par>
                              <p:par>
                                <p:cTn id="14" presetID="10" presetClass="entr" presetSubtype="0" fill="hold" nodeType="withEffect">
                                  <p:stCondLst>
                                    <p:cond delay="0"/>
                                  </p:stCondLst>
                                  <p:childTnLst>
                                    <p:set>
                                      <p:cBhvr>
                                        <p:cTn id="15" dur="1" fill="hold">
                                          <p:stCondLst>
                                            <p:cond delay="0"/>
                                          </p:stCondLst>
                                        </p:cTn>
                                        <p:tgtEl>
                                          <p:spTgt spid="93"/>
                                        </p:tgtEl>
                                        <p:attrNameLst>
                                          <p:attrName>style.visibility</p:attrName>
                                        </p:attrNameLst>
                                      </p:cBhvr>
                                      <p:to>
                                        <p:strVal val="visible"/>
                                      </p:to>
                                    </p:set>
                                    <p:animEffect transition="in" filter="fade">
                                      <p:cBhvr>
                                        <p:cTn id="16" dur="500"/>
                                        <p:tgtEl>
                                          <p:spTgt spid="93"/>
                                        </p:tgtEl>
                                      </p:cBhvr>
                                    </p:animEffect>
                                  </p:childTnLst>
                                </p:cTn>
                              </p:par>
                              <p:par>
                                <p:cTn id="17" presetID="10" presetClass="entr" presetSubtype="0" fill="hold" nodeType="withEffect">
                                  <p:stCondLst>
                                    <p:cond delay="0"/>
                                  </p:stCondLst>
                                  <p:childTnLst>
                                    <p:set>
                                      <p:cBhvr>
                                        <p:cTn id="18" dur="1" fill="hold">
                                          <p:stCondLst>
                                            <p:cond delay="0"/>
                                          </p:stCondLst>
                                        </p:cTn>
                                        <p:tgtEl>
                                          <p:spTgt spid="101"/>
                                        </p:tgtEl>
                                        <p:attrNameLst>
                                          <p:attrName>style.visibility</p:attrName>
                                        </p:attrNameLst>
                                      </p:cBhvr>
                                      <p:to>
                                        <p:strVal val="visible"/>
                                      </p:to>
                                    </p:set>
                                    <p:animEffect transition="in" filter="fade">
                                      <p:cBhvr>
                                        <p:cTn id="19" dur="500"/>
                                        <p:tgtEl>
                                          <p:spTgt spid="101"/>
                                        </p:tgtEl>
                                      </p:cBhvr>
                                    </p:animEffect>
                                  </p:childTnLst>
                                </p:cTn>
                              </p:par>
                              <p:par>
                                <p:cTn id="20" presetID="10" presetClass="entr" presetSubtype="0" fill="hold" nodeType="withEffect">
                                  <p:stCondLst>
                                    <p:cond delay="0"/>
                                  </p:stCondLst>
                                  <p:childTnLst>
                                    <p:set>
                                      <p:cBhvr>
                                        <p:cTn id="21" dur="1" fill="hold">
                                          <p:stCondLst>
                                            <p:cond delay="0"/>
                                          </p:stCondLst>
                                        </p:cTn>
                                        <p:tgtEl>
                                          <p:spTgt spid="102">
                                            <p:txEl>
                                              <p:pRg st="0" end="0"/>
                                            </p:txEl>
                                          </p:spTgt>
                                        </p:tgtEl>
                                        <p:attrNameLst>
                                          <p:attrName>style.visibility</p:attrName>
                                        </p:attrNameLst>
                                      </p:cBhvr>
                                      <p:to>
                                        <p:strVal val="visible"/>
                                      </p:to>
                                    </p:set>
                                    <p:animEffect transition="in" filter="fade">
                                      <p:cBhvr>
                                        <p:cTn id="22" dur="500"/>
                                        <p:tgtEl>
                                          <p:spTgt spid="10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000"/>
              <a:buFont typeface="Bell MT"/>
              <a:buNone/>
            </a:pPr>
            <a:r>
              <a:rPr lang="en-US" sz="4000" b="1">
                <a:solidFill>
                  <a:srgbClr val="012D86"/>
                </a:solidFill>
                <a:latin typeface="Bell MT"/>
                <a:ea typeface="Bell MT"/>
                <a:cs typeface="Bell MT"/>
                <a:sym typeface="Bell MT"/>
              </a:rPr>
              <a:t>What are Razor Pages?</a:t>
            </a:r>
            <a:endParaRPr sz="4000" b="1">
              <a:solidFill>
                <a:srgbClr val="012D86"/>
              </a:solidFill>
              <a:latin typeface="Bell MT"/>
              <a:ea typeface="Bell MT"/>
              <a:cs typeface="Bell MT"/>
              <a:sym typeface="Bell MT"/>
            </a:endParaRPr>
          </a:p>
        </p:txBody>
      </p:sp>
      <p:pic>
        <p:nvPicPr>
          <p:cNvPr id="109" name="Google Shape;109;p2"/>
          <p:cNvPicPr preferRelativeResize="0">
            <a:picLocks noGrp="1"/>
          </p:cNvPicPr>
          <p:nvPr>
            <p:ph type="body" idx="1"/>
          </p:nvPr>
        </p:nvPicPr>
        <p:blipFill rotWithShape="1">
          <a:blip r:embed="rId3">
            <a:alphaModFix/>
          </a:blip>
          <a:srcRect/>
          <a:stretch/>
        </p:blipFill>
        <p:spPr>
          <a:xfrm>
            <a:off x="6309995" y="3761105"/>
            <a:ext cx="4909820" cy="1919605"/>
          </a:xfrm>
          <a:prstGeom prst="rect">
            <a:avLst/>
          </a:prstGeom>
          <a:noFill/>
          <a:ln>
            <a:noFill/>
          </a:ln>
        </p:spPr>
      </p:pic>
      <p:sp>
        <p:nvSpPr>
          <p:cNvPr id="110" name="Google Shape;110;p2"/>
          <p:cNvSpPr/>
          <p:nvPr/>
        </p:nvSpPr>
        <p:spPr>
          <a:xfrm>
            <a:off x="610235" y="2088515"/>
            <a:ext cx="6216000" cy="133020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dk1"/>
              </a:buClr>
              <a:buSzPts val="1800"/>
              <a:buFont typeface="Arial"/>
              <a:buNone/>
            </a:pPr>
            <a:endParaRPr sz="1800" b="0" i="0" u="none" strike="noStrike" cap="none" dirty="0">
              <a:solidFill>
                <a:schemeClr val="lt1"/>
              </a:solidFill>
              <a:latin typeface="Comic Sans MS"/>
              <a:ea typeface="Comic Sans MS"/>
              <a:cs typeface="Comic Sans MS"/>
              <a:sym typeface="Comic Sans MS"/>
            </a:endParaRPr>
          </a:p>
          <a:p>
            <a:pPr marL="0" marR="0" lvl="0" indent="0" algn="l" rtl="0">
              <a:lnSpc>
                <a:spcPct val="110000"/>
              </a:lnSpc>
              <a:spcBef>
                <a:spcPts val="0"/>
              </a:spcBef>
              <a:spcAft>
                <a:spcPts val="0"/>
              </a:spcAft>
              <a:buClr>
                <a:schemeClr val="dk1"/>
              </a:buClr>
              <a:buSzPts val="1800"/>
              <a:buFont typeface="Arial"/>
              <a:buNone/>
            </a:pPr>
            <a:endParaRPr sz="1800" b="0" i="0" u="none" strike="noStrike" cap="none" dirty="0">
              <a:solidFill>
                <a:schemeClr val="lt1"/>
              </a:solidFill>
              <a:latin typeface="Comic Sans MS"/>
              <a:ea typeface="Comic Sans MS"/>
              <a:cs typeface="Comic Sans MS"/>
              <a:sym typeface="Comic Sans MS"/>
            </a:endParaRPr>
          </a:p>
          <a:p>
            <a:pPr marL="0" marR="0" lvl="0" indent="0" algn="l" rtl="0">
              <a:lnSpc>
                <a:spcPct val="110000"/>
              </a:lnSpc>
              <a:spcBef>
                <a:spcPts val="0"/>
              </a:spcBef>
              <a:spcAft>
                <a:spcPts val="0"/>
              </a:spcAft>
              <a:buClr>
                <a:schemeClr val="lt1"/>
              </a:buClr>
              <a:buSzPts val="1800"/>
              <a:buFont typeface="Comic Sans MS"/>
              <a:buNone/>
            </a:pPr>
            <a:r>
              <a:rPr lang="en-US" sz="1800" b="0" i="0" u="none" strike="noStrike" cap="none" dirty="0">
                <a:solidFill>
                  <a:schemeClr val="lt1"/>
                </a:solidFill>
                <a:latin typeface="Comic Sans MS"/>
                <a:ea typeface="Comic Sans MS"/>
                <a:cs typeface="Comic Sans MS"/>
                <a:sym typeface="Comic Sans MS"/>
              </a:rPr>
              <a:t>Razor Pages is a server-side, page-centric programming model for building web UI with ASP.NET Core.</a:t>
            </a:r>
            <a:endParaRPr sz="1800" b="0" i="0" u="none" strike="noStrike" cap="none" dirty="0">
              <a:solidFill>
                <a:schemeClr val="lt1"/>
              </a:solidFill>
              <a:latin typeface="Comic Sans MS"/>
              <a:ea typeface="Comic Sans MS"/>
              <a:cs typeface="Comic Sans MS"/>
              <a:sym typeface="Comic Sans MS"/>
            </a:endParaRPr>
          </a:p>
          <a:p>
            <a:pPr marL="0" marR="0" lvl="0" indent="0" algn="l" rtl="0">
              <a:spcBef>
                <a:spcPts val="0"/>
              </a:spcBef>
              <a:spcAft>
                <a:spcPts val="0"/>
              </a:spcAft>
              <a:buClr>
                <a:schemeClr val="dk1"/>
              </a:buClr>
              <a:buSzPts val="1800"/>
              <a:buFont typeface="Arial"/>
              <a:buNone/>
            </a:pPr>
            <a:endParaRPr sz="1800" b="0" i="0" u="none" strike="noStrike" cap="none" dirty="0">
              <a:solidFill>
                <a:schemeClr val="lt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b="0" i="0" u="none" strike="noStrike" cap="none" dirty="0">
              <a:solidFill>
                <a:schemeClr val="lt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b="0" i="0" u="none" strike="noStrike" cap="none" dirty="0">
              <a:solidFill>
                <a:schemeClr val="lt1"/>
              </a:solidFill>
              <a:latin typeface="Arial"/>
              <a:ea typeface="Arial"/>
              <a:cs typeface="Arial"/>
              <a:sym typeface="Arial"/>
            </a:endParaRPr>
          </a:p>
        </p:txBody>
      </p:sp>
      <p:sp>
        <p:nvSpPr>
          <p:cNvPr id="111" name="Google Shape;111;p2"/>
          <p:cNvSpPr txBox="1"/>
          <p:nvPr/>
        </p:nvSpPr>
        <p:spPr>
          <a:xfrm>
            <a:off x="6447155" y="5680710"/>
            <a:ext cx="1706245"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012D86"/>
                </a:solidFill>
                <a:latin typeface="Comic Sans MS"/>
                <a:ea typeface="Comic Sans MS"/>
                <a:cs typeface="Comic Sans MS"/>
                <a:sym typeface="Comic Sans MS"/>
              </a:rPr>
              <a:t>Client Content</a:t>
            </a:r>
            <a:endParaRPr sz="1800">
              <a:solidFill>
                <a:srgbClr val="012D86"/>
              </a:solidFill>
              <a:latin typeface="Comic Sans MS"/>
              <a:ea typeface="Comic Sans MS"/>
              <a:cs typeface="Comic Sans MS"/>
              <a:sym typeface="Comic Sans MS"/>
            </a:endParaRPr>
          </a:p>
        </p:txBody>
      </p:sp>
      <p:sp>
        <p:nvSpPr>
          <p:cNvPr id="112" name="Google Shape;112;p2"/>
          <p:cNvSpPr txBox="1"/>
          <p:nvPr/>
        </p:nvSpPr>
        <p:spPr>
          <a:xfrm>
            <a:off x="9613265" y="5680710"/>
            <a:ext cx="1508125"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12D86"/>
                </a:solidFill>
                <a:latin typeface="Comic Sans MS"/>
                <a:ea typeface="Comic Sans MS"/>
                <a:cs typeface="Comic Sans MS"/>
                <a:sym typeface="Comic Sans MS"/>
              </a:rPr>
              <a:t>Server Code</a:t>
            </a:r>
            <a:endParaRPr sz="1800">
              <a:solidFill>
                <a:srgbClr val="012D86"/>
              </a:solidFill>
              <a:latin typeface="Comic Sans MS"/>
              <a:ea typeface="Comic Sans MS"/>
              <a:cs typeface="Comic Sans MS"/>
              <a:sym typeface="Comic Sans MS"/>
            </a:endParaRPr>
          </a:p>
        </p:txBody>
      </p:sp>
      <p:pic>
        <p:nvPicPr>
          <p:cNvPr id="113" name="Google Shape;113;p2"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fade">
                                      <p:cBhvr>
                                        <p:cTn id="7" dur="500"/>
                                        <p:tgtEl>
                                          <p:spTgt spid="10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9"/>
                                        </p:tgtEl>
                                        <p:attrNameLst>
                                          <p:attrName>style.visibility</p:attrName>
                                        </p:attrNameLst>
                                      </p:cBhvr>
                                      <p:to>
                                        <p:strVal val="visible"/>
                                      </p:to>
                                    </p:set>
                                    <p:animEffect transition="in" filter="fade">
                                      <p:cBhvr>
                                        <p:cTn id="12" dur="500"/>
                                        <p:tgtEl>
                                          <p:spTgt spid="109"/>
                                        </p:tgtEl>
                                      </p:cBhvr>
                                    </p:animEffect>
                                  </p:childTnLst>
                                </p:cTn>
                              </p:par>
                              <p:par>
                                <p:cTn id="13" presetID="10" presetClass="entr" presetSubtype="0" fill="hold" nodeType="withEffect">
                                  <p:stCondLst>
                                    <p:cond delay="0"/>
                                  </p:stCondLst>
                                  <p:childTnLst>
                                    <p:set>
                                      <p:cBhvr>
                                        <p:cTn id="14" dur="1" fill="hold">
                                          <p:stCondLst>
                                            <p:cond delay="0"/>
                                          </p:stCondLst>
                                        </p:cTn>
                                        <p:tgtEl>
                                          <p:spTgt spid="110"/>
                                        </p:tgtEl>
                                        <p:attrNameLst>
                                          <p:attrName>style.visibility</p:attrName>
                                        </p:attrNameLst>
                                      </p:cBhvr>
                                      <p:to>
                                        <p:strVal val="visible"/>
                                      </p:to>
                                    </p:set>
                                    <p:animEffect transition="in" filter="fade">
                                      <p:cBhvr>
                                        <p:cTn id="15" dur="500"/>
                                        <p:tgtEl>
                                          <p:spTgt spid="110"/>
                                        </p:tgtEl>
                                      </p:cBhvr>
                                    </p:animEffect>
                                  </p:childTnLst>
                                </p:cTn>
                              </p:par>
                              <p:par>
                                <p:cTn id="16" presetID="10" presetClass="entr" presetSubtype="0" fill="hold" nodeType="withEffect">
                                  <p:stCondLst>
                                    <p:cond delay="0"/>
                                  </p:stCondLst>
                                  <p:childTnLst>
                                    <p:set>
                                      <p:cBhvr>
                                        <p:cTn id="17" dur="1" fill="hold">
                                          <p:stCondLst>
                                            <p:cond delay="0"/>
                                          </p:stCondLst>
                                        </p:cTn>
                                        <p:tgtEl>
                                          <p:spTgt spid="111"/>
                                        </p:tgtEl>
                                        <p:attrNameLst>
                                          <p:attrName>style.visibility</p:attrName>
                                        </p:attrNameLst>
                                      </p:cBhvr>
                                      <p:to>
                                        <p:strVal val="visible"/>
                                      </p:to>
                                    </p:set>
                                    <p:animEffect transition="in" filter="fade">
                                      <p:cBhvr>
                                        <p:cTn id="18" dur="500"/>
                                        <p:tgtEl>
                                          <p:spTgt spid="111"/>
                                        </p:tgtEl>
                                      </p:cBhvr>
                                    </p:animEffect>
                                  </p:childTnLst>
                                </p:cTn>
                              </p:par>
                              <p:par>
                                <p:cTn id="19" presetID="10" presetClass="entr" presetSubtype="0" fill="hold" nodeType="withEffect">
                                  <p:stCondLst>
                                    <p:cond delay="0"/>
                                  </p:stCondLst>
                                  <p:childTnLst>
                                    <p:set>
                                      <p:cBhvr>
                                        <p:cTn id="20" dur="1" fill="hold">
                                          <p:stCondLst>
                                            <p:cond delay="0"/>
                                          </p:stCondLst>
                                        </p:cTn>
                                        <p:tgtEl>
                                          <p:spTgt spid="112"/>
                                        </p:tgtEl>
                                        <p:attrNameLst>
                                          <p:attrName>style.visibility</p:attrName>
                                        </p:attrNameLst>
                                      </p:cBhvr>
                                      <p:to>
                                        <p:strVal val="visible"/>
                                      </p:to>
                                    </p:set>
                                    <p:animEffect transition="in" filter="fade">
                                      <p:cBhvr>
                                        <p:cTn id="21"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p:cNvGrpSpPr/>
        <p:nvPr/>
      </p:nvGrpSpPr>
      <p:grpSpPr>
        <a:xfrm>
          <a:off x="0" y="0"/>
          <a:ext cx="0" cy="0"/>
          <a:chOff x="0" y="0"/>
          <a:chExt cx="0" cy="0"/>
        </a:xfrm>
      </p:grpSpPr>
      <p:sp>
        <p:nvSpPr>
          <p:cNvPr id="118" name="Google Shape;118;p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012D86"/>
              </a:buClr>
              <a:buSzPts val="4400"/>
              <a:buFont typeface="Bell MT"/>
              <a:buNone/>
            </a:pPr>
            <a:r>
              <a:rPr lang="en-US" b="1">
                <a:solidFill>
                  <a:srgbClr val="012D86"/>
                </a:solidFill>
                <a:latin typeface="Bell MT"/>
                <a:ea typeface="Bell MT"/>
                <a:cs typeface="Bell MT"/>
                <a:sym typeface="Bell MT"/>
              </a:rPr>
              <a:t>Razor Pages</a:t>
            </a:r>
            <a:endParaRPr b="1">
              <a:solidFill>
                <a:srgbClr val="012D86"/>
              </a:solidFill>
              <a:latin typeface="Bell MT"/>
              <a:ea typeface="Bell MT"/>
              <a:cs typeface="Bell MT"/>
              <a:sym typeface="Bell MT"/>
            </a:endParaRPr>
          </a:p>
        </p:txBody>
      </p:sp>
      <p:grpSp>
        <p:nvGrpSpPr>
          <p:cNvPr id="119" name="Google Shape;119;p3"/>
          <p:cNvGrpSpPr/>
          <p:nvPr/>
        </p:nvGrpSpPr>
        <p:grpSpPr>
          <a:xfrm>
            <a:off x="609600" y="1613545"/>
            <a:ext cx="9616440" cy="4499590"/>
            <a:chOff x="0" y="13345"/>
            <a:chExt cx="9616440" cy="4499590"/>
          </a:xfrm>
        </p:grpSpPr>
        <p:sp>
          <p:nvSpPr>
            <p:cNvPr id="120" name="Google Shape;120;p3"/>
            <p:cNvSpPr/>
            <p:nvPr/>
          </p:nvSpPr>
          <p:spPr>
            <a:xfrm>
              <a:off x="0" y="13345"/>
              <a:ext cx="9616440" cy="798830"/>
            </a:xfrm>
            <a:prstGeom prst="roundRect">
              <a:avLst>
                <a:gd name="adj" fmla="val 16667"/>
              </a:avLst>
            </a:prstGeom>
            <a:gradFill>
              <a:gsLst>
                <a:gs pos="0">
                  <a:srgbClr val="6E91B6"/>
                </a:gs>
                <a:gs pos="50000">
                  <a:srgbClr val="5484B2"/>
                </a:gs>
                <a:gs pos="100000">
                  <a:srgbClr val="4673A1"/>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txBox="1"/>
            <p:nvPr/>
          </p:nvSpPr>
          <p:spPr>
            <a:xfrm>
              <a:off x="0" y="13345"/>
              <a:ext cx="9616440" cy="798830"/>
            </a:xfrm>
            <a:prstGeom prst="rect">
              <a:avLst/>
            </a:prstGeom>
            <a:no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None/>
              </a:pPr>
              <a:r>
                <a:rPr lang="en-US" sz="1600" dirty="0">
                  <a:solidFill>
                    <a:schemeClr val="dk1"/>
                  </a:solidFill>
                  <a:latin typeface="Comic Sans MS"/>
                  <a:ea typeface="Comic Sans MS"/>
                  <a:cs typeface="Comic Sans MS"/>
                  <a:sym typeface="Comic Sans MS"/>
                </a:rPr>
                <a:t>An ASP.NET Razor page has the “.</a:t>
              </a:r>
              <a:r>
                <a:rPr lang="en-US" sz="1600" dirty="0" err="1">
                  <a:solidFill>
                    <a:schemeClr val="dk1"/>
                  </a:solidFill>
                  <a:latin typeface="Comic Sans MS"/>
                  <a:ea typeface="Comic Sans MS"/>
                  <a:cs typeface="Comic Sans MS"/>
                  <a:sym typeface="Comic Sans MS"/>
                </a:rPr>
                <a:t>cshtml</a:t>
              </a:r>
              <a:r>
                <a:rPr lang="en-US" sz="1600" dirty="0">
                  <a:solidFill>
                    <a:schemeClr val="dk1"/>
                  </a:solidFill>
                  <a:latin typeface="Comic Sans MS"/>
                  <a:ea typeface="Comic Sans MS"/>
                  <a:cs typeface="Comic Sans MS"/>
                  <a:sym typeface="Comic Sans MS"/>
                </a:rPr>
                <a:t>” (e.g., “</a:t>
              </a:r>
              <a:r>
                <a:rPr lang="en-US" sz="1600" dirty="0" err="1">
                  <a:solidFill>
                    <a:schemeClr val="dk1"/>
                  </a:solidFill>
                  <a:latin typeface="Comic Sans MS"/>
                  <a:ea typeface="Comic Sans MS"/>
                  <a:cs typeface="Comic Sans MS"/>
                  <a:sym typeface="Comic Sans MS"/>
                </a:rPr>
                <a:t>Index.cshtml</a:t>
              </a:r>
              <a:r>
                <a:rPr lang="en-US" sz="1600" dirty="0">
                  <a:solidFill>
                    <a:schemeClr val="dk1"/>
                  </a:solidFill>
                  <a:latin typeface="Comic Sans MS"/>
                  <a:ea typeface="Comic Sans MS"/>
                  <a:cs typeface="Comic Sans MS"/>
                  <a:sym typeface="Comic Sans MS"/>
                </a:rPr>
                <a:t>”) file extension</a:t>
              </a:r>
              <a:r>
                <a:rPr lang="en-US" sz="1800" dirty="0">
                  <a:solidFill>
                    <a:schemeClr val="dk1"/>
                  </a:solidFill>
                  <a:latin typeface="Comic Sans MS"/>
                  <a:ea typeface="Comic Sans MS"/>
                  <a:cs typeface="Comic Sans MS"/>
                  <a:sym typeface="Comic Sans MS"/>
                </a:rPr>
                <a:t>. </a:t>
              </a:r>
              <a:endParaRPr sz="1800" dirty="0">
                <a:solidFill>
                  <a:schemeClr val="dk1"/>
                </a:solidFill>
                <a:latin typeface="Comic Sans MS"/>
                <a:ea typeface="Comic Sans MS"/>
                <a:cs typeface="Comic Sans MS"/>
                <a:sym typeface="Comic Sans MS"/>
              </a:endParaRPr>
            </a:p>
          </p:txBody>
        </p:sp>
        <p:sp>
          <p:nvSpPr>
            <p:cNvPr id="122" name="Google Shape;122;p3"/>
            <p:cNvSpPr/>
            <p:nvPr/>
          </p:nvSpPr>
          <p:spPr>
            <a:xfrm>
              <a:off x="0" y="864015"/>
              <a:ext cx="9616440" cy="798830"/>
            </a:xfrm>
            <a:prstGeom prst="roundRect">
              <a:avLst>
                <a:gd name="adj" fmla="val 16667"/>
              </a:avLst>
            </a:prstGeom>
            <a:gradFill>
              <a:gsLst>
                <a:gs pos="0">
                  <a:srgbClr val="8BAED7"/>
                </a:gs>
                <a:gs pos="50000">
                  <a:srgbClr val="77A4D5"/>
                </a:gs>
                <a:gs pos="100000">
                  <a:srgbClr val="6490C1"/>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txBox="1"/>
            <p:nvPr/>
          </p:nvSpPr>
          <p:spPr>
            <a:xfrm>
              <a:off x="0" y="864015"/>
              <a:ext cx="9616440" cy="798830"/>
            </a:xfrm>
            <a:prstGeom prst="rect">
              <a:avLst/>
            </a:prstGeom>
            <a:no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None/>
              </a:pPr>
              <a:r>
                <a:rPr lang="en-US" sz="1600" dirty="0">
                  <a:solidFill>
                    <a:schemeClr val="dk1"/>
                  </a:solidFill>
                  <a:latin typeface="Comic Sans MS"/>
                  <a:ea typeface="Comic Sans MS"/>
                  <a:cs typeface="Comic Sans MS"/>
                  <a:sym typeface="Comic Sans MS"/>
                </a:rPr>
                <a:t>This file contains a mix of HTML and Razor syntax. The Razor syntax is actually C# code mixed  together with the HTML code.</a:t>
              </a:r>
              <a:r>
                <a:rPr lang="en-US" sz="2200" dirty="0">
                  <a:solidFill>
                    <a:schemeClr val="dk1"/>
                  </a:solidFill>
                  <a:latin typeface="Arial"/>
                  <a:ea typeface="Arial"/>
                  <a:cs typeface="Arial"/>
                  <a:sym typeface="Arial"/>
                </a:rPr>
                <a:t> </a:t>
              </a:r>
              <a:endParaRPr sz="2200" dirty="0">
                <a:solidFill>
                  <a:schemeClr val="dk1"/>
                </a:solidFill>
                <a:latin typeface="Arial"/>
                <a:ea typeface="Arial"/>
                <a:cs typeface="Arial"/>
                <a:sym typeface="Arial"/>
              </a:endParaRPr>
            </a:p>
          </p:txBody>
        </p:sp>
        <p:sp>
          <p:nvSpPr>
            <p:cNvPr id="124" name="Google Shape;124;p3"/>
            <p:cNvSpPr/>
            <p:nvPr/>
          </p:nvSpPr>
          <p:spPr>
            <a:xfrm>
              <a:off x="0" y="1714685"/>
              <a:ext cx="9616440" cy="798830"/>
            </a:xfrm>
            <a:prstGeom prst="roundRect">
              <a:avLst>
                <a:gd name="adj" fmla="val 16667"/>
              </a:avLst>
            </a:prstGeom>
            <a:gradFill>
              <a:gsLst>
                <a:gs pos="0">
                  <a:srgbClr val="B3CEEF"/>
                </a:gs>
                <a:gs pos="50000">
                  <a:srgbClr val="A4C6EF"/>
                </a:gs>
                <a:gs pos="100000">
                  <a:srgbClr val="8DAED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3"/>
            <p:cNvSpPr txBox="1"/>
            <p:nvPr/>
          </p:nvSpPr>
          <p:spPr>
            <a:xfrm>
              <a:off x="0" y="1714685"/>
              <a:ext cx="9616440" cy="798830"/>
            </a:xfrm>
            <a:prstGeom prst="rect">
              <a:avLst/>
            </a:prstGeom>
            <a:no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None/>
              </a:pPr>
              <a:r>
                <a:rPr lang="en-US" sz="1600" dirty="0">
                  <a:solidFill>
                    <a:schemeClr val="dk1"/>
                  </a:solidFill>
                  <a:latin typeface="Comic Sans MS"/>
                  <a:ea typeface="Comic Sans MS"/>
                  <a:cs typeface="Comic Sans MS"/>
                  <a:sym typeface="Comic Sans MS"/>
                </a:rPr>
                <a:t>The Razor parts of the file are executed on the web server before the page is sent to the  client (your web browser).</a:t>
              </a:r>
              <a:r>
                <a:rPr lang="en-US" sz="2200" dirty="0">
                  <a:solidFill>
                    <a:schemeClr val="dk1"/>
                  </a:solidFill>
                  <a:latin typeface="Arial"/>
                  <a:ea typeface="Arial"/>
                  <a:cs typeface="Arial"/>
                  <a:sym typeface="Arial"/>
                </a:rPr>
                <a:t> </a:t>
              </a:r>
              <a:endParaRPr sz="2200" dirty="0">
                <a:solidFill>
                  <a:schemeClr val="dk1"/>
                </a:solidFill>
                <a:latin typeface="Arial"/>
                <a:ea typeface="Arial"/>
                <a:cs typeface="Arial"/>
                <a:sym typeface="Arial"/>
              </a:endParaRPr>
            </a:p>
          </p:txBody>
        </p:sp>
        <p:sp>
          <p:nvSpPr>
            <p:cNvPr id="126" name="Google Shape;126;p3"/>
            <p:cNvSpPr/>
            <p:nvPr/>
          </p:nvSpPr>
          <p:spPr>
            <a:xfrm>
              <a:off x="0" y="2565355"/>
              <a:ext cx="9616440" cy="798830"/>
            </a:xfrm>
            <a:prstGeom prst="roundRect">
              <a:avLst>
                <a:gd name="adj" fmla="val 16667"/>
              </a:avLst>
            </a:prstGeom>
            <a:gradFill>
              <a:gsLst>
                <a:gs pos="0">
                  <a:srgbClr val="B5CFED"/>
                </a:gs>
                <a:gs pos="50000">
                  <a:srgbClr val="A6C7ED"/>
                </a:gs>
                <a:gs pos="100000">
                  <a:srgbClr val="8EAFD6"/>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p:cNvSpPr txBox="1"/>
            <p:nvPr/>
          </p:nvSpPr>
          <p:spPr>
            <a:xfrm>
              <a:off x="0" y="2565355"/>
              <a:ext cx="9616440" cy="798830"/>
            </a:xfrm>
            <a:prstGeom prst="rect">
              <a:avLst/>
            </a:prstGeom>
            <a:no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None/>
              </a:pPr>
              <a:r>
                <a:rPr lang="en-US" sz="1600" dirty="0">
                  <a:solidFill>
                    <a:schemeClr val="dk1"/>
                  </a:solidFill>
                  <a:latin typeface="Comic Sans MS"/>
                  <a:ea typeface="Comic Sans MS"/>
                  <a:cs typeface="Comic Sans MS"/>
                  <a:sym typeface="Comic Sans MS"/>
                </a:rPr>
                <a:t>The Razor page may also have a C# code file linked to it, this file has the extension</a:t>
              </a:r>
              <a:r>
                <a:rPr lang="en-US" sz="2200" dirty="0">
                  <a:solidFill>
                    <a:schemeClr val="dk1"/>
                  </a:solidFill>
                  <a:latin typeface="Arial"/>
                  <a:ea typeface="Arial"/>
                  <a:cs typeface="Arial"/>
                  <a:sym typeface="Arial"/>
                </a:rPr>
                <a:t> </a:t>
              </a:r>
              <a:endParaRPr sz="2200" dirty="0">
                <a:solidFill>
                  <a:schemeClr val="dk1"/>
                </a:solidFill>
                <a:latin typeface="Arial"/>
                <a:ea typeface="Arial"/>
                <a:cs typeface="Arial"/>
                <a:sym typeface="Arial"/>
              </a:endParaRPr>
            </a:p>
          </p:txBody>
        </p:sp>
        <p:sp>
          <p:nvSpPr>
            <p:cNvPr id="128" name="Google Shape;128;p3"/>
            <p:cNvSpPr/>
            <p:nvPr/>
          </p:nvSpPr>
          <p:spPr>
            <a:xfrm>
              <a:off x="0" y="3416025"/>
              <a:ext cx="9616440" cy="798830"/>
            </a:xfrm>
            <a:prstGeom prst="roundRect">
              <a:avLst>
                <a:gd name="adj" fmla="val 16667"/>
              </a:avLst>
            </a:prstGeom>
            <a:gradFill>
              <a:gsLst>
                <a:gs pos="0">
                  <a:srgbClr val="8BAED6"/>
                </a:gs>
                <a:gs pos="50000">
                  <a:srgbClr val="77A4D5"/>
                </a:gs>
                <a:gs pos="100000">
                  <a:srgbClr val="6490C0"/>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3"/>
            <p:cNvSpPr txBox="1"/>
            <p:nvPr/>
          </p:nvSpPr>
          <p:spPr>
            <a:xfrm>
              <a:off x="0" y="3416025"/>
              <a:ext cx="9616440" cy="798830"/>
            </a:xfrm>
            <a:prstGeom prst="rect">
              <a:avLst/>
            </a:prstGeom>
            <a:no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None/>
              </a:pPr>
              <a:r>
                <a:rPr lang="en-US" sz="1600" dirty="0">
                  <a:solidFill>
                    <a:schemeClr val="dk1"/>
                  </a:solidFill>
                  <a:latin typeface="Comic Sans MS"/>
                  <a:ea typeface="Comic Sans MS"/>
                  <a:cs typeface="Comic Sans MS"/>
                  <a:sym typeface="Comic Sans MS"/>
                </a:rPr>
                <a:t>In Razor with Page Model each Razor page is a pair of files: </a:t>
              </a:r>
              <a:endParaRPr sz="1600" dirty="0">
                <a:solidFill>
                  <a:schemeClr val="dk1"/>
                </a:solidFill>
                <a:latin typeface="Comic Sans MS"/>
                <a:ea typeface="Comic Sans MS"/>
                <a:cs typeface="Comic Sans MS"/>
                <a:sym typeface="Comic Sans MS"/>
              </a:endParaRPr>
            </a:p>
          </p:txBody>
        </p:sp>
        <p:sp>
          <p:nvSpPr>
            <p:cNvPr id="130" name="Google Shape;130;p3"/>
            <p:cNvSpPr/>
            <p:nvPr/>
          </p:nvSpPr>
          <p:spPr>
            <a:xfrm>
              <a:off x="0" y="4214855"/>
              <a:ext cx="9616440" cy="29808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txBox="1"/>
            <p:nvPr/>
          </p:nvSpPr>
          <p:spPr>
            <a:xfrm>
              <a:off x="0" y="4214855"/>
              <a:ext cx="9616440" cy="298080"/>
            </a:xfrm>
            <a:prstGeom prst="rect">
              <a:avLst/>
            </a:prstGeom>
            <a:noFill/>
            <a:ln>
              <a:noFill/>
            </a:ln>
          </p:spPr>
          <p:txBody>
            <a:bodyPr spcFirstLastPara="1" wrap="square" lIns="305300" tIns="17775" rIns="99550" bIns="17775" anchor="t" anchorCtr="0">
              <a:noAutofit/>
            </a:bodyPr>
            <a:lstStyle/>
            <a:p>
              <a:pPr marL="114300" marR="0" lvl="1" indent="-25400" algn="l" rtl="0">
                <a:lnSpc>
                  <a:spcPct val="100000"/>
                </a:lnSpc>
                <a:spcBef>
                  <a:spcPts val="0"/>
                </a:spcBef>
                <a:spcAft>
                  <a:spcPts val="0"/>
                </a:spcAft>
                <a:buClr>
                  <a:schemeClr val="dk1"/>
                </a:buClr>
                <a:buSzPts val="1400"/>
                <a:buFont typeface="Arial"/>
                <a:buNone/>
              </a:pPr>
              <a:endParaRPr sz="1400" b="1" i="0" u="none" strike="noStrike" cap="none">
                <a:solidFill>
                  <a:schemeClr val="dk1"/>
                </a:solidFill>
                <a:latin typeface="Comic Sans MS"/>
                <a:ea typeface="Comic Sans MS"/>
                <a:cs typeface="Comic Sans MS"/>
                <a:sym typeface="Comic Sans MS"/>
              </a:endParaRPr>
            </a:p>
          </p:txBody>
        </p:sp>
      </p:grpSp>
      <p:pic>
        <p:nvPicPr>
          <p:cNvPr id="132" name="Google Shape;132;p3" descr="Aitrich-Logo-Transparent-BG-2048x671"/>
          <p:cNvPicPr preferRelativeResize="0"/>
          <p:nvPr/>
        </p:nvPicPr>
        <p:blipFill rotWithShape="1">
          <a:blip r:embed="rId3">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fade">
                                      <p:cBhvr>
                                        <p:cTn id="7"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6"/>
        <p:cNvGrpSpPr/>
        <p:nvPr/>
      </p:nvGrpSpPr>
      <p:grpSpPr>
        <a:xfrm>
          <a:off x="0" y="0"/>
          <a:ext cx="0" cy="0"/>
          <a:chOff x="0" y="0"/>
          <a:chExt cx="0" cy="0"/>
        </a:xfrm>
      </p:grpSpPr>
      <p:sp>
        <p:nvSpPr>
          <p:cNvPr id="137" name="Google Shape;137;p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8" name="Google Shape;138;p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012D86"/>
              </a:buClr>
              <a:buSzPts val="4000"/>
              <a:buFont typeface="Bell MT"/>
              <a:buNone/>
            </a:pPr>
            <a:r>
              <a:rPr lang="en-US" sz="4000" b="1">
                <a:solidFill>
                  <a:srgbClr val="012D86"/>
                </a:solidFill>
                <a:latin typeface="Bell MT"/>
                <a:ea typeface="Bell MT"/>
                <a:cs typeface="Bell MT"/>
                <a:sym typeface="Bell MT"/>
              </a:rPr>
              <a:t>Benefits of Razor Pages</a:t>
            </a:r>
            <a:endParaRPr sz="4000" b="1">
              <a:solidFill>
                <a:srgbClr val="012D86"/>
              </a:solidFill>
              <a:latin typeface="Bell MT"/>
              <a:ea typeface="Bell MT"/>
              <a:cs typeface="Bell MT"/>
              <a:sym typeface="Bell MT"/>
            </a:endParaRPr>
          </a:p>
        </p:txBody>
      </p:sp>
      <p:sp>
        <p:nvSpPr>
          <p:cNvPr id="139" name="Google Shape;139;p4"/>
          <p:cNvSpPr/>
          <p:nvPr/>
        </p:nvSpPr>
        <p:spPr>
          <a:xfrm>
            <a:off x="628015" y="4069715"/>
            <a:ext cx="6350635" cy="74168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omic Sans MS"/>
                <a:ea typeface="Comic Sans MS"/>
                <a:cs typeface="Comic Sans MS"/>
                <a:sym typeface="Comic Sans MS"/>
              </a:rPr>
              <a:t>Html + server-side </a:t>
            </a:r>
            <a:r>
              <a:rPr lang="en-US" sz="1600" dirty="0" err="1">
                <a:solidFill>
                  <a:schemeClr val="lt1"/>
                </a:solidFill>
                <a:latin typeface="Comic Sans MS"/>
                <a:ea typeface="Comic Sans MS"/>
                <a:cs typeface="Comic Sans MS"/>
                <a:sym typeface="Comic Sans MS"/>
              </a:rPr>
              <a:t>c#</a:t>
            </a:r>
            <a:r>
              <a:rPr lang="en-US" sz="1600" dirty="0">
                <a:solidFill>
                  <a:schemeClr val="lt1"/>
                </a:solidFill>
                <a:latin typeface="Comic Sans MS"/>
                <a:ea typeface="Comic Sans MS"/>
                <a:cs typeface="Comic Sans MS"/>
                <a:sym typeface="Comic Sans MS"/>
              </a:rPr>
              <a:t> code by using Razor syntax </a:t>
            </a:r>
            <a:endParaRPr sz="1600" dirty="0">
              <a:solidFill>
                <a:schemeClr val="lt1"/>
              </a:solidFill>
              <a:latin typeface="Comic Sans MS"/>
              <a:ea typeface="Comic Sans MS"/>
              <a:cs typeface="Comic Sans MS"/>
              <a:sym typeface="Comic Sans MS"/>
            </a:endParaRPr>
          </a:p>
        </p:txBody>
      </p:sp>
      <p:sp>
        <p:nvSpPr>
          <p:cNvPr id="140" name="Google Shape;140;p4"/>
          <p:cNvSpPr/>
          <p:nvPr/>
        </p:nvSpPr>
        <p:spPr>
          <a:xfrm>
            <a:off x="628015" y="1873885"/>
            <a:ext cx="6350635" cy="91440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omic Sans MS"/>
                <a:ea typeface="Comic Sans MS"/>
                <a:cs typeface="Comic Sans MS"/>
                <a:sym typeface="Comic Sans MS"/>
              </a:rPr>
              <a:t>Makes it easy to get started building dynamic web apps with </a:t>
            </a:r>
            <a:r>
              <a:rPr lang="en-US" sz="1600" dirty="0" err="1">
                <a:solidFill>
                  <a:schemeClr val="lt1"/>
                </a:solidFill>
                <a:latin typeface="Comic Sans MS"/>
                <a:ea typeface="Comic Sans MS"/>
                <a:cs typeface="Comic Sans MS"/>
                <a:sym typeface="Comic Sans MS"/>
              </a:rPr>
              <a:t>html,css</a:t>
            </a:r>
            <a:r>
              <a:rPr lang="en-US" sz="1600" dirty="0">
                <a:solidFill>
                  <a:schemeClr val="lt1"/>
                </a:solidFill>
                <a:latin typeface="Comic Sans MS"/>
                <a:ea typeface="Comic Sans MS"/>
                <a:cs typeface="Comic Sans MS"/>
                <a:sym typeface="Comic Sans MS"/>
              </a:rPr>
              <a:t> and </a:t>
            </a:r>
            <a:r>
              <a:rPr lang="en-US" sz="1600" dirty="0" err="1">
                <a:solidFill>
                  <a:schemeClr val="lt1"/>
                </a:solidFill>
                <a:latin typeface="Comic Sans MS"/>
                <a:ea typeface="Comic Sans MS"/>
                <a:cs typeface="Comic Sans MS"/>
                <a:sym typeface="Comic Sans MS"/>
              </a:rPr>
              <a:t>c#</a:t>
            </a:r>
            <a:r>
              <a:rPr lang="en-US" sz="1600" dirty="0">
                <a:solidFill>
                  <a:schemeClr val="lt1"/>
                </a:solidFill>
                <a:latin typeface="Comic Sans MS"/>
                <a:ea typeface="Comic Sans MS"/>
                <a:cs typeface="Comic Sans MS"/>
                <a:sym typeface="Comic Sans MS"/>
              </a:rPr>
              <a:t> </a:t>
            </a:r>
            <a:endParaRPr sz="1600" dirty="0">
              <a:solidFill>
                <a:schemeClr val="lt1"/>
              </a:solidFill>
              <a:latin typeface="Comic Sans MS"/>
              <a:ea typeface="Comic Sans MS"/>
              <a:cs typeface="Comic Sans MS"/>
              <a:sym typeface="Comic Sans MS"/>
            </a:endParaRPr>
          </a:p>
        </p:txBody>
      </p:sp>
      <p:sp>
        <p:nvSpPr>
          <p:cNvPr id="141" name="Google Shape;141;p4"/>
          <p:cNvSpPr/>
          <p:nvPr/>
        </p:nvSpPr>
        <p:spPr>
          <a:xfrm>
            <a:off x="628015" y="2971800"/>
            <a:ext cx="6350635" cy="91440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omic Sans MS"/>
                <a:ea typeface="Comic Sans MS"/>
                <a:cs typeface="Comic Sans MS"/>
                <a:sym typeface="Comic Sans MS"/>
              </a:rPr>
              <a:t>Encourages organization of files by feature, which eases </a:t>
            </a:r>
            <a:r>
              <a:rPr lang="en-US" sz="1600" dirty="0" err="1">
                <a:solidFill>
                  <a:schemeClr val="lt1"/>
                </a:solidFill>
                <a:latin typeface="Comic Sans MS"/>
                <a:ea typeface="Comic Sans MS"/>
                <a:cs typeface="Comic Sans MS"/>
                <a:sym typeface="Comic Sans MS"/>
              </a:rPr>
              <a:t>maintanence</a:t>
            </a:r>
            <a:r>
              <a:rPr lang="en-US" sz="1600" dirty="0">
                <a:solidFill>
                  <a:schemeClr val="lt1"/>
                </a:solidFill>
                <a:latin typeface="Comic Sans MS"/>
                <a:ea typeface="Comic Sans MS"/>
                <a:cs typeface="Comic Sans MS"/>
                <a:sym typeface="Comic Sans MS"/>
              </a:rPr>
              <a:t> of your app</a:t>
            </a:r>
            <a:endParaRPr sz="1600" dirty="0">
              <a:solidFill>
                <a:schemeClr val="lt1"/>
              </a:solidFill>
              <a:latin typeface="Comic Sans MS"/>
              <a:ea typeface="Comic Sans MS"/>
              <a:cs typeface="Comic Sans MS"/>
              <a:sym typeface="Comic Sans MS"/>
            </a:endParaRPr>
          </a:p>
        </p:txBody>
      </p:sp>
      <p:pic>
        <p:nvPicPr>
          <p:cNvPr id="142" name="Google Shape;142;p4" descr="3808949"/>
          <p:cNvPicPr preferRelativeResize="0">
            <a:picLocks noGrp="1"/>
          </p:cNvPicPr>
          <p:nvPr>
            <p:ph type="body" idx="1"/>
          </p:nvPr>
        </p:nvPicPr>
        <p:blipFill rotWithShape="1">
          <a:blip r:embed="rId3">
            <a:alphaModFix/>
          </a:blip>
          <a:srcRect/>
          <a:stretch/>
        </p:blipFill>
        <p:spPr>
          <a:xfrm>
            <a:off x="7059930" y="1873885"/>
            <a:ext cx="5071745" cy="3583940"/>
          </a:xfrm>
          <a:prstGeom prst="rect">
            <a:avLst/>
          </a:prstGeom>
          <a:noFill/>
          <a:ln>
            <a:noFill/>
          </a:ln>
        </p:spPr>
      </p:pic>
      <p:pic>
        <p:nvPicPr>
          <p:cNvPr id="143" name="Google Shape;143;p4"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8"/>
                                        </p:tgtEl>
                                        <p:attrNameLst>
                                          <p:attrName>style.visibility</p:attrName>
                                        </p:attrNameLst>
                                      </p:cBhvr>
                                      <p:to>
                                        <p:strVal val="visible"/>
                                      </p:to>
                                    </p:set>
                                    <p:animEffect transition="in" filter="fade">
                                      <p:cBhvr>
                                        <p:cTn id="7" dur="500"/>
                                        <p:tgtEl>
                                          <p:spTgt spid="138"/>
                                        </p:tgtEl>
                                      </p:cBhvr>
                                    </p:animEffect>
                                  </p:childTnLst>
                                </p:cTn>
                              </p:par>
                              <p:par>
                                <p:cTn id="8" presetID="10" presetClass="entr" presetSubtype="0" fill="hold" nodeType="withEffect">
                                  <p:stCondLst>
                                    <p:cond delay="0"/>
                                  </p:stCondLst>
                                  <p:childTnLst>
                                    <p:set>
                                      <p:cBhvr>
                                        <p:cTn id="9" dur="1" fill="hold">
                                          <p:stCondLst>
                                            <p:cond delay="0"/>
                                          </p:stCondLst>
                                        </p:cTn>
                                        <p:tgtEl>
                                          <p:spTgt spid="142"/>
                                        </p:tgtEl>
                                        <p:attrNameLst>
                                          <p:attrName>style.visibility</p:attrName>
                                        </p:attrNameLst>
                                      </p:cBhvr>
                                      <p:to>
                                        <p:strVal val="visible"/>
                                      </p:to>
                                    </p:set>
                                    <p:animEffect transition="in" filter="fade">
                                      <p:cBhvr>
                                        <p:cTn id="10" dur="500"/>
                                        <p:tgtEl>
                                          <p:spTgt spid="14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0"/>
                                        </p:tgtEl>
                                        <p:attrNameLst>
                                          <p:attrName>style.visibility</p:attrName>
                                        </p:attrNameLst>
                                      </p:cBhvr>
                                      <p:to>
                                        <p:strVal val="visible"/>
                                      </p:to>
                                    </p:set>
                                    <p:animEffect transition="in" filter="fade">
                                      <p:cBhvr>
                                        <p:cTn id="15" dur="1000"/>
                                        <p:tgtEl>
                                          <p:spTgt spid="14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1"/>
                                        </p:tgtEl>
                                        <p:attrNameLst>
                                          <p:attrName>style.visibility</p:attrName>
                                        </p:attrNameLst>
                                      </p:cBhvr>
                                      <p:to>
                                        <p:strVal val="visible"/>
                                      </p:to>
                                    </p:set>
                                    <p:animEffect transition="in" filter="fade">
                                      <p:cBhvr>
                                        <p:cTn id="20" dur="1000"/>
                                        <p:tgtEl>
                                          <p:spTgt spid="14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39"/>
                                        </p:tgtEl>
                                        <p:attrNameLst>
                                          <p:attrName>style.visibility</p:attrName>
                                        </p:attrNameLst>
                                      </p:cBhvr>
                                      <p:to>
                                        <p:strVal val="visible"/>
                                      </p:to>
                                    </p:set>
                                    <p:animEffect transition="in" filter="fade">
                                      <p:cBhvr>
                                        <p:cTn id="25" dur="10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rgbClr val="012D86"/>
              </a:buClr>
              <a:buSzPct val="100000"/>
              <a:buFont typeface="Bell MT"/>
              <a:buNone/>
            </a:pPr>
            <a:r>
              <a:rPr lang="en-US" b="1">
                <a:solidFill>
                  <a:srgbClr val="012D86"/>
                </a:solidFill>
                <a:latin typeface="Bell MT"/>
                <a:ea typeface="Bell MT"/>
                <a:cs typeface="Bell MT"/>
                <a:sym typeface="Bell MT"/>
              </a:rPr>
              <a:t>When to use Razor Pages</a:t>
            </a:r>
            <a:r>
              <a:rPr lang="en-US">
                <a:solidFill>
                  <a:srgbClr val="012D86"/>
                </a:solidFill>
              </a:rPr>
              <a:t/>
            </a:r>
            <a:br>
              <a:rPr lang="en-US">
                <a:solidFill>
                  <a:srgbClr val="012D86"/>
                </a:solidFill>
              </a:rPr>
            </a:br>
            <a:endParaRPr>
              <a:solidFill>
                <a:srgbClr val="012D86"/>
              </a:solidFill>
            </a:endParaRPr>
          </a:p>
        </p:txBody>
      </p:sp>
      <p:sp>
        <p:nvSpPr>
          <p:cNvPr id="149" name="Google Shape;149;p5"/>
          <p:cNvSpPr/>
          <p:nvPr/>
        </p:nvSpPr>
        <p:spPr>
          <a:xfrm>
            <a:off x="1034415" y="2828290"/>
            <a:ext cx="3225165" cy="158750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omic Sans MS"/>
                <a:ea typeface="Comic Sans MS"/>
                <a:cs typeface="Comic Sans MS"/>
                <a:sym typeface="Comic Sans MS"/>
              </a:rPr>
              <a:t>Appropriate for client-heavy SPA(single page app) scenarios  as React and Angular</a:t>
            </a:r>
            <a:endParaRPr sz="1600" dirty="0">
              <a:solidFill>
                <a:schemeClr val="lt1"/>
              </a:solidFill>
              <a:latin typeface="Comic Sans MS"/>
              <a:ea typeface="Comic Sans MS"/>
              <a:cs typeface="Comic Sans MS"/>
              <a:sym typeface="Comic Sans MS"/>
            </a:endParaRPr>
          </a:p>
        </p:txBody>
      </p:sp>
      <p:sp>
        <p:nvSpPr>
          <p:cNvPr id="150" name="Google Shape;150;p5"/>
          <p:cNvSpPr/>
          <p:nvPr/>
        </p:nvSpPr>
        <p:spPr>
          <a:xfrm>
            <a:off x="8074025" y="2809240"/>
            <a:ext cx="3225165" cy="158750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omic Sans MS"/>
                <a:ea typeface="Comic Sans MS"/>
                <a:cs typeface="Comic Sans MS"/>
                <a:sym typeface="Comic Sans MS"/>
              </a:rPr>
              <a:t>Server-side applications that are organized by </a:t>
            </a:r>
            <a:r>
              <a:rPr lang="en-US" sz="1600" dirty="0" err="1">
                <a:solidFill>
                  <a:schemeClr val="lt1"/>
                </a:solidFill>
                <a:latin typeface="Comic Sans MS"/>
                <a:ea typeface="Comic Sans MS"/>
                <a:cs typeface="Comic Sans MS"/>
                <a:sym typeface="Comic Sans MS"/>
              </a:rPr>
              <a:t>feature,Easy</a:t>
            </a:r>
            <a:r>
              <a:rPr lang="en-US" sz="1600" dirty="0">
                <a:solidFill>
                  <a:schemeClr val="lt1"/>
                </a:solidFill>
                <a:latin typeface="Comic Sans MS"/>
                <a:ea typeface="Comic Sans MS"/>
                <a:cs typeface="Comic Sans MS"/>
                <a:sym typeface="Comic Sans MS"/>
              </a:rPr>
              <a:t> to </a:t>
            </a:r>
            <a:r>
              <a:rPr lang="en-US" sz="1600" dirty="0" err="1">
                <a:solidFill>
                  <a:schemeClr val="lt1"/>
                </a:solidFill>
                <a:latin typeface="Comic Sans MS"/>
                <a:ea typeface="Comic Sans MS"/>
                <a:cs typeface="Comic Sans MS"/>
                <a:sym typeface="Comic Sans MS"/>
              </a:rPr>
              <a:t>start,scales</a:t>
            </a:r>
            <a:r>
              <a:rPr lang="en-US" sz="1600" dirty="0">
                <a:solidFill>
                  <a:schemeClr val="lt1"/>
                </a:solidFill>
                <a:latin typeface="Comic Sans MS"/>
                <a:ea typeface="Comic Sans MS"/>
                <a:cs typeface="Comic Sans MS"/>
                <a:sym typeface="Comic Sans MS"/>
              </a:rPr>
              <a:t> to large applications.</a:t>
            </a:r>
            <a:endParaRPr sz="1600" dirty="0">
              <a:solidFill>
                <a:schemeClr val="lt1"/>
              </a:solidFill>
              <a:latin typeface="Comic Sans MS"/>
              <a:ea typeface="Comic Sans MS"/>
              <a:cs typeface="Comic Sans MS"/>
              <a:sym typeface="Comic Sans MS"/>
            </a:endParaRPr>
          </a:p>
        </p:txBody>
      </p:sp>
      <p:sp>
        <p:nvSpPr>
          <p:cNvPr id="151" name="Google Shape;151;p5"/>
          <p:cNvSpPr/>
          <p:nvPr/>
        </p:nvSpPr>
        <p:spPr>
          <a:xfrm>
            <a:off x="4554220" y="2809240"/>
            <a:ext cx="3225165" cy="158750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dirty="0">
              <a:solidFill>
                <a:schemeClr val="lt1"/>
              </a:solidFill>
              <a:latin typeface="Comic Sans MS"/>
              <a:ea typeface="Comic Sans MS"/>
              <a:cs typeface="Comic Sans MS"/>
              <a:sym typeface="Comic Sans MS"/>
            </a:endParaRPr>
          </a:p>
          <a:p>
            <a:pPr marL="0" marR="0" lvl="0" indent="0" algn="ctr" rtl="0">
              <a:spcBef>
                <a:spcPts val="0"/>
              </a:spcBef>
              <a:spcAft>
                <a:spcPts val="0"/>
              </a:spcAft>
              <a:buNone/>
            </a:pPr>
            <a:r>
              <a:rPr lang="en-US" sz="1600" dirty="0">
                <a:solidFill>
                  <a:schemeClr val="lt1"/>
                </a:solidFill>
                <a:latin typeface="Comic Sans MS"/>
                <a:ea typeface="Comic Sans MS"/>
                <a:cs typeface="Comic Sans MS"/>
                <a:sym typeface="Comic Sans MS"/>
              </a:rPr>
              <a:t>Server-</a:t>
            </a:r>
            <a:r>
              <a:rPr lang="en-US" sz="1600" dirty="0" err="1">
                <a:solidFill>
                  <a:schemeClr val="lt1"/>
                </a:solidFill>
                <a:latin typeface="Comic Sans MS"/>
                <a:ea typeface="Comic Sans MS"/>
                <a:cs typeface="Comic Sans MS"/>
                <a:sym typeface="Comic Sans MS"/>
              </a:rPr>
              <a:t>side,organized</a:t>
            </a:r>
            <a:r>
              <a:rPr lang="en-US" sz="1600" dirty="0">
                <a:solidFill>
                  <a:schemeClr val="lt1"/>
                </a:solidFill>
                <a:latin typeface="Comic Sans MS"/>
                <a:ea typeface="Comic Sans MS"/>
                <a:cs typeface="Comic Sans MS"/>
                <a:sym typeface="Comic Sans MS"/>
              </a:rPr>
              <a:t> by </a:t>
            </a:r>
            <a:r>
              <a:rPr lang="en-US" sz="1600" dirty="0" err="1">
                <a:solidFill>
                  <a:schemeClr val="lt1"/>
                </a:solidFill>
                <a:latin typeface="Comic Sans MS"/>
                <a:ea typeface="Comic Sans MS"/>
                <a:cs typeface="Comic Sans MS"/>
                <a:sym typeface="Comic Sans MS"/>
              </a:rPr>
              <a:t>controllers,more</a:t>
            </a:r>
            <a:r>
              <a:rPr lang="en-US" sz="1600" dirty="0">
                <a:solidFill>
                  <a:schemeClr val="lt1"/>
                </a:solidFill>
                <a:latin typeface="Comic Sans MS"/>
                <a:ea typeface="Comic Sans MS"/>
                <a:cs typeface="Comic Sans MS"/>
                <a:sym typeface="Comic Sans MS"/>
              </a:rPr>
              <a:t> structured </a:t>
            </a:r>
            <a:r>
              <a:rPr lang="en-US" sz="1600" dirty="0" err="1">
                <a:solidFill>
                  <a:schemeClr val="lt1"/>
                </a:solidFill>
                <a:latin typeface="Comic Sans MS"/>
                <a:ea typeface="Comic Sans MS"/>
                <a:cs typeface="Comic Sans MS"/>
                <a:sym typeface="Comic Sans MS"/>
              </a:rPr>
              <a:t>scenarios,original</a:t>
            </a:r>
            <a:r>
              <a:rPr lang="en-US" sz="1600" dirty="0">
                <a:solidFill>
                  <a:schemeClr val="lt1"/>
                </a:solidFill>
                <a:latin typeface="Comic Sans MS"/>
                <a:ea typeface="Comic Sans MS"/>
                <a:cs typeface="Comic Sans MS"/>
                <a:sym typeface="Comic Sans MS"/>
              </a:rPr>
              <a:t> basis of</a:t>
            </a:r>
            <a:endParaRPr sz="1600" dirty="0">
              <a:solidFill>
                <a:schemeClr val="lt1"/>
              </a:solidFill>
              <a:latin typeface="Comic Sans MS"/>
              <a:ea typeface="Comic Sans MS"/>
              <a:cs typeface="Comic Sans MS"/>
              <a:sym typeface="Comic Sans MS"/>
            </a:endParaRPr>
          </a:p>
          <a:p>
            <a:pPr marL="0" marR="0" lvl="0" indent="0" algn="ctr" rtl="0">
              <a:spcBef>
                <a:spcPts val="0"/>
              </a:spcBef>
              <a:spcAft>
                <a:spcPts val="0"/>
              </a:spcAft>
              <a:buNone/>
            </a:pPr>
            <a:r>
              <a:rPr lang="en-US" sz="1600" dirty="0">
                <a:solidFill>
                  <a:schemeClr val="lt1"/>
                </a:solidFill>
                <a:latin typeface="Comic Sans MS"/>
                <a:ea typeface="Comic Sans MS"/>
                <a:cs typeface="Comic Sans MS"/>
                <a:sym typeface="Comic Sans MS"/>
              </a:rPr>
              <a:t>Razor pages </a:t>
            </a:r>
            <a:endParaRPr sz="1600" dirty="0">
              <a:solidFill>
                <a:schemeClr val="lt1"/>
              </a:solidFill>
              <a:latin typeface="Comic Sans MS"/>
              <a:ea typeface="Comic Sans MS"/>
              <a:cs typeface="Comic Sans MS"/>
              <a:sym typeface="Comic Sans MS"/>
            </a:endParaRPr>
          </a:p>
          <a:p>
            <a:pPr marL="0" marR="0" lvl="0" indent="0" algn="ctr" rtl="0">
              <a:spcBef>
                <a:spcPts val="0"/>
              </a:spcBef>
              <a:spcAft>
                <a:spcPts val="0"/>
              </a:spcAft>
              <a:buNone/>
            </a:pPr>
            <a:endParaRPr sz="1600" dirty="0">
              <a:solidFill>
                <a:schemeClr val="lt1"/>
              </a:solidFill>
              <a:latin typeface="Comic Sans MS"/>
              <a:ea typeface="Comic Sans MS"/>
              <a:cs typeface="Comic Sans MS"/>
              <a:sym typeface="Comic Sans MS"/>
            </a:endParaRPr>
          </a:p>
        </p:txBody>
      </p:sp>
      <p:sp>
        <p:nvSpPr>
          <p:cNvPr id="152" name="Google Shape;152;p5"/>
          <p:cNvSpPr/>
          <p:nvPr/>
        </p:nvSpPr>
        <p:spPr>
          <a:xfrm>
            <a:off x="8896350" y="2059940"/>
            <a:ext cx="1875155" cy="49085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900"/>
              <a:buFont typeface="Arial"/>
              <a:buNone/>
            </a:pPr>
            <a:r>
              <a:rPr lang="en-US" sz="900" b="1">
                <a:solidFill>
                  <a:schemeClr val="dk1"/>
                </a:solidFill>
                <a:latin typeface="Arial"/>
                <a:ea typeface="Arial"/>
                <a:cs typeface="Arial"/>
                <a:sym typeface="Arial"/>
              </a:rPr>
              <a:t>   </a:t>
            </a:r>
            <a:r>
              <a:rPr lang="en-US" sz="1800" b="1">
                <a:solidFill>
                  <a:schemeClr val="dk1"/>
                </a:solidFill>
                <a:latin typeface="Arial"/>
                <a:ea typeface="Arial"/>
                <a:cs typeface="Arial"/>
                <a:sym typeface="Arial"/>
              </a:rPr>
              <a:t>Razor Pages</a:t>
            </a:r>
            <a:endParaRPr sz="1800" b="1">
              <a:solidFill>
                <a:schemeClr val="dk1"/>
              </a:solidFill>
              <a:latin typeface="Arial"/>
              <a:ea typeface="Arial"/>
              <a:cs typeface="Arial"/>
              <a:sym typeface="Arial"/>
            </a:endParaRPr>
          </a:p>
        </p:txBody>
      </p:sp>
      <p:sp>
        <p:nvSpPr>
          <p:cNvPr id="153" name="Google Shape;153;p5"/>
          <p:cNvSpPr/>
          <p:nvPr/>
        </p:nvSpPr>
        <p:spPr>
          <a:xfrm>
            <a:off x="5320665" y="2056130"/>
            <a:ext cx="1480185" cy="34734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    MVC</a:t>
            </a:r>
            <a:endParaRPr sz="1800" b="1">
              <a:solidFill>
                <a:schemeClr val="dk1"/>
              </a:solidFill>
              <a:latin typeface="Arial"/>
              <a:ea typeface="Arial"/>
              <a:cs typeface="Arial"/>
              <a:sym typeface="Arial"/>
            </a:endParaRPr>
          </a:p>
        </p:txBody>
      </p:sp>
      <p:pic>
        <p:nvPicPr>
          <p:cNvPr id="154" name="Google Shape;154;p5" descr="Aitrich-Logo-Transparent-BG-2048x671"/>
          <p:cNvPicPr preferRelativeResize="0"/>
          <p:nvPr/>
        </p:nvPicPr>
        <p:blipFill rotWithShape="1">
          <a:blip r:embed="rId3">
            <a:alphaModFix/>
          </a:blip>
          <a:srcRect/>
          <a:stretch/>
        </p:blipFill>
        <p:spPr>
          <a:xfrm>
            <a:off x="365125" y="6527165"/>
            <a:ext cx="1166495" cy="167005"/>
          </a:xfrm>
          <a:prstGeom prst="rect">
            <a:avLst/>
          </a:prstGeom>
          <a:noFill/>
          <a:ln>
            <a:noFill/>
          </a:ln>
        </p:spPr>
      </p:pic>
      <p:sp>
        <p:nvSpPr>
          <p:cNvPr id="155" name="Google Shape;155;p5"/>
          <p:cNvSpPr/>
          <p:nvPr/>
        </p:nvSpPr>
        <p:spPr>
          <a:xfrm>
            <a:off x="1906905" y="2131695"/>
            <a:ext cx="1480185" cy="34734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    Blazor</a:t>
            </a:r>
            <a:endParaRPr sz="1800" b="1">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8"/>
                                        </p:tgtEl>
                                        <p:attrNameLst>
                                          <p:attrName>style.visibility</p:attrName>
                                        </p:attrNameLst>
                                      </p:cBhvr>
                                      <p:to>
                                        <p:strVal val="visible"/>
                                      </p:to>
                                    </p:set>
                                    <p:animEffect transition="in" filter="fade">
                                      <p:cBhvr>
                                        <p:cTn id="7" dur="500"/>
                                        <p:tgtEl>
                                          <p:spTgt spid="148"/>
                                        </p:tgtEl>
                                      </p:cBhvr>
                                    </p:animEffect>
                                  </p:childTnLst>
                                </p:cTn>
                              </p:par>
                              <p:par>
                                <p:cTn id="8" presetID="10" presetClass="entr" presetSubtype="0" fill="hold" nodeType="withEffect">
                                  <p:stCondLst>
                                    <p:cond delay="0"/>
                                  </p:stCondLst>
                                  <p:childTnLst>
                                    <p:set>
                                      <p:cBhvr>
                                        <p:cTn id="9" dur="1" fill="hold">
                                          <p:stCondLst>
                                            <p:cond delay="0"/>
                                          </p:stCondLst>
                                        </p:cTn>
                                        <p:tgtEl>
                                          <p:spTgt spid="149"/>
                                        </p:tgtEl>
                                        <p:attrNameLst>
                                          <p:attrName>style.visibility</p:attrName>
                                        </p:attrNameLst>
                                      </p:cBhvr>
                                      <p:to>
                                        <p:strVal val="visible"/>
                                      </p:to>
                                    </p:set>
                                    <p:animEffect transition="in" filter="fade">
                                      <p:cBhvr>
                                        <p:cTn id="10" dur="500"/>
                                        <p:tgtEl>
                                          <p:spTgt spid="149"/>
                                        </p:tgtEl>
                                      </p:cBhvr>
                                    </p:animEffect>
                                  </p:childTnLst>
                                </p:cTn>
                              </p:par>
                              <p:par>
                                <p:cTn id="11" presetID="10" presetClass="entr" presetSubtype="0" fill="hold" nodeType="withEffect">
                                  <p:stCondLst>
                                    <p:cond delay="0"/>
                                  </p:stCondLst>
                                  <p:childTnLst>
                                    <p:set>
                                      <p:cBhvr>
                                        <p:cTn id="12" dur="1" fill="hold">
                                          <p:stCondLst>
                                            <p:cond delay="0"/>
                                          </p:stCondLst>
                                        </p:cTn>
                                        <p:tgtEl>
                                          <p:spTgt spid="150"/>
                                        </p:tgtEl>
                                        <p:attrNameLst>
                                          <p:attrName>style.visibility</p:attrName>
                                        </p:attrNameLst>
                                      </p:cBhvr>
                                      <p:to>
                                        <p:strVal val="visible"/>
                                      </p:to>
                                    </p:set>
                                    <p:animEffect transition="in" filter="fade">
                                      <p:cBhvr>
                                        <p:cTn id="13" dur="500"/>
                                        <p:tgtEl>
                                          <p:spTgt spid="150"/>
                                        </p:tgtEl>
                                      </p:cBhvr>
                                    </p:animEffect>
                                  </p:childTnLst>
                                </p:cTn>
                              </p:par>
                              <p:par>
                                <p:cTn id="14" presetID="10" presetClass="entr" presetSubtype="0" fill="hold" nodeType="withEffect">
                                  <p:stCondLst>
                                    <p:cond delay="0"/>
                                  </p:stCondLst>
                                  <p:childTnLst>
                                    <p:set>
                                      <p:cBhvr>
                                        <p:cTn id="15" dur="1" fill="hold">
                                          <p:stCondLst>
                                            <p:cond delay="0"/>
                                          </p:stCondLst>
                                        </p:cTn>
                                        <p:tgtEl>
                                          <p:spTgt spid="151"/>
                                        </p:tgtEl>
                                        <p:attrNameLst>
                                          <p:attrName>style.visibility</p:attrName>
                                        </p:attrNameLst>
                                      </p:cBhvr>
                                      <p:to>
                                        <p:strVal val="visible"/>
                                      </p:to>
                                    </p:set>
                                    <p:animEffect transition="in" filter="fade">
                                      <p:cBhvr>
                                        <p:cTn id="16" dur="500"/>
                                        <p:tgtEl>
                                          <p:spTgt spid="151"/>
                                        </p:tgtEl>
                                      </p:cBhvr>
                                    </p:animEffect>
                                  </p:childTnLst>
                                </p:cTn>
                              </p:par>
                              <p:par>
                                <p:cTn id="17" presetID="10" presetClass="entr" presetSubtype="0" fill="hold" nodeType="withEffect">
                                  <p:stCondLst>
                                    <p:cond delay="0"/>
                                  </p:stCondLst>
                                  <p:childTnLst>
                                    <p:set>
                                      <p:cBhvr>
                                        <p:cTn id="18" dur="1" fill="hold">
                                          <p:stCondLst>
                                            <p:cond delay="0"/>
                                          </p:stCondLst>
                                        </p:cTn>
                                        <p:tgtEl>
                                          <p:spTgt spid="152"/>
                                        </p:tgtEl>
                                        <p:attrNameLst>
                                          <p:attrName>style.visibility</p:attrName>
                                        </p:attrNameLst>
                                      </p:cBhvr>
                                      <p:to>
                                        <p:strVal val="visible"/>
                                      </p:to>
                                    </p:set>
                                    <p:animEffect transition="in" filter="fade">
                                      <p:cBhvr>
                                        <p:cTn id="19" dur="500"/>
                                        <p:tgtEl>
                                          <p:spTgt spid="152"/>
                                        </p:tgtEl>
                                      </p:cBhvr>
                                    </p:animEffect>
                                  </p:childTnLst>
                                </p:cTn>
                              </p:par>
                              <p:par>
                                <p:cTn id="20" presetID="10" presetClass="entr" presetSubtype="0" fill="hold" nodeType="withEffect">
                                  <p:stCondLst>
                                    <p:cond delay="0"/>
                                  </p:stCondLst>
                                  <p:childTnLst>
                                    <p:set>
                                      <p:cBhvr>
                                        <p:cTn id="21" dur="1" fill="hold">
                                          <p:stCondLst>
                                            <p:cond delay="0"/>
                                          </p:stCondLst>
                                        </p:cTn>
                                        <p:tgtEl>
                                          <p:spTgt spid="153"/>
                                        </p:tgtEl>
                                        <p:attrNameLst>
                                          <p:attrName>style.visibility</p:attrName>
                                        </p:attrNameLst>
                                      </p:cBhvr>
                                      <p:to>
                                        <p:strVal val="visible"/>
                                      </p:to>
                                    </p:set>
                                    <p:animEffect transition="in" filter="fade">
                                      <p:cBhvr>
                                        <p:cTn id="22" dur="500"/>
                                        <p:tgtEl>
                                          <p:spTgt spid="153"/>
                                        </p:tgtEl>
                                      </p:cBhvr>
                                    </p:animEffect>
                                  </p:childTnLst>
                                </p:cTn>
                              </p:par>
                              <p:par>
                                <p:cTn id="23" presetID="10" presetClass="entr" presetSubtype="0" fill="hold" nodeType="withEffect">
                                  <p:stCondLst>
                                    <p:cond delay="0"/>
                                  </p:stCondLst>
                                  <p:childTnLst>
                                    <p:set>
                                      <p:cBhvr>
                                        <p:cTn id="24" dur="1" fill="hold">
                                          <p:stCondLst>
                                            <p:cond delay="0"/>
                                          </p:stCondLst>
                                        </p:cTn>
                                        <p:tgtEl>
                                          <p:spTgt spid="155"/>
                                        </p:tgtEl>
                                        <p:attrNameLst>
                                          <p:attrName>style.visibility</p:attrName>
                                        </p:attrNameLst>
                                      </p:cBhvr>
                                      <p:to>
                                        <p:strVal val="visible"/>
                                      </p:to>
                                    </p:set>
                                    <p:animEffect transition="in" filter="fade">
                                      <p:cBhvr>
                                        <p:cTn id="25" dur="500"/>
                                        <p:tgtEl>
                                          <p:spTgt spid="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400"/>
              <a:buFont typeface="Arial"/>
              <a:buNone/>
            </a:pPr>
            <a:r>
              <a:rPr lang="en-US"/>
              <a:t/>
            </a:r>
            <a:br>
              <a:rPr lang="en-US"/>
            </a:br>
            <a:r>
              <a:rPr lang="en-US" b="1">
                <a:solidFill>
                  <a:srgbClr val="012D86"/>
                </a:solidFill>
                <a:latin typeface="Bell MT"/>
                <a:ea typeface="Bell MT"/>
                <a:cs typeface="Bell MT"/>
                <a:sym typeface="Bell MT"/>
              </a:rPr>
              <a:t>Razor Pages</a:t>
            </a:r>
            <a:r>
              <a:rPr lang="en-US"/>
              <a:t/>
            </a:r>
            <a:br>
              <a:rPr lang="en-US"/>
            </a:br>
            <a:endParaRPr/>
          </a:p>
        </p:txBody>
      </p:sp>
      <p:sp>
        <p:nvSpPr>
          <p:cNvPr id="161" name="Google Shape;161;p6"/>
          <p:cNvSpPr/>
          <p:nvPr/>
        </p:nvSpPr>
        <p:spPr>
          <a:xfrm>
            <a:off x="719455" y="1525905"/>
            <a:ext cx="5954395" cy="96393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600" dirty="0">
                <a:solidFill>
                  <a:schemeClr val="lt1"/>
                </a:solidFill>
                <a:latin typeface="Comic Sans MS"/>
                <a:ea typeface="Comic Sans MS"/>
                <a:cs typeface="Comic Sans MS"/>
                <a:sym typeface="Comic Sans MS"/>
              </a:rPr>
              <a:t>Razor page use a markup language called Razor for embedding server-based code into webpages. </a:t>
            </a:r>
            <a:endParaRPr sz="1600" dirty="0">
              <a:solidFill>
                <a:schemeClr val="lt1"/>
              </a:solidFill>
              <a:latin typeface="Comic Sans MS"/>
              <a:ea typeface="Comic Sans MS"/>
              <a:cs typeface="Comic Sans MS"/>
              <a:sym typeface="Comic Sans MS"/>
            </a:endParaRPr>
          </a:p>
        </p:txBody>
      </p:sp>
      <p:sp>
        <p:nvSpPr>
          <p:cNvPr id="162" name="Google Shape;162;p6"/>
          <p:cNvSpPr/>
          <p:nvPr/>
        </p:nvSpPr>
        <p:spPr>
          <a:xfrm>
            <a:off x="719455" y="2653665"/>
            <a:ext cx="5954395" cy="96393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600" dirty="0">
                <a:solidFill>
                  <a:schemeClr val="lt1"/>
                </a:solidFill>
                <a:latin typeface="Comic Sans MS"/>
                <a:ea typeface="Comic Sans MS"/>
                <a:cs typeface="Comic Sans MS"/>
                <a:sym typeface="Comic Sans MS"/>
              </a:rPr>
              <a:t>Razor syntax is combination of html and </a:t>
            </a:r>
            <a:r>
              <a:rPr lang="en-US" sz="1600" dirty="0" err="1">
                <a:solidFill>
                  <a:schemeClr val="lt1"/>
                </a:solidFill>
                <a:latin typeface="Comic Sans MS"/>
                <a:ea typeface="Comic Sans MS"/>
                <a:cs typeface="Comic Sans MS"/>
                <a:sym typeface="Comic Sans MS"/>
              </a:rPr>
              <a:t>c#</a:t>
            </a:r>
            <a:r>
              <a:rPr lang="en-US" sz="1600" dirty="0">
                <a:solidFill>
                  <a:schemeClr val="lt1"/>
                </a:solidFill>
                <a:latin typeface="Comic Sans MS"/>
                <a:ea typeface="Comic Sans MS"/>
                <a:cs typeface="Comic Sans MS"/>
                <a:sym typeface="Comic Sans MS"/>
              </a:rPr>
              <a:t>  where the </a:t>
            </a:r>
            <a:r>
              <a:rPr lang="en-US" sz="1600" dirty="0" err="1">
                <a:solidFill>
                  <a:schemeClr val="lt1"/>
                </a:solidFill>
                <a:latin typeface="Comic Sans MS"/>
                <a:ea typeface="Comic Sans MS"/>
                <a:cs typeface="Comic Sans MS"/>
                <a:sym typeface="Comic Sans MS"/>
              </a:rPr>
              <a:t>c#</a:t>
            </a:r>
            <a:r>
              <a:rPr lang="en-US" sz="1600" dirty="0">
                <a:solidFill>
                  <a:schemeClr val="lt1"/>
                </a:solidFill>
                <a:latin typeface="Comic Sans MS"/>
                <a:ea typeface="Comic Sans MS"/>
                <a:cs typeface="Comic Sans MS"/>
                <a:sym typeface="Comic Sans MS"/>
              </a:rPr>
              <a:t> code defines the dynamic rendering logic for the page.</a:t>
            </a:r>
            <a:endParaRPr sz="1600" dirty="0">
              <a:solidFill>
                <a:schemeClr val="lt1"/>
              </a:solidFill>
              <a:latin typeface="Comic Sans MS"/>
              <a:ea typeface="Comic Sans MS"/>
              <a:cs typeface="Comic Sans MS"/>
              <a:sym typeface="Comic Sans MS"/>
            </a:endParaRPr>
          </a:p>
        </p:txBody>
      </p:sp>
      <p:sp>
        <p:nvSpPr>
          <p:cNvPr id="163" name="Google Shape;163;p6"/>
          <p:cNvSpPr/>
          <p:nvPr/>
        </p:nvSpPr>
        <p:spPr>
          <a:xfrm>
            <a:off x="719455" y="3781425"/>
            <a:ext cx="5954395" cy="96393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600" dirty="0">
                <a:solidFill>
                  <a:schemeClr val="lt1"/>
                </a:solidFill>
                <a:latin typeface="Comic Sans MS"/>
                <a:ea typeface="Comic Sans MS"/>
                <a:cs typeface="Comic Sans MS"/>
                <a:sym typeface="Comic Sans MS"/>
              </a:rPr>
              <a:t>In a webpage that uses the razor </a:t>
            </a:r>
            <a:r>
              <a:rPr lang="en-US" sz="1600" dirty="0" err="1">
                <a:solidFill>
                  <a:schemeClr val="lt1"/>
                </a:solidFill>
                <a:latin typeface="Comic Sans MS"/>
                <a:ea typeface="Comic Sans MS"/>
                <a:cs typeface="Comic Sans MS"/>
                <a:sym typeface="Comic Sans MS"/>
              </a:rPr>
              <a:t>syntax,there</a:t>
            </a:r>
            <a:r>
              <a:rPr lang="en-US" sz="1600" dirty="0">
                <a:solidFill>
                  <a:schemeClr val="lt1"/>
                </a:solidFill>
                <a:latin typeface="Comic Sans MS"/>
                <a:ea typeface="Comic Sans MS"/>
                <a:cs typeface="Comic Sans MS"/>
                <a:sym typeface="Comic Sans MS"/>
              </a:rPr>
              <a:t> can be two kind of </a:t>
            </a:r>
            <a:r>
              <a:rPr lang="en-US" sz="1600" dirty="0" err="1">
                <a:solidFill>
                  <a:schemeClr val="lt1"/>
                </a:solidFill>
                <a:latin typeface="Comic Sans MS"/>
                <a:ea typeface="Comic Sans MS"/>
                <a:cs typeface="Comic Sans MS"/>
                <a:sym typeface="Comic Sans MS"/>
              </a:rPr>
              <a:t>content:Client</a:t>
            </a:r>
            <a:r>
              <a:rPr lang="en-US" sz="1600" dirty="0">
                <a:solidFill>
                  <a:schemeClr val="lt1"/>
                </a:solidFill>
                <a:latin typeface="Comic Sans MS"/>
                <a:ea typeface="Comic Sans MS"/>
                <a:cs typeface="Comic Sans MS"/>
                <a:sym typeface="Comic Sans MS"/>
              </a:rPr>
              <a:t> content and Server Code </a:t>
            </a:r>
            <a:endParaRPr sz="1600" dirty="0">
              <a:solidFill>
                <a:schemeClr val="lt1"/>
              </a:solidFill>
              <a:latin typeface="Comic Sans MS"/>
              <a:ea typeface="Comic Sans MS"/>
              <a:cs typeface="Comic Sans MS"/>
              <a:sym typeface="Comic Sans MS"/>
            </a:endParaRPr>
          </a:p>
        </p:txBody>
      </p:sp>
      <p:pic>
        <p:nvPicPr>
          <p:cNvPr id="164" name="Google Shape;164;p6" descr="3907915"/>
          <p:cNvPicPr preferRelativeResize="0">
            <a:picLocks noGrp="1"/>
          </p:cNvPicPr>
          <p:nvPr>
            <p:ph type="body" idx="1"/>
          </p:nvPr>
        </p:nvPicPr>
        <p:blipFill rotWithShape="1">
          <a:blip r:embed="rId3">
            <a:alphaModFix/>
          </a:blip>
          <a:srcRect/>
          <a:stretch/>
        </p:blipFill>
        <p:spPr>
          <a:xfrm>
            <a:off x="7056120" y="1417955"/>
            <a:ext cx="4526280" cy="4526280"/>
          </a:xfrm>
          <a:prstGeom prst="rect">
            <a:avLst/>
          </a:prstGeom>
          <a:noFill/>
          <a:ln>
            <a:noFill/>
          </a:ln>
        </p:spPr>
      </p:pic>
      <p:pic>
        <p:nvPicPr>
          <p:cNvPr id="165" name="Google Shape;165;p6"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500"/>
                                        <p:tgtEl>
                                          <p:spTgt spid="160"/>
                                        </p:tgtEl>
                                      </p:cBhvr>
                                    </p:animEffect>
                                  </p:childTnLst>
                                </p:cTn>
                              </p:par>
                              <p:par>
                                <p:cTn id="8" presetID="10" presetClass="entr" presetSubtype="0" fill="hold" nodeType="withEffect">
                                  <p:stCondLst>
                                    <p:cond delay="0"/>
                                  </p:stCondLst>
                                  <p:childTnLst>
                                    <p:set>
                                      <p:cBhvr>
                                        <p:cTn id="9" dur="1" fill="hold">
                                          <p:stCondLst>
                                            <p:cond delay="0"/>
                                          </p:stCondLst>
                                        </p:cTn>
                                        <p:tgtEl>
                                          <p:spTgt spid="164"/>
                                        </p:tgtEl>
                                        <p:attrNameLst>
                                          <p:attrName>style.visibility</p:attrName>
                                        </p:attrNameLst>
                                      </p:cBhvr>
                                      <p:to>
                                        <p:strVal val="visible"/>
                                      </p:to>
                                    </p:set>
                                    <p:animEffect transition="in" filter="fade">
                                      <p:cBhvr>
                                        <p:cTn id="10" dur="500"/>
                                        <p:tgtEl>
                                          <p:spTgt spid="16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1"/>
                                        </p:tgtEl>
                                        <p:attrNameLst>
                                          <p:attrName>style.visibility</p:attrName>
                                        </p:attrNameLst>
                                      </p:cBhvr>
                                      <p:to>
                                        <p:strVal val="visible"/>
                                      </p:to>
                                    </p:set>
                                    <p:animEffect transition="in" filter="fade">
                                      <p:cBhvr>
                                        <p:cTn id="15" dur="1000"/>
                                        <p:tgtEl>
                                          <p:spTgt spid="16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62"/>
                                        </p:tgtEl>
                                        <p:attrNameLst>
                                          <p:attrName>style.visibility</p:attrName>
                                        </p:attrNameLst>
                                      </p:cBhvr>
                                      <p:to>
                                        <p:strVal val="visible"/>
                                      </p:to>
                                    </p:set>
                                    <p:animEffect transition="in" filter="fade">
                                      <p:cBhvr>
                                        <p:cTn id="20" dur="1000"/>
                                        <p:tgtEl>
                                          <p:spTgt spid="16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63"/>
                                        </p:tgtEl>
                                        <p:attrNameLst>
                                          <p:attrName>style.visibility</p:attrName>
                                        </p:attrNameLst>
                                      </p:cBhvr>
                                      <p:to>
                                        <p:strVal val="visible"/>
                                      </p:to>
                                    </p:set>
                                    <p:animEffect transition="in" filter="fade">
                                      <p:cBhvr>
                                        <p:cTn id="25" dur="1000"/>
                                        <p:tgtEl>
                                          <p:spTgt spid="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400"/>
              <a:buFont typeface="Arial"/>
              <a:buNone/>
            </a:pPr>
            <a:r>
              <a:rPr lang="en-US"/>
              <a:t/>
            </a:r>
            <a:br>
              <a:rPr lang="en-US"/>
            </a:br>
            <a:r>
              <a:rPr lang="en-US"/>
              <a:t/>
            </a:r>
            <a:br>
              <a:rPr lang="en-US"/>
            </a:br>
            <a:r>
              <a:rPr lang="en-US" b="1">
                <a:solidFill>
                  <a:srgbClr val="012D86"/>
                </a:solidFill>
                <a:latin typeface="Bell MT"/>
                <a:ea typeface="Bell MT"/>
                <a:cs typeface="Bell MT"/>
                <a:sym typeface="Bell MT"/>
              </a:rPr>
              <a:t>Razor Pages</a:t>
            </a:r>
            <a:r>
              <a:rPr lang="en-US"/>
              <a:t/>
            </a:r>
            <a:br>
              <a:rPr lang="en-US"/>
            </a:br>
            <a:r>
              <a:rPr lang="en-US"/>
              <a:t/>
            </a:r>
            <a:br>
              <a:rPr lang="en-US"/>
            </a:br>
            <a:endParaRPr/>
          </a:p>
        </p:txBody>
      </p:sp>
      <p:sp>
        <p:nvSpPr>
          <p:cNvPr id="171" name="Google Shape;171;p7"/>
          <p:cNvSpPr/>
          <p:nvPr/>
        </p:nvSpPr>
        <p:spPr>
          <a:xfrm>
            <a:off x="902335" y="1927225"/>
            <a:ext cx="6462395" cy="132905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None/>
            </a:pPr>
            <a:r>
              <a:rPr lang="en-US" sz="1600" dirty="0">
                <a:solidFill>
                  <a:schemeClr val="lt1"/>
                </a:solidFill>
                <a:latin typeface="Comic Sans MS"/>
                <a:ea typeface="Comic Sans MS"/>
                <a:cs typeface="Comic Sans MS"/>
                <a:sym typeface="Comic Sans MS"/>
              </a:rPr>
              <a:t>Client Content : Contains what you are used to in </a:t>
            </a:r>
            <a:r>
              <a:rPr lang="en-US" sz="1600" dirty="0" err="1">
                <a:solidFill>
                  <a:schemeClr val="lt1"/>
                </a:solidFill>
                <a:latin typeface="Comic Sans MS"/>
                <a:ea typeface="Comic Sans MS"/>
                <a:cs typeface="Comic Sans MS"/>
                <a:sym typeface="Comic Sans MS"/>
              </a:rPr>
              <a:t>webpages.For</a:t>
            </a:r>
            <a:r>
              <a:rPr lang="en-US" sz="1600" dirty="0">
                <a:solidFill>
                  <a:schemeClr val="lt1"/>
                </a:solidFill>
                <a:latin typeface="Comic Sans MS"/>
                <a:ea typeface="Comic Sans MS"/>
                <a:cs typeface="Comic Sans MS"/>
                <a:sym typeface="Comic Sans MS"/>
              </a:rPr>
              <a:t> </a:t>
            </a:r>
            <a:r>
              <a:rPr lang="en-US" sz="1600" dirty="0" err="1">
                <a:solidFill>
                  <a:schemeClr val="lt1"/>
                </a:solidFill>
                <a:latin typeface="Comic Sans MS"/>
                <a:ea typeface="Comic Sans MS"/>
                <a:cs typeface="Comic Sans MS"/>
                <a:sym typeface="Comic Sans MS"/>
              </a:rPr>
              <a:t>example,HTML</a:t>
            </a:r>
            <a:r>
              <a:rPr lang="en-US" sz="1600" dirty="0">
                <a:solidFill>
                  <a:schemeClr val="lt1"/>
                </a:solidFill>
                <a:latin typeface="Comic Sans MS"/>
                <a:ea typeface="Comic Sans MS"/>
                <a:cs typeface="Comic Sans MS"/>
                <a:sym typeface="Comic Sans MS"/>
              </a:rPr>
              <a:t> markup (elements),style information such as CSS, maybe some client script such as </a:t>
            </a:r>
            <a:r>
              <a:rPr lang="en-US" sz="1600" dirty="0" err="1">
                <a:solidFill>
                  <a:schemeClr val="lt1"/>
                </a:solidFill>
                <a:latin typeface="Comic Sans MS"/>
                <a:ea typeface="Comic Sans MS"/>
                <a:cs typeface="Comic Sans MS"/>
                <a:sym typeface="Comic Sans MS"/>
              </a:rPr>
              <a:t>javascript</a:t>
            </a:r>
            <a:r>
              <a:rPr lang="en-US" sz="1600" dirty="0">
                <a:solidFill>
                  <a:schemeClr val="lt1"/>
                </a:solidFill>
                <a:latin typeface="Comic Sans MS"/>
                <a:ea typeface="Comic Sans MS"/>
                <a:cs typeface="Comic Sans MS"/>
                <a:sym typeface="Comic Sans MS"/>
              </a:rPr>
              <a:t> , and plain text</a:t>
            </a:r>
            <a:endParaRPr sz="1600" dirty="0">
              <a:solidFill>
                <a:schemeClr val="lt1"/>
              </a:solidFill>
              <a:latin typeface="Comic Sans MS"/>
              <a:ea typeface="Comic Sans MS"/>
              <a:cs typeface="Comic Sans MS"/>
              <a:sym typeface="Comic Sans MS"/>
            </a:endParaRPr>
          </a:p>
        </p:txBody>
      </p:sp>
      <p:sp>
        <p:nvSpPr>
          <p:cNvPr id="172" name="Google Shape;172;p7"/>
          <p:cNvSpPr/>
          <p:nvPr/>
        </p:nvSpPr>
        <p:spPr>
          <a:xfrm>
            <a:off x="902335" y="3454400"/>
            <a:ext cx="6462395" cy="132905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20000"/>
              </a:lnSpc>
              <a:spcBef>
                <a:spcPts val="0"/>
              </a:spcBef>
              <a:spcAft>
                <a:spcPts val="0"/>
              </a:spcAft>
              <a:buNone/>
            </a:pPr>
            <a:r>
              <a:rPr lang="en-US" sz="1600" dirty="0">
                <a:solidFill>
                  <a:schemeClr val="lt1"/>
                </a:solidFill>
                <a:latin typeface="Comic Sans MS"/>
                <a:ea typeface="Comic Sans MS"/>
                <a:cs typeface="Comic Sans MS"/>
                <a:sym typeface="Comic Sans MS"/>
              </a:rPr>
              <a:t>Server Code : Razor enables you to add server code to your client </a:t>
            </a:r>
            <a:r>
              <a:rPr lang="en-US" sz="1600" dirty="0" err="1">
                <a:solidFill>
                  <a:schemeClr val="lt1"/>
                </a:solidFill>
                <a:latin typeface="Comic Sans MS"/>
                <a:ea typeface="Comic Sans MS"/>
                <a:cs typeface="Comic Sans MS"/>
                <a:sym typeface="Comic Sans MS"/>
              </a:rPr>
              <a:t>contrent.if</a:t>
            </a:r>
            <a:r>
              <a:rPr lang="en-US" sz="1600" dirty="0">
                <a:solidFill>
                  <a:schemeClr val="lt1"/>
                </a:solidFill>
                <a:latin typeface="Comic Sans MS"/>
                <a:ea typeface="Comic Sans MS"/>
                <a:cs typeface="Comic Sans MS"/>
                <a:sym typeface="Comic Sans MS"/>
              </a:rPr>
              <a:t> there is server code in the </a:t>
            </a:r>
            <a:r>
              <a:rPr lang="en-US" sz="1600" dirty="0" err="1">
                <a:solidFill>
                  <a:schemeClr val="lt1"/>
                </a:solidFill>
                <a:latin typeface="Comic Sans MS"/>
                <a:ea typeface="Comic Sans MS"/>
                <a:cs typeface="Comic Sans MS"/>
                <a:sym typeface="Comic Sans MS"/>
              </a:rPr>
              <a:t>page,the</a:t>
            </a:r>
            <a:r>
              <a:rPr lang="en-US" sz="1600" dirty="0">
                <a:solidFill>
                  <a:schemeClr val="lt1"/>
                </a:solidFill>
                <a:latin typeface="Comic Sans MS"/>
                <a:ea typeface="Comic Sans MS"/>
                <a:cs typeface="Comic Sans MS"/>
                <a:sym typeface="Comic Sans MS"/>
              </a:rPr>
              <a:t> server runs that code first , before it sends the page to the browser</a:t>
            </a:r>
            <a:endParaRPr sz="1600" dirty="0">
              <a:solidFill>
                <a:schemeClr val="lt1"/>
              </a:solidFill>
              <a:latin typeface="Comic Sans MS"/>
              <a:ea typeface="Comic Sans MS"/>
              <a:cs typeface="Comic Sans MS"/>
              <a:sym typeface="Comic Sans MS"/>
            </a:endParaRPr>
          </a:p>
        </p:txBody>
      </p:sp>
      <p:pic>
        <p:nvPicPr>
          <p:cNvPr id="173" name="Google Shape;173;p7" descr="705"/>
          <p:cNvPicPr preferRelativeResize="0">
            <a:picLocks noGrp="1"/>
          </p:cNvPicPr>
          <p:nvPr>
            <p:ph type="body" idx="1"/>
          </p:nvPr>
        </p:nvPicPr>
        <p:blipFill rotWithShape="1">
          <a:blip r:embed="rId3">
            <a:alphaModFix/>
          </a:blip>
          <a:srcRect/>
          <a:stretch/>
        </p:blipFill>
        <p:spPr>
          <a:xfrm>
            <a:off x="7495540" y="1316355"/>
            <a:ext cx="4526280" cy="4526280"/>
          </a:xfrm>
          <a:prstGeom prst="rect">
            <a:avLst/>
          </a:prstGeom>
          <a:noFill/>
          <a:ln>
            <a:noFill/>
          </a:ln>
        </p:spPr>
      </p:pic>
      <p:pic>
        <p:nvPicPr>
          <p:cNvPr id="174" name="Google Shape;174;p7"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0"/>
                                        </p:tgtEl>
                                        <p:attrNameLst>
                                          <p:attrName>style.visibility</p:attrName>
                                        </p:attrNameLst>
                                      </p:cBhvr>
                                      <p:to>
                                        <p:strVal val="visible"/>
                                      </p:to>
                                    </p:set>
                                    <p:animEffect transition="in" filter="fade">
                                      <p:cBhvr>
                                        <p:cTn id="7" dur="1000"/>
                                        <p:tgtEl>
                                          <p:spTgt spid="170"/>
                                        </p:tgtEl>
                                      </p:cBhvr>
                                    </p:animEffect>
                                  </p:childTnLst>
                                </p:cTn>
                              </p:par>
                              <p:par>
                                <p:cTn id="8" presetID="10" presetClass="entr" presetSubtype="0" fill="hold" nodeType="with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fade">
                                      <p:cBhvr>
                                        <p:cTn id="10" dur="10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1"/>
                                        </p:tgtEl>
                                        <p:attrNameLst>
                                          <p:attrName>style.visibility</p:attrName>
                                        </p:attrNameLst>
                                      </p:cBhvr>
                                      <p:to>
                                        <p:strVal val="visible"/>
                                      </p:to>
                                    </p:set>
                                    <p:animEffect transition="in" filter="fade">
                                      <p:cBhvr>
                                        <p:cTn id="15" dur="500"/>
                                        <p:tgtEl>
                                          <p:spTgt spid="17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72"/>
                                        </p:tgtEl>
                                        <p:attrNameLst>
                                          <p:attrName>style.visibility</p:attrName>
                                        </p:attrNameLst>
                                      </p:cBhvr>
                                      <p:to>
                                        <p:strVal val="visible"/>
                                      </p:to>
                                    </p:set>
                                    <p:animEffect transition="in" filter="fade">
                                      <p:cBhvr>
                                        <p:cTn id="20" dur="500"/>
                                        <p:tgtEl>
                                          <p:spTgt spid="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400"/>
              <a:buFont typeface="Arial"/>
              <a:buNone/>
            </a:pPr>
            <a:r>
              <a:rPr lang="en-US" dirty="0"/>
              <a:t/>
            </a:r>
            <a:br>
              <a:rPr lang="en-US" dirty="0"/>
            </a:br>
            <a:r>
              <a:rPr lang="en-US" sz="3600" b="1" dirty="0">
                <a:solidFill>
                  <a:srgbClr val="012D86"/>
                </a:solidFill>
                <a:latin typeface="Bell MT"/>
                <a:ea typeface="Bell MT"/>
                <a:cs typeface="Bell MT"/>
                <a:sym typeface="Bell MT"/>
              </a:rPr>
              <a:t>Creating a ASP.NET Core Web App</a:t>
            </a:r>
            <a:r>
              <a:rPr lang="en-US" dirty="0">
                <a:solidFill>
                  <a:schemeClr val="dk2"/>
                </a:solidFill>
                <a:latin typeface="Arial"/>
                <a:ea typeface="Arial"/>
                <a:cs typeface="Arial"/>
                <a:sym typeface="Arial"/>
              </a:rPr>
              <a:t/>
            </a:r>
            <a:br>
              <a:rPr lang="en-US" dirty="0">
                <a:solidFill>
                  <a:schemeClr val="dk2"/>
                </a:solidFill>
                <a:latin typeface="Arial"/>
                <a:ea typeface="Arial"/>
                <a:cs typeface="Arial"/>
                <a:sym typeface="Arial"/>
              </a:rPr>
            </a:br>
            <a:endParaRPr dirty="0"/>
          </a:p>
        </p:txBody>
      </p:sp>
      <p:pic>
        <p:nvPicPr>
          <p:cNvPr id="180" name="Google Shape;180;p8" descr="Text&#10;&#10;Description automatically generated"/>
          <p:cNvPicPr preferRelativeResize="0">
            <a:picLocks noGrp="1"/>
          </p:cNvPicPr>
          <p:nvPr>
            <p:ph type="body" idx="1"/>
          </p:nvPr>
        </p:nvPicPr>
        <p:blipFill rotWithShape="1">
          <a:blip r:embed="rId3">
            <a:alphaModFix/>
          </a:blip>
          <a:srcRect/>
          <a:stretch/>
        </p:blipFill>
        <p:spPr>
          <a:xfrm>
            <a:off x="2192655" y="1788795"/>
            <a:ext cx="7434580" cy="4188460"/>
          </a:xfrm>
          <a:prstGeom prst="rect">
            <a:avLst/>
          </a:prstGeom>
          <a:noFill/>
          <a:ln>
            <a:noFill/>
          </a:ln>
        </p:spPr>
      </p:pic>
      <p:pic>
        <p:nvPicPr>
          <p:cNvPr id="181" name="Google Shape;181;p8"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0"/>
                                        </p:tgtEl>
                                        <p:attrNameLst>
                                          <p:attrName>style.visibility</p:attrName>
                                        </p:attrNameLst>
                                      </p:cBhvr>
                                      <p:to>
                                        <p:strVal val="visible"/>
                                      </p:to>
                                    </p:set>
                                    <p:animEffect transition="in" filter="fade">
                                      <p:cBhvr>
                                        <p:cTn id="12" dur="5000"/>
                                        <p:tgtEl>
                                          <p:spTgt spid="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Arial"/>
              <a:buNone/>
            </a:pPr>
            <a:r>
              <a:rPr lang="en-US" b="1">
                <a:solidFill>
                  <a:srgbClr val="012D86"/>
                </a:solidFill>
                <a:latin typeface="Bell MT"/>
                <a:ea typeface="Bell MT"/>
                <a:cs typeface="Bell MT"/>
                <a:sym typeface="Bell MT"/>
              </a:rPr>
              <a:t>Project Structure</a:t>
            </a:r>
            <a:r>
              <a:rPr lang="en-US"/>
              <a:t/>
            </a:r>
            <a:br>
              <a:rPr lang="en-US"/>
            </a:br>
            <a:endParaRPr/>
          </a:p>
        </p:txBody>
      </p:sp>
      <p:grpSp>
        <p:nvGrpSpPr>
          <p:cNvPr id="187" name="Google Shape;187;p9"/>
          <p:cNvGrpSpPr/>
          <p:nvPr/>
        </p:nvGrpSpPr>
        <p:grpSpPr>
          <a:xfrm>
            <a:off x="609600" y="1461123"/>
            <a:ext cx="7002780" cy="4552339"/>
            <a:chOff x="0" y="327013"/>
            <a:chExt cx="7002780" cy="4552339"/>
          </a:xfrm>
        </p:grpSpPr>
        <p:sp>
          <p:nvSpPr>
            <p:cNvPr id="188" name="Google Shape;188;p9"/>
            <p:cNvSpPr/>
            <p:nvPr/>
          </p:nvSpPr>
          <p:spPr>
            <a:xfrm>
              <a:off x="0" y="327013"/>
              <a:ext cx="7002780" cy="698500"/>
            </a:xfrm>
            <a:prstGeom prst="roundRect">
              <a:avLst>
                <a:gd name="adj" fmla="val 16667"/>
              </a:avLst>
            </a:prstGeom>
            <a:gradFill>
              <a:gsLst>
                <a:gs pos="0">
                  <a:srgbClr val="6E91B6"/>
                </a:gs>
                <a:gs pos="50000">
                  <a:srgbClr val="5484B2"/>
                </a:gs>
                <a:gs pos="100000">
                  <a:srgbClr val="4673A1"/>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9"/>
            <p:cNvSpPr txBox="1"/>
            <p:nvPr/>
          </p:nvSpPr>
          <p:spPr>
            <a:xfrm>
              <a:off x="0" y="327013"/>
              <a:ext cx="7002780" cy="698500"/>
            </a:xfrm>
            <a:prstGeom prst="rect">
              <a:avLst/>
            </a:prstGeom>
            <a:no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None/>
              </a:pPr>
              <a:r>
                <a:rPr lang="en-US" sz="1600" b="1" dirty="0" err="1">
                  <a:solidFill>
                    <a:schemeClr val="dk1"/>
                  </a:solidFill>
                  <a:latin typeface="Comic Sans MS"/>
                  <a:ea typeface="Comic Sans MS"/>
                  <a:cs typeface="Comic Sans MS"/>
                  <a:sym typeface="Comic Sans MS"/>
                </a:rPr>
                <a:t>appSettings.json</a:t>
              </a:r>
              <a:r>
                <a:rPr lang="en-US" sz="1600" b="1" dirty="0">
                  <a:solidFill>
                    <a:schemeClr val="dk1"/>
                  </a:solidFill>
                  <a:latin typeface="Comic Sans MS"/>
                  <a:ea typeface="Comic Sans MS"/>
                  <a:cs typeface="Comic Sans MS"/>
                  <a:sym typeface="Comic Sans MS"/>
                </a:rPr>
                <a:t> </a:t>
              </a:r>
              <a:r>
                <a:rPr lang="en-US" sz="1600" dirty="0">
                  <a:solidFill>
                    <a:schemeClr val="dk1"/>
                  </a:solidFill>
                  <a:latin typeface="Comic Sans MS"/>
                  <a:ea typeface="Comic Sans MS"/>
                  <a:cs typeface="Comic Sans MS"/>
                  <a:sym typeface="Comic Sans MS"/>
                </a:rPr>
                <a:t>– This file contains configuration data, such as connection strings. </a:t>
              </a:r>
              <a:endParaRPr sz="1600" dirty="0">
                <a:solidFill>
                  <a:schemeClr val="dk1"/>
                </a:solidFill>
                <a:latin typeface="Comic Sans MS"/>
                <a:ea typeface="Comic Sans MS"/>
                <a:cs typeface="Comic Sans MS"/>
                <a:sym typeface="Comic Sans MS"/>
              </a:endParaRPr>
            </a:p>
          </p:txBody>
        </p:sp>
        <p:sp>
          <p:nvSpPr>
            <p:cNvPr id="190" name="Google Shape;190;p9"/>
            <p:cNvSpPr/>
            <p:nvPr/>
          </p:nvSpPr>
          <p:spPr>
            <a:xfrm>
              <a:off x="0" y="1025513"/>
              <a:ext cx="7002780" cy="26496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9"/>
            <p:cNvSpPr txBox="1"/>
            <p:nvPr/>
          </p:nvSpPr>
          <p:spPr>
            <a:xfrm>
              <a:off x="0" y="1025513"/>
              <a:ext cx="7002780" cy="264960"/>
            </a:xfrm>
            <a:prstGeom prst="rect">
              <a:avLst/>
            </a:prstGeom>
            <a:noFill/>
            <a:ln>
              <a:noFill/>
            </a:ln>
          </p:spPr>
          <p:txBody>
            <a:bodyPr spcFirstLastPara="1" wrap="square" lIns="222325" tIns="20300" rIns="113775" bIns="20300" anchor="t" anchorCtr="0">
              <a:noAutofit/>
            </a:bodyPr>
            <a:lstStyle/>
            <a:p>
              <a:pPr marL="114300" marR="0" lvl="1" indent="-3810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Comic Sans MS"/>
                <a:ea typeface="Comic Sans MS"/>
                <a:cs typeface="Comic Sans MS"/>
                <a:sym typeface="Comic Sans MS"/>
              </a:endParaRPr>
            </a:p>
          </p:txBody>
        </p:sp>
        <p:sp>
          <p:nvSpPr>
            <p:cNvPr id="192" name="Google Shape;192;p9"/>
            <p:cNvSpPr/>
            <p:nvPr/>
          </p:nvSpPr>
          <p:spPr>
            <a:xfrm>
              <a:off x="0" y="1290473"/>
              <a:ext cx="7002780" cy="698500"/>
            </a:xfrm>
            <a:prstGeom prst="roundRect">
              <a:avLst>
                <a:gd name="adj" fmla="val 16667"/>
              </a:avLst>
            </a:prstGeom>
            <a:gradFill>
              <a:gsLst>
                <a:gs pos="0">
                  <a:srgbClr val="8BAED7"/>
                </a:gs>
                <a:gs pos="50000">
                  <a:srgbClr val="77A4D5"/>
                </a:gs>
                <a:gs pos="100000">
                  <a:srgbClr val="6490C1"/>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9"/>
            <p:cNvSpPr txBox="1"/>
            <p:nvPr/>
          </p:nvSpPr>
          <p:spPr>
            <a:xfrm>
              <a:off x="0" y="1290473"/>
              <a:ext cx="7002780" cy="698500"/>
            </a:xfrm>
            <a:prstGeom prst="rect">
              <a:avLst/>
            </a:prstGeom>
            <a:no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None/>
              </a:pPr>
              <a:r>
                <a:rPr lang="en-US" sz="1600" dirty="0" err="1">
                  <a:solidFill>
                    <a:schemeClr val="dk1"/>
                  </a:solidFill>
                  <a:latin typeface="Comic Sans MS"/>
                  <a:ea typeface="Comic Sans MS"/>
                  <a:cs typeface="Comic Sans MS"/>
                  <a:sym typeface="Comic Sans MS"/>
                </a:rPr>
                <a:t>P</a:t>
              </a:r>
              <a:r>
                <a:rPr lang="en-US" sz="1600" b="1" dirty="0" err="1">
                  <a:solidFill>
                    <a:schemeClr val="dk1"/>
                  </a:solidFill>
                  <a:latin typeface="Comic Sans MS"/>
                  <a:ea typeface="Comic Sans MS"/>
                  <a:cs typeface="Comic Sans MS"/>
                  <a:sym typeface="Comic Sans MS"/>
                </a:rPr>
                <a:t>rogram.cs</a:t>
              </a:r>
              <a:r>
                <a:rPr lang="en-US" sz="1600" dirty="0">
                  <a:solidFill>
                    <a:schemeClr val="dk1"/>
                  </a:solidFill>
                  <a:latin typeface="Comic Sans MS"/>
                  <a:ea typeface="Comic Sans MS"/>
                  <a:cs typeface="Comic Sans MS"/>
                  <a:sym typeface="Comic Sans MS"/>
                </a:rPr>
                <a:t> – This file contains the entry point for the program. ,it configures app behavior. </a:t>
              </a:r>
              <a:endParaRPr sz="1600" dirty="0">
                <a:solidFill>
                  <a:schemeClr val="dk1"/>
                </a:solidFill>
                <a:latin typeface="Comic Sans MS"/>
                <a:ea typeface="Comic Sans MS"/>
                <a:cs typeface="Comic Sans MS"/>
                <a:sym typeface="Comic Sans MS"/>
              </a:endParaRPr>
            </a:p>
          </p:txBody>
        </p:sp>
        <p:sp>
          <p:nvSpPr>
            <p:cNvPr id="194" name="Google Shape;194;p9"/>
            <p:cNvSpPr/>
            <p:nvPr/>
          </p:nvSpPr>
          <p:spPr>
            <a:xfrm>
              <a:off x="0" y="1988973"/>
              <a:ext cx="7002780" cy="26496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9"/>
            <p:cNvSpPr txBox="1"/>
            <p:nvPr/>
          </p:nvSpPr>
          <p:spPr>
            <a:xfrm>
              <a:off x="0" y="1988973"/>
              <a:ext cx="7002780" cy="264960"/>
            </a:xfrm>
            <a:prstGeom prst="rect">
              <a:avLst/>
            </a:prstGeom>
            <a:noFill/>
            <a:ln>
              <a:noFill/>
            </a:ln>
          </p:spPr>
          <p:txBody>
            <a:bodyPr spcFirstLastPara="1" wrap="square" lIns="222325" tIns="20300" rIns="113775" bIns="20300" anchor="t" anchorCtr="0">
              <a:noAutofit/>
            </a:bodyPr>
            <a:lstStyle/>
            <a:p>
              <a:pPr marL="114300" marR="0" lvl="1" indent="-3810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Comic Sans MS"/>
                <a:ea typeface="Comic Sans MS"/>
                <a:cs typeface="Comic Sans MS"/>
                <a:sym typeface="Comic Sans MS"/>
              </a:endParaRPr>
            </a:p>
          </p:txBody>
        </p:sp>
        <p:sp>
          <p:nvSpPr>
            <p:cNvPr id="196" name="Google Shape;196;p9"/>
            <p:cNvSpPr/>
            <p:nvPr/>
          </p:nvSpPr>
          <p:spPr>
            <a:xfrm>
              <a:off x="0" y="2253933"/>
              <a:ext cx="7002780" cy="698500"/>
            </a:xfrm>
            <a:prstGeom prst="roundRect">
              <a:avLst>
                <a:gd name="adj" fmla="val 16667"/>
              </a:avLst>
            </a:prstGeom>
            <a:gradFill>
              <a:gsLst>
                <a:gs pos="0">
                  <a:srgbClr val="B3CEEF"/>
                </a:gs>
                <a:gs pos="50000">
                  <a:srgbClr val="A4C6EF"/>
                </a:gs>
                <a:gs pos="100000">
                  <a:srgbClr val="8DAED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9"/>
            <p:cNvSpPr txBox="1"/>
            <p:nvPr/>
          </p:nvSpPr>
          <p:spPr>
            <a:xfrm>
              <a:off x="0" y="2253933"/>
              <a:ext cx="7002780" cy="698500"/>
            </a:xfrm>
            <a:prstGeom prst="rect">
              <a:avLst/>
            </a:prstGeom>
            <a:no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None/>
              </a:pPr>
              <a:r>
                <a:rPr lang="en-US" sz="1600" dirty="0" err="1">
                  <a:solidFill>
                    <a:schemeClr val="dk1"/>
                  </a:solidFill>
                  <a:latin typeface="Comic Sans MS"/>
                  <a:ea typeface="Comic Sans MS"/>
                  <a:cs typeface="Comic Sans MS"/>
                  <a:sym typeface="Comic Sans MS"/>
                </a:rPr>
                <a:t>w</a:t>
              </a:r>
              <a:r>
                <a:rPr lang="en-US" sz="1600" b="1" dirty="0" err="1">
                  <a:solidFill>
                    <a:schemeClr val="dk1"/>
                  </a:solidFill>
                  <a:latin typeface="Comic Sans MS"/>
                  <a:ea typeface="Comic Sans MS"/>
                  <a:cs typeface="Comic Sans MS"/>
                  <a:sym typeface="Comic Sans MS"/>
                </a:rPr>
                <a:t>wwroot</a:t>
              </a:r>
              <a:r>
                <a:rPr lang="en-US" sz="1600" dirty="0">
                  <a:solidFill>
                    <a:schemeClr val="dk1"/>
                  </a:solidFill>
                  <a:latin typeface="Comic Sans MS"/>
                  <a:ea typeface="Comic Sans MS"/>
                  <a:cs typeface="Comic Sans MS"/>
                  <a:sym typeface="Comic Sans MS"/>
                </a:rPr>
                <a:t> folder - Contains static files, such as Images, HTML files, JavaScript files, and CSS files. </a:t>
              </a:r>
              <a:endParaRPr sz="1600" dirty="0">
                <a:solidFill>
                  <a:schemeClr val="dk1"/>
                </a:solidFill>
                <a:latin typeface="Comic Sans MS"/>
                <a:ea typeface="Comic Sans MS"/>
                <a:cs typeface="Comic Sans MS"/>
                <a:sym typeface="Comic Sans MS"/>
              </a:endParaRPr>
            </a:p>
          </p:txBody>
        </p:sp>
        <p:sp>
          <p:nvSpPr>
            <p:cNvPr id="198" name="Google Shape;198;p9"/>
            <p:cNvSpPr/>
            <p:nvPr/>
          </p:nvSpPr>
          <p:spPr>
            <a:xfrm>
              <a:off x="0" y="2952433"/>
              <a:ext cx="7002780" cy="26496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9"/>
            <p:cNvSpPr txBox="1"/>
            <p:nvPr/>
          </p:nvSpPr>
          <p:spPr>
            <a:xfrm>
              <a:off x="0" y="2952433"/>
              <a:ext cx="7002780" cy="264960"/>
            </a:xfrm>
            <a:prstGeom prst="rect">
              <a:avLst/>
            </a:prstGeom>
            <a:noFill/>
            <a:ln>
              <a:noFill/>
            </a:ln>
          </p:spPr>
          <p:txBody>
            <a:bodyPr spcFirstLastPara="1" wrap="square" lIns="222325" tIns="20300" rIns="113775" bIns="20300" anchor="t" anchorCtr="0">
              <a:noAutofit/>
            </a:bodyPr>
            <a:lstStyle/>
            <a:p>
              <a:pPr marL="114300" marR="0" lvl="1" indent="-3810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Comic Sans MS"/>
                <a:ea typeface="Comic Sans MS"/>
                <a:cs typeface="Comic Sans MS"/>
                <a:sym typeface="Comic Sans MS"/>
              </a:endParaRPr>
            </a:p>
          </p:txBody>
        </p:sp>
        <p:sp>
          <p:nvSpPr>
            <p:cNvPr id="200" name="Google Shape;200;p9"/>
            <p:cNvSpPr/>
            <p:nvPr/>
          </p:nvSpPr>
          <p:spPr>
            <a:xfrm>
              <a:off x="0" y="3217393"/>
              <a:ext cx="7002780" cy="698500"/>
            </a:xfrm>
            <a:prstGeom prst="roundRect">
              <a:avLst>
                <a:gd name="adj" fmla="val 16667"/>
              </a:avLst>
            </a:prstGeom>
            <a:gradFill>
              <a:gsLst>
                <a:gs pos="0">
                  <a:srgbClr val="B5CFED"/>
                </a:gs>
                <a:gs pos="50000">
                  <a:srgbClr val="A6C7ED"/>
                </a:gs>
                <a:gs pos="100000">
                  <a:srgbClr val="8EAFD6"/>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9"/>
            <p:cNvSpPr txBox="1"/>
            <p:nvPr/>
          </p:nvSpPr>
          <p:spPr>
            <a:xfrm>
              <a:off x="0" y="3217393"/>
              <a:ext cx="7002780" cy="698500"/>
            </a:xfrm>
            <a:prstGeom prst="rect">
              <a:avLst/>
            </a:prstGeom>
            <a:no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None/>
              </a:pPr>
              <a:r>
                <a:rPr lang="en-US" sz="1600" dirty="0">
                  <a:solidFill>
                    <a:schemeClr val="dk1"/>
                  </a:solidFill>
                  <a:latin typeface="Comic Sans MS"/>
                  <a:ea typeface="Comic Sans MS"/>
                  <a:cs typeface="Comic Sans MS"/>
                  <a:sym typeface="Comic Sans MS"/>
                </a:rPr>
                <a:t>P</a:t>
              </a:r>
              <a:r>
                <a:rPr lang="en-US" sz="1600" b="1" dirty="0">
                  <a:solidFill>
                    <a:schemeClr val="dk1"/>
                  </a:solidFill>
                  <a:latin typeface="Comic Sans MS"/>
                  <a:ea typeface="Comic Sans MS"/>
                  <a:cs typeface="Comic Sans MS"/>
                  <a:sym typeface="Comic Sans MS"/>
                </a:rPr>
                <a:t>ages </a:t>
              </a:r>
              <a:r>
                <a:rPr lang="en-US" sz="1600" dirty="0">
                  <a:solidFill>
                    <a:schemeClr val="dk1"/>
                  </a:solidFill>
                  <a:latin typeface="Comic Sans MS"/>
                  <a:ea typeface="Comic Sans MS"/>
                  <a:cs typeface="Comic Sans MS"/>
                  <a:sym typeface="Comic Sans MS"/>
                </a:rPr>
                <a:t>folder – Here you are supposed to put your ASP.NET (".</a:t>
              </a:r>
              <a:r>
                <a:rPr lang="en-US" sz="1600" dirty="0" err="1">
                  <a:solidFill>
                    <a:schemeClr val="dk1"/>
                  </a:solidFill>
                  <a:latin typeface="Comic Sans MS"/>
                  <a:ea typeface="Comic Sans MS"/>
                  <a:cs typeface="Comic Sans MS"/>
                  <a:sym typeface="Comic Sans MS"/>
                </a:rPr>
                <a:t>cshtml</a:t>
              </a:r>
              <a:r>
                <a:rPr lang="en-US" sz="1600" dirty="0">
                  <a:solidFill>
                    <a:schemeClr val="dk1"/>
                  </a:solidFill>
                  <a:latin typeface="Comic Sans MS"/>
                  <a:ea typeface="Comic Sans MS"/>
                  <a:cs typeface="Comic Sans MS"/>
                  <a:sym typeface="Comic Sans MS"/>
                </a:rPr>
                <a:t>") web pages </a:t>
              </a:r>
              <a:endParaRPr sz="1600" dirty="0">
                <a:solidFill>
                  <a:schemeClr val="dk1"/>
                </a:solidFill>
                <a:latin typeface="Comic Sans MS"/>
                <a:ea typeface="Comic Sans MS"/>
                <a:cs typeface="Comic Sans MS"/>
                <a:sym typeface="Comic Sans MS"/>
              </a:endParaRPr>
            </a:p>
          </p:txBody>
        </p:sp>
        <p:sp>
          <p:nvSpPr>
            <p:cNvPr id="202" name="Google Shape;202;p9"/>
            <p:cNvSpPr/>
            <p:nvPr/>
          </p:nvSpPr>
          <p:spPr>
            <a:xfrm>
              <a:off x="0" y="3915893"/>
              <a:ext cx="7002780" cy="26496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9"/>
            <p:cNvSpPr txBox="1"/>
            <p:nvPr/>
          </p:nvSpPr>
          <p:spPr>
            <a:xfrm>
              <a:off x="0" y="3915893"/>
              <a:ext cx="7002780" cy="264960"/>
            </a:xfrm>
            <a:prstGeom prst="rect">
              <a:avLst/>
            </a:prstGeom>
            <a:noFill/>
            <a:ln>
              <a:noFill/>
            </a:ln>
          </p:spPr>
          <p:txBody>
            <a:bodyPr spcFirstLastPara="1" wrap="square" lIns="222325" tIns="20300" rIns="113775" bIns="20300" anchor="t" anchorCtr="0">
              <a:noAutofit/>
            </a:bodyPr>
            <a:lstStyle/>
            <a:p>
              <a:pPr marL="114300" marR="0" lvl="1" indent="-3810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Comic Sans MS"/>
                <a:ea typeface="Comic Sans MS"/>
                <a:cs typeface="Comic Sans MS"/>
                <a:sym typeface="Comic Sans MS"/>
              </a:endParaRPr>
            </a:p>
          </p:txBody>
        </p:sp>
        <p:sp>
          <p:nvSpPr>
            <p:cNvPr id="204" name="Google Shape;204;p9"/>
            <p:cNvSpPr/>
            <p:nvPr/>
          </p:nvSpPr>
          <p:spPr>
            <a:xfrm>
              <a:off x="0" y="4180852"/>
              <a:ext cx="7002780" cy="698500"/>
            </a:xfrm>
            <a:prstGeom prst="roundRect">
              <a:avLst>
                <a:gd name="adj" fmla="val 16667"/>
              </a:avLst>
            </a:prstGeom>
            <a:gradFill>
              <a:gsLst>
                <a:gs pos="0">
                  <a:srgbClr val="8BAED6"/>
                </a:gs>
                <a:gs pos="50000">
                  <a:srgbClr val="77A4D5"/>
                </a:gs>
                <a:gs pos="100000">
                  <a:srgbClr val="6490C0"/>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9"/>
            <p:cNvSpPr txBox="1"/>
            <p:nvPr/>
          </p:nvSpPr>
          <p:spPr>
            <a:xfrm>
              <a:off x="0" y="4180852"/>
              <a:ext cx="7002780" cy="698500"/>
            </a:xfrm>
            <a:prstGeom prst="rect">
              <a:avLst/>
            </a:prstGeom>
            <a:no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None/>
              </a:pPr>
              <a:r>
                <a:rPr lang="en-US" sz="1600" dirty="0">
                  <a:solidFill>
                    <a:schemeClr val="dk1"/>
                  </a:solidFill>
                  <a:latin typeface="Comic Sans MS"/>
                  <a:ea typeface="Comic Sans MS"/>
                  <a:cs typeface="Comic Sans MS"/>
                  <a:sym typeface="Comic Sans MS"/>
                </a:rPr>
                <a:t>_</a:t>
              </a:r>
              <a:r>
                <a:rPr lang="en-US" sz="1600" dirty="0" err="1">
                  <a:solidFill>
                    <a:schemeClr val="dk1"/>
                  </a:solidFill>
                  <a:latin typeface="Comic Sans MS"/>
                  <a:ea typeface="Comic Sans MS"/>
                  <a:cs typeface="Comic Sans MS"/>
                  <a:sym typeface="Comic Sans MS"/>
                </a:rPr>
                <a:t>L</a:t>
              </a:r>
              <a:r>
                <a:rPr lang="en-US" sz="1600" b="1" i="1" dirty="0" err="1">
                  <a:solidFill>
                    <a:schemeClr val="dk1"/>
                  </a:solidFill>
                  <a:latin typeface="Comic Sans MS"/>
                  <a:ea typeface="Comic Sans MS"/>
                  <a:cs typeface="Comic Sans MS"/>
                  <a:sym typeface="Comic Sans MS"/>
                </a:rPr>
                <a:t>ayout.cshtml</a:t>
              </a:r>
              <a:r>
                <a:rPr lang="en-US" sz="1600" dirty="0">
                  <a:solidFill>
                    <a:schemeClr val="dk1"/>
                  </a:solidFill>
                  <a:latin typeface="Comic Sans MS"/>
                  <a:ea typeface="Comic Sans MS"/>
                  <a:cs typeface="Comic Sans MS"/>
                  <a:sym typeface="Comic Sans MS"/>
                </a:rPr>
                <a:t> file configures UI elements common to all pages. You can use this file  to set up the navigation menu at the top of the page </a:t>
              </a:r>
              <a:endParaRPr sz="1600" dirty="0">
                <a:solidFill>
                  <a:schemeClr val="dk1"/>
                </a:solidFill>
                <a:latin typeface="Comic Sans MS"/>
                <a:ea typeface="Comic Sans MS"/>
                <a:cs typeface="Comic Sans MS"/>
                <a:sym typeface="Comic Sans MS"/>
              </a:endParaRPr>
            </a:p>
          </p:txBody>
        </p:sp>
      </p:grpSp>
      <p:pic>
        <p:nvPicPr>
          <p:cNvPr id="206" name="Google Shape;206;p9" descr="Graphical user interface, text&#10;&#10;Description automatically generated"/>
          <p:cNvPicPr preferRelativeResize="0">
            <a:picLocks noGrp="1"/>
          </p:cNvPicPr>
          <p:nvPr>
            <p:ph type="body" idx="1"/>
          </p:nvPr>
        </p:nvPicPr>
        <p:blipFill rotWithShape="1">
          <a:blip r:embed="rId3">
            <a:alphaModFix/>
          </a:blip>
          <a:srcRect/>
          <a:stretch/>
        </p:blipFill>
        <p:spPr>
          <a:xfrm>
            <a:off x="8303895" y="1489710"/>
            <a:ext cx="2543175" cy="4495800"/>
          </a:xfrm>
          <a:prstGeom prst="rect">
            <a:avLst/>
          </a:prstGeom>
          <a:noFill/>
          <a:ln>
            <a:noFill/>
          </a:ln>
        </p:spPr>
      </p:pic>
      <p:pic>
        <p:nvPicPr>
          <p:cNvPr id="207" name="Google Shape;207;p9"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6"/>
                                        </p:tgtEl>
                                        <p:attrNameLst>
                                          <p:attrName>style.visibility</p:attrName>
                                        </p:attrNameLst>
                                      </p:cBhvr>
                                      <p:to>
                                        <p:strVal val="visible"/>
                                      </p:to>
                                    </p:set>
                                    <p:animEffect transition="in" filter="fade">
                                      <p:cBhvr>
                                        <p:cTn id="7" dur="500"/>
                                        <p:tgtEl>
                                          <p:spTgt spid="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2800"/>
              <a:buFont typeface="Arial"/>
              <a:buNone/>
            </a:pPr>
            <a:r>
              <a:rPr lang="en-US" sz="2800" dirty="0"/>
              <a:t/>
            </a:r>
            <a:br>
              <a:rPr lang="en-US" sz="2800" dirty="0"/>
            </a:br>
            <a:r>
              <a:rPr lang="en-US" sz="3200" b="1" dirty="0">
                <a:solidFill>
                  <a:srgbClr val="012D86"/>
                </a:solidFill>
                <a:latin typeface="Bell MT"/>
                <a:ea typeface="Bell MT"/>
                <a:cs typeface="Bell MT"/>
                <a:sym typeface="Bell MT"/>
              </a:rPr>
              <a:t>Razor Pages is enabled in </a:t>
            </a:r>
            <a:r>
              <a:rPr lang="en-US" sz="3200" b="1" dirty="0" err="1">
                <a:solidFill>
                  <a:srgbClr val="012D86"/>
                </a:solidFill>
                <a:latin typeface="Bell MT"/>
                <a:ea typeface="Bell MT"/>
                <a:cs typeface="Bell MT"/>
                <a:sym typeface="Bell MT"/>
              </a:rPr>
              <a:t>program.cs</a:t>
            </a:r>
            <a:r>
              <a:rPr lang="en-US" sz="2800" dirty="0">
                <a:latin typeface="Angsana New"/>
                <a:ea typeface="Angsana New"/>
                <a:cs typeface="Angsana New"/>
                <a:sym typeface="Angsana New"/>
              </a:rPr>
              <a:t/>
            </a:r>
            <a:br>
              <a:rPr lang="en-US" sz="2800" dirty="0">
                <a:latin typeface="Angsana New"/>
                <a:ea typeface="Angsana New"/>
                <a:cs typeface="Angsana New"/>
                <a:sym typeface="Angsana New"/>
              </a:rPr>
            </a:br>
            <a:endParaRPr sz="2800" dirty="0">
              <a:latin typeface="Angsana New"/>
              <a:ea typeface="Angsana New"/>
              <a:cs typeface="Angsana New"/>
              <a:sym typeface="Angsana New"/>
            </a:endParaRPr>
          </a:p>
        </p:txBody>
      </p:sp>
      <p:sp>
        <p:nvSpPr>
          <p:cNvPr id="213" name="Google Shape;213;p10"/>
          <p:cNvSpPr/>
          <p:nvPr/>
        </p:nvSpPr>
        <p:spPr>
          <a:xfrm>
            <a:off x="609600" y="2068830"/>
            <a:ext cx="5792470" cy="59880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9EE256"/>
              </a:buClr>
              <a:buSzPts val="1600"/>
              <a:buFont typeface="Arial"/>
              <a:buNone/>
            </a:pPr>
            <a:r>
              <a:rPr lang="en-US" sz="1600" u="sng" dirty="0" err="1">
                <a:solidFill>
                  <a:srgbClr val="9EE256"/>
                </a:solidFill>
                <a:latin typeface="Comic Sans MS"/>
                <a:ea typeface="Comic Sans MS"/>
                <a:cs typeface="Comic Sans MS"/>
                <a:sym typeface="Comic Sans MS"/>
              </a:rPr>
              <a:t>AddRazorPages</a:t>
            </a:r>
            <a:r>
              <a:rPr lang="en-US" sz="1600" u="sng" dirty="0">
                <a:solidFill>
                  <a:srgbClr val="9EE256"/>
                </a:solidFill>
                <a:latin typeface="Comic Sans MS"/>
                <a:ea typeface="Comic Sans MS"/>
                <a:cs typeface="Comic Sans MS"/>
                <a:sym typeface="Comic Sans MS"/>
              </a:rPr>
              <a:t> </a:t>
            </a:r>
            <a:r>
              <a:rPr lang="en-US" sz="1600" dirty="0">
                <a:solidFill>
                  <a:schemeClr val="lt1"/>
                </a:solidFill>
                <a:latin typeface="Comic Sans MS"/>
                <a:ea typeface="Comic Sans MS"/>
                <a:cs typeface="Comic Sans MS"/>
                <a:sym typeface="Comic Sans MS"/>
              </a:rPr>
              <a:t>adds services for Razor Pages to the app.</a:t>
            </a:r>
            <a:endParaRPr sz="1600" dirty="0">
              <a:solidFill>
                <a:schemeClr val="lt1"/>
              </a:solidFill>
              <a:latin typeface="Comic Sans MS"/>
              <a:ea typeface="Comic Sans MS"/>
              <a:cs typeface="Comic Sans MS"/>
              <a:sym typeface="Comic Sans MS"/>
            </a:endParaRPr>
          </a:p>
        </p:txBody>
      </p:sp>
      <p:sp>
        <p:nvSpPr>
          <p:cNvPr id="214" name="Google Shape;214;p10"/>
          <p:cNvSpPr/>
          <p:nvPr/>
        </p:nvSpPr>
        <p:spPr>
          <a:xfrm>
            <a:off x="608965" y="2978150"/>
            <a:ext cx="5793105" cy="104394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20000"/>
              </a:lnSpc>
              <a:spcBef>
                <a:spcPts val="0"/>
              </a:spcBef>
              <a:spcAft>
                <a:spcPts val="0"/>
              </a:spcAft>
              <a:buClr>
                <a:srgbClr val="9EE256"/>
              </a:buClr>
              <a:buSzPts val="1600"/>
              <a:buFont typeface="Arial"/>
              <a:buNone/>
            </a:pPr>
            <a:r>
              <a:rPr lang="en-US" sz="1600" u="sng" dirty="0" err="1">
                <a:solidFill>
                  <a:srgbClr val="9EE256"/>
                </a:solidFill>
                <a:latin typeface="Comic Sans MS"/>
                <a:ea typeface="Comic Sans MS"/>
                <a:cs typeface="Comic Sans MS"/>
                <a:sym typeface="Comic Sans MS"/>
              </a:rPr>
              <a:t>MapRazorPages</a:t>
            </a:r>
            <a:r>
              <a:rPr lang="en-US" sz="1600" u="sng" dirty="0">
                <a:solidFill>
                  <a:srgbClr val="9EE256"/>
                </a:solidFill>
                <a:latin typeface="Comic Sans MS"/>
                <a:ea typeface="Comic Sans MS"/>
                <a:cs typeface="Comic Sans MS"/>
                <a:sym typeface="Comic Sans MS"/>
              </a:rPr>
              <a:t> </a:t>
            </a:r>
            <a:r>
              <a:rPr lang="en-US" sz="1600" dirty="0">
                <a:solidFill>
                  <a:schemeClr val="lt1"/>
                </a:solidFill>
                <a:latin typeface="Comic Sans MS"/>
                <a:ea typeface="Comic Sans MS"/>
                <a:cs typeface="Comic Sans MS"/>
                <a:sym typeface="Comic Sans MS"/>
              </a:rPr>
              <a:t>adds endpoints for Razor Pages to the </a:t>
            </a:r>
            <a:r>
              <a:rPr lang="en-US" sz="1600" u="sng" dirty="0" err="1">
                <a:solidFill>
                  <a:srgbClr val="92D050"/>
                </a:solidFill>
                <a:latin typeface="Comic Sans MS"/>
                <a:ea typeface="Comic Sans MS"/>
                <a:cs typeface="Comic Sans MS"/>
                <a:sym typeface="Comic Sans MS"/>
              </a:rPr>
              <a:t>IEndpointRouteBuilder</a:t>
            </a:r>
            <a:r>
              <a:rPr lang="en-US" sz="1600" dirty="0">
                <a:solidFill>
                  <a:schemeClr val="lt1"/>
                </a:solidFill>
                <a:latin typeface="Comic Sans MS"/>
                <a:ea typeface="Comic Sans MS"/>
                <a:cs typeface="Comic Sans MS"/>
                <a:sym typeface="Comic Sans MS"/>
              </a:rPr>
              <a:t>.</a:t>
            </a:r>
            <a:endParaRPr sz="1600" dirty="0">
              <a:solidFill>
                <a:schemeClr val="lt1"/>
              </a:solidFill>
              <a:latin typeface="Comic Sans MS"/>
              <a:ea typeface="Comic Sans MS"/>
              <a:cs typeface="Comic Sans MS"/>
              <a:sym typeface="Comic Sans MS"/>
            </a:endParaRPr>
          </a:p>
        </p:txBody>
      </p:sp>
      <p:pic>
        <p:nvPicPr>
          <p:cNvPr id="215" name="Google Shape;215;p10"/>
          <p:cNvPicPr preferRelativeResize="0">
            <a:picLocks noGrp="1"/>
          </p:cNvPicPr>
          <p:nvPr>
            <p:ph type="body" idx="1"/>
          </p:nvPr>
        </p:nvPicPr>
        <p:blipFill rotWithShape="1">
          <a:blip r:embed="rId3">
            <a:alphaModFix/>
          </a:blip>
          <a:srcRect l="3237" t="12304" r="33526" b="4492"/>
          <a:stretch/>
        </p:blipFill>
        <p:spPr>
          <a:xfrm>
            <a:off x="6543675" y="2170430"/>
            <a:ext cx="5376545" cy="3181985"/>
          </a:xfrm>
          <a:prstGeom prst="rect">
            <a:avLst/>
          </a:prstGeom>
          <a:noFill/>
          <a:ln>
            <a:noFill/>
          </a:ln>
        </p:spPr>
      </p:pic>
      <p:pic>
        <p:nvPicPr>
          <p:cNvPr id="216" name="Google Shape;216;p10"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2"/>
                                        </p:tgtEl>
                                        <p:attrNameLst>
                                          <p:attrName>style.visibility</p:attrName>
                                        </p:attrNameLst>
                                      </p:cBhvr>
                                      <p:to>
                                        <p:strVal val="visible"/>
                                      </p:to>
                                    </p:set>
                                    <p:animEffect transition="in" filter="fade">
                                      <p:cBhvr>
                                        <p:cTn id="7" dur="500"/>
                                        <p:tgtEl>
                                          <p:spTgt spid="2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3"/>
                                        </p:tgtEl>
                                        <p:attrNameLst>
                                          <p:attrName>style.visibility</p:attrName>
                                        </p:attrNameLst>
                                      </p:cBhvr>
                                      <p:to>
                                        <p:strVal val="visible"/>
                                      </p:to>
                                    </p:set>
                                    <p:animEffect transition="in" filter="fade">
                                      <p:cBhvr>
                                        <p:cTn id="12" dur="1000"/>
                                        <p:tgtEl>
                                          <p:spTgt spid="2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4"/>
                                        </p:tgtEl>
                                        <p:attrNameLst>
                                          <p:attrName>style.visibility</p:attrName>
                                        </p:attrNameLst>
                                      </p:cBhvr>
                                      <p:to>
                                        <p:strVal val="visible"/>
                                      </p:to>
                                    </p:set>
                                    <p:animEffect transition="in" filter="fade">
                                      <p:cBhvr>
                                        <p:cTn id="17" dur="1000"/>
                                        <p:tgtEl>
                                          <p:spTgt spid="2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5"/>
                                        </p:tgtEl>
                                        <p:attrNameLst>
                                          <p:attrName>style.visibility</p:attrName>
                                        </p:attrNameLst>
                                      </p:cBhvr>
                                      <p:to>
                                        <p:strVal val="visible"/>
                                      </p:to>
                                    </p:set>
                                    <p:animEffect transition="in" filter="fade">
                                      <p:cBhvr>
                                        <p:cTn id="22" dur="5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4000"/>
              <a:buFont typeface="Bell MT"/>
              <a:buNone/>
            </a:pPr>
            <a:r>
              <a:rPr lang="en-US" sz="4000" b="1">
                <a:solidFill>
                  <a:schemeClr val="dk1"/>
                </a:solidFill>
                <a:latin typeface="Bell MT"/>
                <a:ea typeface="Bell MT"/>
                <a:cs typeface="Bell MT"/>
                <a:sym typeface="Bell MT"/>
              </a:rPr>
              <a:t/>
            </a:r>
            <a:br>
              <a:rPr lang="en-US" sz="4000" b="1">
                <a:solidFill>
                  <a:schemeClr val="dk1"/>
                </a:solidFill>
                <a:latin typeface="Bell MT"/>
                <a:ea typeface="Bell MT"/>
                <a:cs typeface="Bell MT"/>
                <a:sym typeface="Bell MT"/>
              </a:rPr>
            </a:br>
            <a:r>
              <a:rPr lang="en-US" sz="4000" b="1">
                <a:solidFill>
                  <a:schemeClr val="dk1"/>
                </a:solidFill>
                <a:latin typeface="Bell MT"/>
                <a:ea typeface="Bell MT"/>
                <a:cs typeface="Bell MT"/>
                <a:sym typeface="Bell MT"/>
              </a:rPr>
              <a:t>Razor page Anatomy</a:t>
            </a:r>
            <a:br>
              <a:rPr lang="en-US" sz="4000" b="1">
                <a:solidFill>
                  <a:schemeClr val="dk1"/>
                </a:solidFill>
                <a:latin typeface="Bell MT"/>
                <a:ea typeface="Bell MT"/>
                <a:cs typeface="Bell MT"/>
                <a:sym typeface="Bell MT"/>
              </a:rPr>
            </a:br>
            <a:endParaRPr sz="4000" b="1">
              <a:solidFill>
                <a:schemeClr val="dk1"/>
              </a:solidFill>
              <a:latin typeface="Bell MT"/>
              <a:ea typeface="Bell MT"/>
              <a:cs typeface="Bell MT"/>
              <a:sym typeface="Bell MT"/>
            </a:endParaRPr>
          </a:p>
        </p:txBody>
      </p:sp>
      <p:sp>
        <p:nvSpPr>
          <p:cNvPr id="222" name="Google Shape;222;p11"/>
          <p:cNvSpPr/>
          <p:nvPr/>
        </p:nvSpPr>
        <p:spPr>
          <a:xfrm>
            <a:off x="496570" y="2000250"/>
            <a:ext cx="5487035" cy="75057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dirty="0">
                <a:solidFill>
                  <a:schemeClr val="lt1"/>
                </a:solidFill>
                <a:latin typeface="Comic Sans MS"/>
                <a:ea typeface="Comic Sans MS"/>
                <a:cs typeface="Comic Sans MS"/>
                <a:sym typeface="Comic Sans MS"/>
              </a:rPr>
              <a:t>In Razor with Page Model each Razor page is a pair of files: ​</a:t>
            </a:r>
            <a:endParaRPr sz="1600" dirty="0">
              <a:solidFill>
                <a:schemeClr val="lt1"/>
              </a:solidFill>
              <a:latin typeface="Comic Sans MS"/>
              <a:ea typeface="Comic Sans MS"/>
              <a:cs typeface="Comic Sans MS"/>
              <a:sym typeface="Comic Sans MS"/>
            </a:endParaRPr>
          </a:p>
        </p:txBody>
      </p:sp>
      <p:sp>
        <p:nvSpPr>
          <p:cNvPr id="223" name="Google Shape;223;p11"/>
          <p:cNvSpPr/>
          <p:nvPr/>
        </p:nvSpPr>
        <p:spPr>
          <a:xfrm>
            <a:off x="521970" y="2933065"/>
            <a:ext cx="5436235" cy="192722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457200" marR="0" lvl="1" indent="-127000" algn="l" rtl="0">
              <a:lnSpc>
                <a:spcPct val="90000"/>
              </a:lnSpc>
              <a:spcBef>
                <a:spcPts val="0"/>
              </a:spcBef>
              <a:spcAft>
                <a:spcPts val="0"/>
              </a:spcAft>
              <a:buClr>
                <a:schemeClr val="dk1"/>
              </a:buClr>
              <a:buSzPts val="1600"/>
              <a:buFont typeface="Arial"/>
              <a:buNone/>
            </a:pPr>
            <a:endParaRPr sz="1600" b="0" i="0" u="none" strike="noStrike" cap="none" dirty="0">
              <a:solidFill>
                <a:schemeClr val="lt1"/>
              </a:solidFill>
              <a:latin typeface="Comic Sans MS"/>
              <a:ea typeface="Comic Sans MS"/>
              <a:cs typeface="Comic Sans MS"/>
              <a:sym typeface="Comic Sans MS"/>
            </a:endParaRPr>
          </a:p>
          <a:p>
            <a:pPr marL="571500" marR="0" lvl="1" indent="-342900" algn="l" rtl="0">
              <a:lnSpc>
                <a:spcPct val="90000"/>
              </a:lnSpc>
              <a:spcBef>
                <a:spcPts val="600"/>
              </a:spcBef>
              <a:spcAft>
                <a:spcPts val="0"/>
              </a:spcAft>
              <a:buClr>
                <a:schemeClr val="lt1"/>
              </a:buClr>
              <a:buSzPts val="1600"/>
              <a:buFont typeface="Arial"/>
              <a:buAutoNum type="romanLcPeriod"/>
            </a:pPr>
            <a:r>
              <a:rPr lang="en-US" sz="1600" b="0" i="0" u="none" strike="noStrike" cap="none" dirty="0">
                <a:solidFill>
                  <a:schemeClr val="lt1"/>
                </a:solidFill>
                <a:latin typeface="Comic Sans MS"/>
                <a:ea typeface="Comic Sans MS"/>
                <a:cs typeface="Comic Sans MS"/>
                <a:sym typeface="Comic Sans MS"/>
              </a:rPr>
              <a:t>A “.</a:t>
            </a:r>
            <a:r>
              <a:rPr lang="en-US" sz="1600" b="0" i="0" u="none" strike="noStrike" cap="none" dirty="0" err="1">
                <a:solidFill>
                  <a:schemeClr val="lt1"/>
                </a:solidFill>
                <a:latin typeface="Comic Sans MS"/>
                <a:ea typeface="Comic Sans MS"/>
                <a:cs typeface="Comic Sans MS"/>
                <a:sym typeface="Comic Sans MS"/>
              </a:rPr>
              <a:t>cshtml</a:t>
            </a:r>
            <a:r>
              <a:rPr lang="en-US" sz="1600" b="0" i="0" u="none" strike="noStrike" cap="none" dirty="0">
                <a:solidFill>
                  <a:schemeClr val="lt1"/>
                </a:solidFill>
                <a:latin typeface="Comic Sans MS"/>
                <a:ea typeface="Comic Sans MS"/>
                <a:cs typeface="Comic Sans MS"/>
                <a:sym typeface="Comic Sans MS"/>
              </a:rPr>
              <a:t>” file that contains HTML markup with C# code using Razor syntax.​</a:t>
            </a:r>
            <a:endParaRPr sz="1600" b="0" i="0" u="none" strike="noStrike" cap="none" dirty="0">
              <a:solidFill>
                <a:schemeClr val="lt1"/>
              </a:solidFill>
              <a:latin typeface="Comic Sans MS"/>
              <a:ea typeface="Comic Sans MS"/>
              <a:cs typeface="Comic Sans MS"/>
              <a:sym typeface="Comic Sans MS"/>
            </a:endParaRPr>
          </a:p>
          <a:p>
            <a:pPr marL="571500" marR="0" lvl="1" indent="-241300" algn="l" rtl="0">
              <a:lnSpc>
                <a:spcPct val="90000"/>
              </a:lnSpc>
              <a:spcBef>
                <a:spcPts val="600"/>
              </a:spcBef>
              <a:spcAft>
                <a:spcPts val="0"/>
              </a:spcAft>
              <a:buClr>
                <a:schemeClr val="dk1"/>
              </a:buClr>
              <a:buSzPts val="1600"/>
              <a:buFont typeface="Arial"/>
              <a:buNone/>
            </a:pPr>
            <a:endParaRPr sz="1600" b="0" i="0" u="none" strike="noStrike" cap="none" dirty="0">
              <a:solidFill>
                <a:schemeClr val="lt1"/>
              </a:solidFill>
              <a:latin typeface="Comic Sans MS"/>
              <a:ea typeface="Comic Sans MS"/>
              <a:cs typeface="Comic Sans MS"/>
              <a:sym typeface="Comic Sans MS"/>
            </a:endParaRPr>
          </a:p>
          <a:p>
            <a:pPr marL="571500" marR="0" lvl="1" indent="-342900" algn="l" rtl="0">
              <a:lnSpc>
                <a:spcPct val="90000"/>
              </a:lnSpc>
              <a:spcBef>
                <a:spcPts val="600"/>
              </a:spcBef>
              <a:spcAft>
                <a:spcPts val="0"/>
              </a:spcAft>
              <a:buClr>
                <a:schemeClr val="lt1"/>
              </a:buClr>
              <a:buSzPts val="1600"/>
              <a:buFont typeface="Arial"/>
              <a:buAutoNum type="romanLcPeriod"/>
            </a:pPr>
            <a:r>
              <a:rPr lang="en-US" sz="1600" b="0" i="0" u="none" strike="noStrike" cap="none" dirty="0">
                <a:solidFill>
                  <a:schemeClr val="lt1"/>
                </a:solidFill>
                <a:latin typeface="Comic Sans MS"/>
                <a:ea typeface="Comic Sans MS"/>
                <a:cs typeface="Comic Sans MS"/>
                <a:sym typeface="Comic Sans MS"/>
              </a:rPr>
              <a:t>A “.</a:t>
            </a:r>
            <a:r>
              <a:rPr lang="en-US" sz="1600" b="0" i="0" u="none" strike="noStrike" cap="none" dirty="0" err="1">
                <a:solidFill>
                  <a:schemeClr val="lt1"/>
                </a:solidFill>
                <a:latin typeface="Comic Sans MS"/>
                <a:ea typeface="Comic Sans MS"/>
                <a:cs typeface="Comic Sans MS"/>
                <a:sym typeface="Comic Sans MS"/>
              </a:rPr>
              <a:t>cshtml.cs</a:t>
            </a:r>
            <a:r>
              <a:rPr lang="en-US" sz="1600" b="0" i="0" u="none" strike="noStrike" cap="none" dirty="0">
                <a:solidFill>
                  <a:schemeClr val="lt1"/>
                </a:solidFill>
                <a:latin typeface="Comic Sans MS"/>
                <a:ea typeface="Comic Sans MS"/>
                <a:cs typeface="Comic Sans MS"/>
                <a:sym typeface="Comic Sans MS"/>
              </a:rPr>
              <a:t>” (“code behind” or “Page model” file) file that contains C# code that handles page events.</a:t>
            </a:r>
            <a:endParaRPr sz="1600" b="0" i="0" u="none" strike="noStrike" cap="none" dirty="0">
              <a:solidFill>
                <a:schemeClr val="lt1"/>
              </a:solidFill>
              <a:latin typeface="Comic Sans MS"/>
              <a:ea typeface="Comic Sans MS"/>
              <a:cs typeface="Comic Sans MS"/>
              <a:sym typeface="Comic Sans MS"/>
            </a:endParaRPr>
          </a:p>
          <a:p>
            <a:pPr marL="571500" marR="0" lvl="1" indent="-241300" algn="l" rtl="0">
              <a:lnSpc>
                <a:spcPct val="90000"/>
              </a:lnSpc>
              <a:spcBef>
                <a:spcPts val="600"/>
              </a:spcBef>
              <a:spcAft>
                <a:spcPts val="0"/>
              </a:spcAft>
              <a:buClr>
                <a:schemeClr val="dk1"/>
              </a:buClr>
              <a:buSzPts val="1600"/>
              <a:buFont typeface="Arial"/>
              <a:buNone/>
            </a:pPr>
            <a:endParaRPr sz="1600" b="0" i="0" u="none" strike="noStrike" cap="none" dirty="0">
              <a:solidFill>
                <a:schemeClr val="lt1"/>
              </a:solidFill>
              <a:latin typeface="Comic Sans MS"/>
              <a:ea typeface="Comic Sans MS"/>
              <a:cs typeface="Comic Sans MS"/>
              <a:sym typeface="Comic Sans MS"/>
            </a:endParaRPr>
          </a:p>
        </p:txBody>
      </p:sp>
      <p:pic>
        <p:nvPicPr>
          <p:cNvPr id="224" name="Google Shape;224;p11"/>
          <p:cNvPicPr preferRelativeResize="0">
            <a:picLocks noGrp="1"/>
          </p:cNvPicPr>
          <p:nvPr>
            <p:ph type="body" idx="1"/>
          </p:nvPr>
        </p:nvPicPr>
        <p:blipFill rotWithShape="1">
          <a:blip r:embed="rId3">
            <a:alphaModFix/>
          </a:blip>
          <a:srcRect/>
          <a:stretch/>
        </p:blipFill>
        <p:spPr>
          <a:xfrm>
            <a:off x="7783195" y="3179445"/>
            <a:ext cx="2428875" cy="657225"/>
          </a:xfrm>
          <a:prstGeom prst="rect">
            <a:avLst/>
          </a:prstGeom>
          <a:noFill/>
          <a:ln>
            <a:noFill/>
          </a:ln>
        </p:spPr>
      </p:pic>
      <p:pic>
        <p:nvPicPr>
          <p:cNvPr id="225" name="Google Shape;225;p11"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fade">
                                      <p:cBhvr>
                                        <p:cTn id="7" dur="500"/>
                                        <p:tgtEl>
                                          <p:spTgt spid="2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2"/>
                                        </p:tgtEl>
                                        <p:attrNameLst>
                                          <p:attrName>style.visibility</p:attrName>
                                        </p:attrNameLst>
                                      </p:cBhvr>
                                      <p:to>
                                        <p:strVal val="visible"/>
                                      </p:to>
                                    </p:set>
                                    <p:animEffect transition="in" filter="fade">
                                      <p:cBhvr>
                                        <p:cTn id="12" dur="1000"/>
                                        <p:tgtEl>
                                          <p:spTgt spid="2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3"/>
                                        </p:tgtEl>
                                        <p:attrNameLst>
                                          <p:attrName>style.visibility</p:attrName>
                                        </p:attrNameLst>
                                      </p:cBhvr>
                                      <p:to>
                                        <p:strVal val="visible"/>
                                      </p:to>
                                    </p:set>
                                    <p:animEffect transition="in" filter="fade">
                                      <p:cBhvr>
                                        <p:cTn id="17" dur="1000"/>
                                        <p:tgtEl>
                                          <p:spTgt spid="2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4"/>
                                        </p:tgtEl>
                                        <p:attrNameLst>
                                          <p:attrName>style.visibility</p:attrName>
                                        </p:attrNameLst>
                                      </p:cBhvr>
                                      <p:to>
                                        <p:strVal val="visible"/>
                                      </p:to>
                                    </p:set>
                                    <p:animEffect transition="in" filter="fade">
                                      <p:cBhvr>
                                        <p:cTn id="22" dur="1000"/>
                                        <p:tgtEl>
                                          <p:spTgt spid="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Arial"/>
              <a:buNone/>
            </a:pPr>
            <a:r>
              <a:rPr lang="en-US" dirty="0">
                <a:solidFill>
                  <a:srgbClr val="012D86"/>
                </a:solidFill>
              </a:rPr>
              <a:t>Razor page –  .</a:t>
            </a:r>
            <a:r>
              <a:rPr lang="en-US" dirty="0" err="1">
                <a:solidFill>
                  <a:srgbClr val="012D86"/>
                </a:solidFill>
              </a:rPr>
              <a:t>cshtml</a:t>
            </a:r>
            <a:r>
              <a:rPr lang="en-US" dirty="0">
                <a:solidFill>
                  <a:srgbClr val="012D86"/>
                </a:solidFill>
              </a:rPr>
              <a:t> page</a:t>
            </a:r>
            <a:r>
              <a:rPr lang="en-US" dirty="0">
                <a:solidFill>
                  <a:srgbClr val="012D86"/>
                </a:solidFill>
                <a:latin typeface="Arial"/>
                <a:ea typeface="Arial"/>
                <a:cs typeface="Arial"/>
                <a:sym typeface="Arial"/>
              </a:rPr>
              <a:t/>
            </a:r>
            <a:br>
              <a:rPr lang="en-US" dirty="0">
                <a:solidFill>
                  <a:srgbClr val="012D86"/>
                </a:solidFill>
                <a:latin typeface="Arial"/>
                <a:ea typeface="Arial"/>
                <a:cs typeface="Arial"/>
                <a:sym typeface="Arial"/>
              </a:rPr>
            </a:br>
            <a:endParaRPr dirty="0">
              <a:solidFill>
                <a:srgbClr val="012D86"/>
              </a:solidFill>
              <a:latin typeface="Arial"/>
              <a:ea typeface="Arial"/>
              <a:cs typeface="Arial"/>
              <a:sym typeface="Arial"/>
            </a:endParaRPr>
          </a:p>
        </p:txBody>
      </p:sp>
      <p:sp>
        <p:nvSpPr>
          <p:cNvPr id="231" name="Google Shape;231;p12"/>
          <p:cNvSpPr/>
          <p:nvPr/>
        </p:nvSpPr>
        <p:spPr>
          <a:xfrm>
            <a:off x="424815" y="1562100"/>
            <a:ext cx="6653530" cy="397510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dirty="0">
                <a:solidFill>
                  <a:schemeClr val="lt1"/>
                </a:solidFill>
                <a:latin typeface="Comic Sans MS"/>
                <a:ea typeface="Comic Sans MS"/>
                <a:cs typeface="Comic Sans MS"/>
                <a:sym typeface="Comic Sans MS"/>
              </a:rPr>
              <a:t>This code looks a lot like a Razor view file used in an ASP.NET Core app with controllers and views. What makes it different is the @page directive.</a:t>
            </a:r>
            <a:endParaRPr sz="1600" dirty="0">
              <a:solidFill>
                <a:schemeClr val="lt1"/>
              </a:solidFill>
              <a:latin typeface="Comic Sans MS"/>
              <a:ea typeface="Comic Sans MS"/>
              <a:cs typeface="Comic Sans MS"/>
              <a:sym typeface="Comic Sans MS"/>
            </a:endParaRPr>
          </a:p>
          <a:p>
            <a:pPr marL="0" marR="0" lvl="0" indent="0" algn="l" rtl="0">
              <a:lnSpc>
                <a:spcPct val="90000"/>
              </a:lnSpc>
              <a:spcBef>
                <a:spcPts val="600"/>
              </a:spcBef>
              <a:spcAft>
                <a:spcPts val="0"/>
              </a:spcAft>
              <a:buClr>
                <a:schemeClr val="dk1"/>
              </a:buClr>
              <a:buSzPts val="1600"/>
              <a:buFont typeface="Arial"/>
              <a:buNone/>
            </a:pPr>
            <a:endParaRPr sz="1600" dirty="0">
              <a:solidFill>
                <a:schemeClr val="lt1"/>
              </a:solidFill>
              <a:latin typeface="Comic Sans MS"/>
              <a:ea typeface="Comic Sans MS"/>
              <a:cs typeface="Comic Sans MS"/>
              <a:sym typeface="Comic Sans MS"/>
            </a:endParaRPr>
          </a:p>
          <a:p>
            <a:pPr marL="0" marR="0" lvl="0" indent="0" algn="l" rtl="0">
              <a:lnSpc>
                <a:spcPct val="90000"/>
              </a:lnSpc>
              <a:spcBef>
                <a:spcPts val="600"/>
              </a:spcBef>
              <a:spcAft>
                <a:spcPts val="0"/>
              </a:spcAft>
              <a:buClr>
                <a:schemeClr val="lt1"/>
              </a:buClr>
              <a:buSzPts val="1600"/>
              <a:buFont typeface="Arial"/>
              <a:buChar char="•"/>
            </a:pPr>
            <a:r>
              <a:rPr lang="en-US" sz="1600" b="1" dirty="0">
                <a:solidFill>
                  <a:schemeClr val="lt1"/>
                </a:solidFill>
                <a:latin typeface="Comic Sans MS"/>
                <a:ea typeface="Comic Sans MS"/>
                <a:cs typeface="Comic Sans MS"/>
                <a:sym typeface="Comic Sans MS"/>
              </a:rPr>
              <a:t>@page </a:t>
            </a:r>
            <a:r>
              <a:rPr lang="en-US" sz="1600" dirty="0">
                <a:solidFill>
                  <a:schemeClr val="lt1"/>
                </a:solidFill>
                <a:latin typeface="Comic Sans MS"/>
                <a:ea typeface="Comic Sans MS"/>
                <a:cs typeface="Comic Sans MS"/>
                <a:sym typeface="Comic Sans MS"/>
              </a:rPr>
              <a:t>makes the file into an MVC action, which means that it handles requests directly, without going through a controller.   </a:t>
            </a:r>
            <a:r>
              <a:rPr lang="en-US" sz="1600" b="1" dirty="0">
                <a:solidFill>
                  <a:schemeClr val="lt1"/>
                </a:solidFill>
                <a:latin typeface="Comic Sans MS"/>
                <a:ea typeface="Comic Sans MS"/>
                <a:cs typeface="Comic Sans MS"/>
                <a:sym typeface="Comic Sans MS"/>
              </a:rPr>
              <a:t>@page</a:t>
            </a:r>
            <a:r>
              <a:rPr lang="en-US" sz="1600" dirty="0">
                <a:solidFill>
                  <a:schemeClr val="lt1"/>
                </a:solidFill>
                <a:latin typeface="Comic Sans MS"/>
                <a:ea typeface="Comic Sans MS"/>
                <a:cs typeface="Comic Sans MS"/>
                <a:sym typeface="Comic Sans MS"/>
              </a:rPr>
              <a:t> must be the first Razor directive on a page. </a:t>
            </a:r>
            <a:r>
              <a:rPr lang="en-US" sz="1600" b="1" dirty="0">
                <a:solidFill>
                  <a:schemeClr val="lt1"/>
                </a:solidFill>
                <a:latin typeface="Comic Sans MS"/>
                <a:ea typeface="Comic Sans MS"/>
                <a:cs typeface="Comic Sans MS"/>
                <a:sym typeface="Comic Sans MS"/>
              </a:rPr>
              <a:t>@page</a:t>
            </a:r>
            <a:r>
              <a:rPr lang="en-US" sz="1600" dirty="0">
                <a:solidFill>
                  <a:schemeClr val="lt1"/>
                </a:solidFill>
                <a:latin typeface="Comic Sans MS"/>
                <a:ea typeface="Comic Sans MS"/>
                <a:cs typeface="Comic Sans MS"/>
                <a:sym typeface="Comic Sans MS"/>
              </a:rPr>
              <a:t> affects the behavior of other </a:t>
            </a:r>
            <a:r>
              <a:rPr lang="en-US" sz="1600" dirty="0" err="1">
                <a:solidFill>
                  <a:schemeClr val="lt1"/>
                </a:solidFill>
                <a:latin typeface="Comic Sans MS"/>
                <a:ea typeface="Comic Sans MS"/>
                <a:cs typeface="Comic Sans MS"/>
                <a:sym typeface="Comic Sans MS"/>
              </a:rPr>
              <a:t>Razorn</a:t>
            </a:r>
            <a:r>
              <a:rPr lang="en-US" sz="1600" dirty="0">
                <a:solidFill>
                  <a:schemeClr val="lt1"/>
                </a:solidFill>
                <a:latin typeface="Comic Sans MS"/>
                <a:ea typeface="Comic Sans MS"/>
                <a:cs typeface="Comic Sans MS"/>
                <a:sym typeface="Comic Sans MS"/>
              </a:rPr>
              <a:t> constructs. Razor Pages file names have a .</a:t>
            </a:r>
            <a:r>
              <a:rPr lang="en-US" sz="1600" dirty="0" err="1">
                <a:solidFill>
                  <a:schemeClr val="lt1"/>
                </a:solidFill>
                <a:latin typeface="Comic Sans MS"/>
                <a:ea typeface="Comic Sans MS"/>
                <a:cs typeface="Comic Sans MS"/>
                <a:sym typeface="Comic Sans MS"/>
              </a:rPr>
              <a:t>cshtml</a:t>
            </a:r>
            <a:r>
              <a:rPr lang="en-US" sz="1600" dirty="0">
                <a:solidFill>
                  <a:schemeClr val="lt1"/>
                </a:solidFill>
                <a:latin typeface="Comic Sans MS"/>
                <a:ea typeface="Comic Sans MS"/>
                <a:cs typeface="Comic Sans MS"/>
                <a:sym typeface="Comic Sans MS"/>
              </a:rPr>
              <a:t> suffix.</a:t>
            </a:r>
            <a:endParaRPr sz="1600" dirty="0">
              <a:solidFill>
                <a:schemeClr val="lt1"/>
              </a:solidFill>
              <a:latin typeface="Comic Sans MS"/>
              <a:ea typeface="Comic Sans MS"/>
              <a:cs typeface="Comic Sans MS"/>
              <a:sym typeface="Comic Sans MS"/>
            </a:endParaRPr>
          </a:p>
          <a:p>
            <a:pPr marL="0" marR="0" lvl="0" indent="101600" algn="l" rtl="0">
              <a:lnSpc>
                <a:spcPct val="90000"/>
              </a:lnSpc>
              <a:spcBef>
                <a:spcPts val="600"/>
              </a:spcBef>
              <a:spcAft>
                <a:spcPts val="0"/>
              </a:spcAft>
              <a:buClr>
                <a:schemeClr val="dk1"/>
              </a:buClr>
              <a:buSzPts val="1600"/>
              <a:buFont typeface="Arial"/>
              <a:buNone/>
            </a:pPr>
            <a:endParaRPr sz="1600" dirty="0">
              <a:solidFill>
                <a:schemeClr val="lt1"/>
              </a:solidFill>
              <a:latin typeface="Comic Sans MS"/>
              <a:ea typeface="Comic Sans MS"/>
              <a:cs typeface="Comic Sans MS"/>
              <a:sym typeface="Comic Sans MS"/>
            </a:endParaRPr>
          </a:p>
          <a:p>
            <a:pPr marL="0" marR="0" lvl="0" indent="0" algn="l" rtl="0">
              <a:lnSpc>
                <a:spcPct val="90000"/>
              </a:lnSpc>
              <a:spcBef>
                <a:spcPts val="600"/>
              </a:spcBef>
              <a:spcAft>
                <a:spcPts val="0"/>
              </a:spcAft>
              <a:buClr>
                <a:schemeClr val="lt1"/>
              </a:buClr>
              <a:buSzPts val="1600"/>
              <a:buFont typeface="Arial"/>
              <a:buChar char="•"/>
            </a:pPr>
            <a:r>
              <a:rPr lang="en-US" sz="1600" dirty="0">
                <a:solidFill>
                  <a:schemeClr val="lt1"/>
                </a:solidFill>
                <a:latin typeface="Comic Sans MS"/>
                <a:ea typeface="Comic Sans MS"/>
                <a:cs typeface="Comic Sans MS"/>
                <a:sym typeface="Comic Sans MS"/>
              </a:rPr>
              <a:t>The </a:t>
            </a:r>
            <a:r>
              <a:rPr lang="en-US" sz="1600" b="1" dirty="0">
                <a:solidFill>
                  <a:schemeClr val="lt1"/>
                </a:solidFill>
                <a:latin typeface="Comic Sans MS"/>
                <a:ea typeface="Comic Sans MS"/>
                <a:cs typeface="Comic Sans MS"/>
                <a:sym typeface="Comic Sans MS"/>
              </a:rPr>
              <a:t>@model</a:t>
            </a:r>
            <a:r>
              <a:rPr lang="en-US" sz="1600" dirty="0">
                <a:solidFill>
                  <a:schemeClr val="lt1"/>
                </a:solidFill>
                <a:latin typeface="Comic Sans MS"/>
                <a:ea typeface="Comic Sans MS"/>
                <a:cs typeface="Comic Sans MS"/>
                <a:sym typeface="Comic Sans MS"/>
              </a:rPr>
              <a:t> directive specifies the model type made available to the Razor page</a:t>
            </a:r>
            <a:endParaRPr sz="1600" dirty="0">
              <a:solidFill>
                <a:schemeClr val="lt1"/>
              </a:solidFill>
              <a:latin typeface="Comic Sans MS"/>
              <a:ea typeface="Comic Sans MS"/>
              <a:cs typeface="Comic Sans MS"/>
              <a:sym typeface="Comic Sans MS"/>
            </a:endParaRPr>
          </a:p>
        </p:txBody>
      </p:sp>
      <p:pic>
        <p:nvPicPr>
          <p:cNvPr id="232" name="Google Shape;232;p12"/>
          <p:cNvPicPr preferRelativeResize="0">
            <a:picLocks noGrp="1"/>
          </p:cNvPicPr>
          <p:nvPr>
            <p:ph type="body" idx="1"/>
          </p:nvPr>
        </p:nvPicPr>
        <p:blipFill rotWithShape="1">
          <a:blip r:embed="rId3">
            <a:alphaModFix/>
          </a:blip>
          <a:srcRect/>
          <a:stretch/>
        </p:blipFill>
        <p:spPr>
          <a:xfrm>
            <a:off x="7207885" y="2425700"/>
            <a:ext cx="4714875" cy="2752725"/>
          </a:xfrm>
          <a:prstGeom prst="rect">
            <a:avLst/>
          </a:prstGeom>
          <a:noFill/>
          <a:ln>
            <a:noFill/>
          </a:ln>
        </p:spPr>
      </p:pic>
      <p:pic>
        <p:nvPicPr>
          <p:cNvPr id="233" name="Google Shape;233;p12"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animEffect transition="in" filter="fade">
                                      <p:cBhvr>
                                        <p:cTn id="7" dur="500"/>
                                        <p:tgtEl>
                                          <p:spTgt spid="2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1"/>
                                        </p:tgtEl>
                                        <p:attrNameLst>
                                          <p:attrName>style.visibility</p:attrName>
                                        </p:attrNameLst>
                                      </p:cBhvr>
                                      <p:to>
                                        <p:strVal val="visible"/>
                                      </p:to>
                                    </p:set>
                                    <p:animEffect transition="in" filter="fade">
                                      <p:cBhvr>
                                        <p:cTn id="12" dur="500"/>
                                        <p:tgtEl>
                                          <p:spTgt spid="2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2"/>
                                        </p:tgtEl>
                                        <p:attrNameLst>
                                          <p:attrName>style.visibility</p:attrName>
                                        </p:attrNameLst>
                                      </p:cBhvr>
                                      <p:to>
                                        <p:strVal val="visible"/>
                                      </p:to>
                                    </p:set>
                                    <p:animEffect transition="in" filter="fade">
                                      <p:cBhvr>
                                        <p:cTn id="17" dur="500"/>
                                        <p:tgtEl>
                                          <p:spTgt spid="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a:buNone/>
            </a:pPr>
            <a:r>
              <a:rPr lang="en-US" b="1">
                <a:solidFill>
                  <a:srgbClr val="012D86"/>
                </a:solidFill>
                <a:latin typeface="Bell MT"/>
                <a:ea typeface="Bell MT"/>
                <a:cs typeface="Bell MT"/>
                <a:sym typeface="Bell MT"/>
              </a:rPr>
              <a:t>Rendering HTML</a:t>
            </a:r>
            <a:r>
              <a:rPr lang="en-US">
                <a:solidFill>
                  <a:srgbClr val="012D86"/>
                </a:solidFill>
                <a:latin typeface="Bell MT"/>
                <a:ea typeface="Bell MT"/>
                <a:cs typeface="Bell MT"/>
                <a:sym typeface="Bell MT"/>
              </a:rPr>
              <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239" name="Google Shape;239;p13"/>
          <p:cNvSpPr/>
          <p:nvPr/>
        </p:nvSpPr>
        <p:spPr>
          <a:xfrm>
            <a:off x="780415" y="1724660"/>
            <a:ext cx="5163185" cy="188722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The default Razor language is HTML. Rendering HTML from Razor markup is no different than rendering HTML from an HTML file. HTML markup in .</a:t>
            </a:r>
            <a:r>
              <a:rPr lang="en-US" sz="1600" dirty="0" err="1">
                <a:solidFill>
                  <a:schemeClr val="lt1"/>
                </a:solidFill>
                <a:latin typeface="Comic Sans MS"/>
                <a:ea typeface="Comic Sans MS"/>
                <a:cs typeface="Comic Sans MS"/>
                <a:sym typeface="Comic Sans MS"/>
              </a:rPr>
              <a:t>cshtml</a:t>
            </a:r>
            <a:r>
              <a:rPr lang="en-US" sz="1600" dirty="0">
                <a:solidFill>
                  <a:schemeClr val="lt1"/>
                </a:solidFill>
                <a:latin typeface="Comic Sans MS"/>
                <a:ea typeface="Comic Sans MS"/>
                <a:cs typeface="Comic Sans MS"/>
                <a:sym typeface="Comic Sans MS"/>
              </a:rPr>
              <a:t> Razor files is rendered by the server unchanged.</a:t>
            </a:r>
            <a:endParaRPr sz="1600" dirty="0">
              <a:solidFill>
                <a:schemeClr val="lt1"/>
              </a:solidFill>
              <a:latin typeface="Comic Sans MS"/>
              <a:ea typeface="Comic Sans MS"/>
              <a:cs typeface="Comic Sans MS"/>
              <a:sym typeface="Comic Sans MS"/>
            </a:endParaRPr>
          </a:p>
        </p:txBody>
      </p:sp>
      <p:grpSp>
        <p:nvGrpSpPr>
          <p:cNvPr id="240" name="Google Shape;240;p13"/>
          <p:cNvGrpSpPr/>
          <p:nvPr/>
        </p:nvGrpSpPr>
        <p:grpSpPr>
          <a:xfrm rot="10800000" flipH="1">
            <a:off x="6572250" y="0"/>
            <a:ext cx="5928360" cy="6634480"/>
            <a:chOff x="6095999" y="52996"/>
            <a:chExt cx="6093363" cy="6805005"/>
          </a:xfrm>
        </p:grpSpPr>
        <p:sp>
          <p:nvSpPr>
            <p:cNvPr id="241" name="Google Shape;241;p13"/>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2" name="Google Shape;242;p13"/>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3" name="Google Shape;243;p13"/>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244" name="Google Shape;244;p13" descr="Web Design"/>
          <p:cNvPicPr preferRelativeResize="0">
            <a:picLocks noGrp="1"/>
          </p:cNvPicPr>
          <p:nvPr>
            <p:ph type="body" idx="1"/>
          </p:nvPr>
        </p:nvPicPr>
        <p:blipFill rotWithShape="1">
          <a:blip r:embed="rId3">
            <a:alphaModFix/>
          </a:blip>
          <a:srcRect/>
          <a:stretch/>
        </p:blipFill>
        <p:spPr>
          <a:xfrm>
            <a:off x="7687945" y="1165860"/>
            <a:ext cx="4566285" cy="3713480"/>
          </a:xfrm>
          <a:prstGeom prst="rect">
            <a:avLst/>
          </a:prstGeom>
          <a:noFill/>
          <a:ln>
            <a:noFill/>
          </a:ln>
        </p:spPr>
      </p:pic>
      <p:pic>
        <p:nvPicPr>
          <p:cNvPr id="245" name="Google Shape;245;p13"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animEffect transition="in" filter="fade">
                                      <p:cBhvr>
                                        <p:cTn id="7" dur="500"/>
                                        <p:tgtEl>
                                          <p:spTgt spid="2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9"/>
                                        </p:tgtEl>
                                        <p:attrNameLst>
                                          <p:attrName>style.visibility</p:attrName>
                                        </p:attrNameLst>
                                      </p:cBhvr>
                                      <p:to>
                                        <p:strVal val="visible"/>
                                      </p:to>
                                    </p:set>
                                    <p:animEffect transition="in" filter="fade">
                                      <p:cBhvr>
                                        <p:cTn id="12" dur="1000"/>
                                        <p:tgtEl>
                                          <p:spTgt spid="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a:buNone/>
            </a:pPr>
            <a:r>
              <a:rPr lang="en-US" b="1">
                <a:solidFill>
                  <a:srgbClr val="012D86"/>
                </a:solidFill>
                <a:latin typeface="Bell MT"/>
                <a:ea typeface="Bell MT"/>
                <a:cs typeface="Bell MT"/>
                <a:sym typeface="Bell MT"/>
              </a:rPr>
              <a:t>Razor syntax</a:t>
            </a:r>
            <a:br>
              <a:rPr lang="en-US" b="1">
                <a:solidFill>
                  <a:srgbClr val="012D86"/>
                </a:solidFill>
                <a:latin typeface="Bell MT"/>
                <a:ea typeface="Bell MT"/>
                <a:cs typeface="Bell MT"/>
                <a:sym typeface="Bell MT"/>
              </a:rPr>
            </a:br>
            <a:endParaRPr b="1">
              <a:solidFill>
                <a:srgbClr val="012D86"/>
              </a:solidFill>
              <a:latin typeface="Bell MT"/>
              <a:ea typeface="Bell MT"/>
              <a:cs typeface="Bell MT"/>
              <a:sym typeface="Bell MT"/>
            </a:endParaRPr>
          </a:p>
        </p:txBody>
      </p:sp>
      <p:sp>
        <p:nvSpPr>
          <p:cNvPr id="251" name="Google Shape;251;p14"/>
          <p:cNvSpPr/>
          <p:nvPr/>
        </p:nvSpPr>
        <p:spPr>
          <a:xfrm>
            <a:off x="720090" y="5290820"/>
            <a:ext cx="7576185" cy="58229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600" dirty="0">
                <a:solidFill>
                  <a:schemeClr val="lt1"/>
                </a:solidFill>
                <a:latin typeface="Comic Sans MS"/>
                <a:ea typeface="Comic Sans MS"/>
                <a:cs typeface="Comic Sans MS"/>
                <a:sym typeface="Comic Sans MS"/>
              </a:rPr>
              <a:t>To escape an @ symbol in Razor markup, use a second @ symbol:</a:t>
            </a:r>
            <a:endParaRPr sz="1600" dirty="0">
              <a:solidFill>
                <a:schemeClr val="lt1"/>
              </a:solidFill>
              <a:latin typeface="Comic Sans MS"/>
              <a:ea typeface="Comic Sans MS"/>
              <a:cs typeface="Comic Sans MS"/>
              <a:sym typeface="Comic Sans MS"/>
            </a:endParaRPr>
          </a:p>
        </p:txBody>
      </p:sp>
      <p:sp>
        <p:nvSpPr>
          <p:cNvPr id="252" name="Google Shape;252;p14"/>
          <p:cNvSpPr/>
          <p:nvPr/>
        </p:nvSpPr>
        <p:spPr>
          <a:xfrm>
            <a:off x="720090" y="4311650"/>
            <a:ext cx="7576185" cy="86741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600" dirty="0">
                <a:solidFill>
                  <a:schemeClr val="lt1"/>
                </a:solidFill>
                <a:latin typeface="Comic Sans MS"/>
                <a:ea typeface="Comic Sans MS"/>
                <a:cs typeface="Comic Sans MS"/>
                <a:sym typeface="Comic Sans MS"/>
              </a:rPr>
              <a:t>When an @ symbol is followed by a Razor reserved keyword, it transitions into Razor-specific markup. Otherwise, it transitions into plain HTML.</a:t>
            </a:r>
            <a:endParaRPr sz="1600" dirty="0">
              <a:solidFill>
                <a:schemeClr val="lt1"/>
              </a:solidFill>
              <a:latin typeface="Comic Sans MS"/>
              <a:ea typeface="Comic Sans MS"/>
              <a:cs typeface="Comic Sans MS"/>
              <a:sym typeface="Comic Sans MS"/>
            </a:endParaRPr>
          </a:p>
        </p:txBody>
      </p:sp>
      <p:sp>
        <p:nvSpPr>
          <p:cNvPr id="253" name="Google Shape;253;p14"/>
          <p:cNvSpPr/>
          <p:nvPr/>
        </p:nvSpPr>
        <p:spPr>
          <a:xfrm>
            <a:off x="720090" y="1159510"/>
            <a:ext cx="7576185" cy="201993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600" dirty="0">
                <a:solidFill>
                  <a:schemeClr val="lt1"/>
                </a:solidFill>
                <a:latin typeface="Comic Sans MS"/>
                <a:ea typeface="Comic Sans MS"/>
                <a:cs typeface="Comic Sans MS"/>
                <a:sym typeface="Comic Sans MS"/>
              </a:rPr>
              <a:t>Razor is a markup syntax for embedding .NET based code into webpages. The Razor syntax consists of Razor markup, C#, and HTML. Files containing Razor generally have a</a:t>
            </a:r>
            <a:r>
              <a:rPr lang="en-US" sz="1600" b="1" dirty="0">
                <a:solidFill>
                  <a:schemeClr val="lt1"/>
                </a:solidFill>
                <a:latin typeface="Comic Sans MS"/>
                <a:ea typeface="Comic Sans MS"/>
                <a:cs typeface="Comic Sans MS"/>
                <a:sym typeface="Comic Sans MS"/>
              </a:rPr>
              <a:t> .</a:t>
            </a:r>
            <a:r>
              <a:rPr lang="en-US" sz="1600" b="1" dirty="0" err="1">
                <a:solidFill>
                  <a:schemeClr val="lt1"/>
                </a:solidFill>
                <a:latin typeface="Comic Sans MS"/>
                <a:ea typeface="Comic Sans MS"/>
                <a:cs typeface="Comic Sans MS"/>
                <a:sym typeface="Comic Sans MS"/>
              </a:rPr>
              <a:t>cshtml</a:t>
            </a:r>
            <a:r>
              <a:rPr lang="en-US" sz="1600" b="1" dirty="0">
                <a:solidFill>
                  <a:schemeClr val="lt1"/>
                </a:solidFill>
                <a:latin typeface="Comic Sans MS"/>
                <a:ea typeface="Comic Sans MS"/>
                <a:cs typeface="Comic Sans MS"/>
                <a:sym typeface="Comic Sans MS"/>
              </a:rPr>
              <a:t> </a:t>
            </a:r>
            <a:r>
              <a:rPr lang="en-US" sz="1600" dirty="0">
                <a:solidFill>
                  <a:schemeClr val="lt1"/>
                </a:solidFill>
                <a:latin typeface="Comic Sans MS"/>
                <a:ea typeface="Comic Sans MS"/>
                <a:cs typeface="Comic Sans MS"/>
                <a:sym typeface="Comic Sans MS"/>
              </a:rPr>
              <a:t>file extension. Razor is also found in Razor component files (.</a:t>
            </a:r>
            <a:r>
              <a:rPr lang="en-US" sz="1600" b="1" dirty="0">
                <a:solidFill>
                  <a:schemeClr val="lt1"/>
                </a:solidFill>
                <a:latin typeface="Comic Sans MS"/>
                <a:ea typeface="Comic Sans MS"/>
                <a:cs typeface="Comic Sans MS"/>
                <a:sym typeface="Comic Sans MS"/>
              </a:rPr>
              <a:t>razor</a:t>
            </a:r>
            <a:r>
              <a:rPr lang="en-US" sz="1600" dirty="0">
                <a:solidFill>
                  <a:schemeClr val="lt1"/>
                </a:solidFill>
                <a:latin typeface="Comic Sans MS"/>
                <a:ea typeface="Comic Sans MS"/>
                <a:cs typeface="Comic Sans MS"/>
                <a:sym typeface="Comic Sans MS"/>
              </a:rPr>
              <a:t>). Razor syntax is similar to the templating engines of various JavaScript single-page application (SPA) frameworks, such as Angular, React, </a:t>
            </a:r>
            <a:r>
              <a:rPr lang="en-US" sz="1600" dirty="0" err="1">
                <a:solidFill>
                  <a:schemeClr val="lt1"/>
                </a:solidFill>
                <a:latin typeface="Comic Sans MS"/>
                <a:ea typeface="Comic Sans MS"/>
                <a:cs typeface="Comic Sans MS"/>
                <a:sym typeface="Comic Sans MS"/>
              </a:rPr>
              <a:t>VueJs</a:t>
            </a:r>
            <a:r>
              <a:rPr lang="en-US" sz="1600" dirty="0">
                <a:solidFill>
                  <a:schemeClr val="lt1"/>
                </a:solidFill>
                <a:latin typeface="Comic Sans MS"/>
                <a:ea typeface="Comic Sans MS"/>
                <a:cs typeface="Comic Sans MS"/>
                <a:sym typeface="Comic Sans MS"/>
              </a:rPr>
              <a:t>, and Svelte.</a:t>
            </a:r>
            <a:r>
              <a:rPr lang="en-US" sz="1400" dirty="0">
                <a:solidFill>
                  <a:schemeClr val="lt1"/>
                </a:solidFill>
                <a:latin typeface="Comic Sans MS"/>
                <a:ea typeface="Comic Sans MS"/>
                <a:cs typeface="Comic Sans MS"/>
                <a:sym typeface="Comic Sans MS"/>
              </a:rPr>
              <a:t> </a:t>
            </a:r>
            <a:endParaRPr sz="1400" dirty="0">
              <a:solidFill>
                <a:schemeClr val="lt1"/>
              </a:solidFill>
              <a:latin typeface="Comic Sans MS"/>
              <a:ea typeface="Comic Sans MS"/>
              <a:cs typeface="Comic Sans MS"/>
              <a:sym typeface="Comic Sans MS"/>
            </a:endParaRPr>
          </a:p>
        </p:txBody>
      </p:sp>
      <p:sp>
        <p:nvSpPr>
          <p:cNvPr id="254" name="Google Shape;254;p14"/>
          <p:cNvSpPr/>
          <p:nvPr/>
        </p:nvSpPr>
        <p:spPr>
          <a:xfrm>
            <a:off x="720090" y="3291205"/>
            <a:ext cx="7576185" cy="90868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600" dirty="0">
                <a:solidFill>
                  <a:schemeClr val="lt1"/>
                </a:solidFill>
                <a:latin typeface="Comic Sans MS"/>
                <a:ea typeface="Comic Sans MS"/>
                <a:cs typeface="Comic Sans MS"/>
                <a:sym typeface="Comic Sans MS"/>
              </a:rPr>
              <a:t>Razor supports C# and uses the @ symbol to transition from HTML to C#. Razor evaluates C# expressions and renders them in the HTML output.</a:t>
            </a:r>
            <a:endParaRPr sz="1600" dirty="0">
              <a:solidFill>
                <a:schemeClr val="lt1"/>
              </a:solidFill>
              <a:latin typeface="Comic Sans MS"/>
              <a:ea typeface="Comic Sans MS"/>
              <a:cs typeface="Comic Sans MS"/>
              <a:sym typeface="Comic Sans MS"/>
            </a:endParaRPr>
          </a:p>
        </p:txBody>
      </p:sp>
      <p:pic>
        <p:nvPicPr>
          <p:cNvPr id="255" name="Google Shape;255;p14" descr="Aitrich-Logo-Transparent-BG-2048x671"/>
          <p:cNvPicPr preferRelativeResize="0"/>
          <p:nvPr/>
        </p:nvPicPr>
        <p:blipFill rotWithShape="1">
          <a:blip r:embed="rId3">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0"/>
                                        </p:tgtEl>
                                        <p:attrNameLst>
                                          <p:attrName>style.visibility</p:attrName>
                                        </p:attrNameLst>
                                      </p:cBhvr>
                                      <p:to>
                                        <p:strVal val="visible"/>
                                      </p:to>
                                    </p:set>
                                    <p:animEffect transition="in" filter="fade">
                                      <p:cBhvr>
                                        <p:cTn id="7" dur="500"/>
                                        <p:tgtEl>
                                          <p:spTgt spid="2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3"/>
                                        </p:tgtEl>
                                        <p:attrNameLst>
                                          <p:attrName>style.visibility</p:attrName>
                                        </p:attrNameLst>
                                      </p:cBhvr>
                                      <p:to>
                                        <p:strVal val="visible"/>
                                      </p:to>
                                    </p:set>
                                    <p:animEffect transition="in" filter="fade">
                                      <p:cBhvr>
                                        <p:cTn id="12" dur="1000"/>
                                        <p:tgtEl>
                                          <p:spTgt spid="25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4"/>
                                        </p:tgtEl>
                                        <p:attrNameLst>
                                          <p:attrName>style.visibility</p:attrName>
                                        </p:attrNameLst>
                                      </p:cBhvr>
                                      <p:to>
                                        <p:strVal val="visible"/>
                                      </p:to>
                                    </p:set>
                                    <p:animEffect transition="in" filter="fade">
                                      <p:cBhvr>
                                        <p:cTn id="17" dur="1000"/>
                                        <p:tgtEl>
                                          <p:spTgt spid="25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2"/>
                                        </p:tgtEl>
                                        <p:attrNameLst>
                                          <p:attrName>style.visibility</p:attrName>
                                        </p:attrNameLst>
                                      </p:cBhvr>
                                      <p:to>
                                        <p:strVal val="visible"/>
                                      </p:to>
                                    </p:set>
                                    <p:animEffect transition="in" filter="fade">
                                      <p:cBhvr>
                                        <p:cTn id="22" dur="1000"/>
                                        <p:tgtEl>
                                          <p:spTgt spid="25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1"/>
                                        </p:tgtEl>
                                        <p:attrNameLst>
                                          <p:attrName>style.visibility</p:attrName>
                                        </p:attrNameLst>
                                      </p:cBhvr>
                                      <p:to>
                                        <p:strVal val="visible"/>
                                      </p:to>
                                    </p:set>
                                    <p:animEffect transition="in" filter="fade">
                                      <p:cBhvr>
                                        <p:cTn id="27" dur="1000"/>
                                        <p:tgtEl>
                                          <p:spTgt spid="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15"/>
          <p:cNvSpPr txBox="1">
            <a:spLocks noGrp="1"/>
          </p:cNvSpPr>
          <p:nvPr>
            <p:ph type="title"/>
          </p:nvPr>
        </p:nvSpPr>
        <p:spPr>
          <a:xfrm>
            <a:off x="576550" y="225063"/>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4400"/>
              <a:buFont typeface="Arial"/>
              <a:buNone/>
            </a:pPr>
            <a:r>
              <a:rPr lang="en-US" b="1" dirty="0"/>
              <a:t> </a:t>
            </a:r>
            <a:br>
              <a:rPr lang="en-US" b="1" dirty="0"/>
            </a:br>
            <a:r>
              <a:rPr lang="en-US" sz="4000" b="1" dirty="0" err="1">
                <a:solidFill>
                  <a:srgbClr val="012D86"/>
                </a:solidFill>
                <a:latin typeface="Bell MT"/>
                <a:ea typeface="Bell MT"/>
                <a:cs typeface="Bell MT"/>
                <a:sym typeface="Bell MT"/>
              </a:rPr>
              <a:t>PageModel</a:t>
            </a:r>
            <a:r>
              <a:rPr lang="en-US" sz="4000" b="1" dirty="0">
                <a:solidFill>
                  <a:srgbClr val="012D86"/>
                </a:solidFill>
                <a:latin typeface="Bell MT"/>
                <a:ea typeface="Bell MT"/>
                <a:cs typeface="Bell MT"/>
                <a:sym typeface="Bell MT"/>
              </a:rPr>
              <a:t> -  .</a:t>
            </a:r>
            <a:r>
              <a:rPr lang="en-US" sz="4000" b="1" dirty="0" err="1">
                <a:solidFill>
                  <a:srgbClr val="012D86"/>
                </a:solidFill>
                <a:latin typeface="Bell MT"/>
                <a:ea typeface="Bell MT"/>
                <a:cs typeface="Bell MT"/>
                <a:sym typeface="Bell MT"/>
              </a:rPr>
              <a:t>cshtml.cs</a:t>
            </a:r>
            <a:r>
              <a:rPr lang="en-US" sz="4000" b="1" dirty="0">
                <a:solidFill>
                  <a:srgbClr val="012D86"/>
                </a:solidFill>
                <a:latin typeface="Bell MT"/>
                <a:ea typeface="Bell MT"/>
                <a:cs typeface="Bell MT"/>
                <a:sym typeface="Bell MT"/>
              </a:rPr>
              <a:t> page</a:t>
            </a:r>
            <a:r>
              <a:rPr lang="en-US" b="1" dirty="0">
                <a:latin typeface="Arial"/>
                <a:ea typeface="Arial"/>
                <a:cs typeface="Arial"/>
                <a:sym typeface="Arial"/>
              </a:rPr>
              <a:t/>
            </a:r>
            <a:br>
              <a:rPr lang="en-US" b="1" dirty="0">
                <a:latin typeface="Arial"/>
                <a:ea typeface="Arial"/>
                <a:cs typeface="Arial"/>
                <a:sym typeface="Arial"/>
              </a:rPr>
            </a:br>
            <a:endParaRPr dirty="0"/>
          </a:p>
        </p:txBody>
      </p:sp>
      <p:grpSp>
        <p:nvGrpSpPr>
          <p:cNvPr id="261" name="Google Shape;261;p15"/>
          <p:cNvGrpSpPr/>
          <p:nvPr/>
        </p:nvGrpSpPr>
        <p:grpSpPr>
          <a:xfrm rot="10800000">
            <a:off x="442350" y="1474104"/>
            <a:ext cx="8499374" cy="4230656"/>
            <a:chOff x="-1128176" y="-690369"/>
            <a:chExt cx="6507944" cy="5541134"/>
          </a:xfrm>
        </p:grpSpPr>
        <p:sp>
          <p:nvSpPr>
            <p:cNvPr id="262" name="Google Shape;262;p15"/>
            <p:cNvSpPr/>
            <p:nvPr/>
          </p:nvSpPr>
          <p:spPr>
            <a:xfrm rot="5400000">
              <a:off x="-114813" y="114813"/>
              <a:ext cx="765418" cy="535793"/>
            </a:xfrm>
            <a:prstGeom prst="chevron">
              <a:avLst>
                <a:gd name="adj" fmla="val 50000"/>
              </a:avLst>
            </a:prstGeom>
            <a:solidFill>
              <a:srgbClr val="5A84AE"/>
            </a:solidFill>
            <a:ln w="12700" cap="flat" cmpd="sng">
              <a:solidFill>
                <a:srgbClr val="5A84AE"/>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5"/>
            <p:cNvSpPr txBox="1"/>
            <p:nvPr/>
          </p:nvSpPr>
          <p:spPr>
            <a:xfrm rot="10800000">
              <a:off x="-114813" y="114813"/>
              <a:ext cx="765418" cy="535793"/>
            </a:xfrm>
            <a:prstGeom prst="rect">
              <a:avLst/>
            </a:prstGeom>
            <a:noFill/>
            <a:ln>
              <a:noFill/>
            </a:ln>
          </p:spPr>
          <p:txBody>
            <a:bodyPr spcFirstLastPara="1" wrap="square" lIns="8250" tIns="8250" rIns="8250" bIns="8250" anchor="ctr" anchorCtr="0">
              <a:noAutofit/>
            </a:bodyPr>
            <a:lstStyle/>
            <a:p>
              <a:pPr marL="0" marR="0" lvl="0" indent="0" algn="ctr" rtl="0">
                <a:lnSpc>
                  <a:spcPct val="100000"/>
                </a:lnSpc>
                <a:spcBef>
                  <a:spcPts val="0"/>
                </a:spcBef>
                <a:spcAft>
                  <a:spcPts val="0"/>
                </a:spcAft>
                <a:buNone/>
              </a:pPr>
              <a:endParaRPr sz="1300">
                <a:solidFill>
                  <a:schemeClr val="dk1"/>
                </a:solidFill>
                <a:latin typeface="Arial"/>
                <a:ea typeface="Arial"/>
                <a:cs typeface="Arial"/>
                <a:sym typeface="Arial"/>
              </a:endParaRPr>
            </a:p>
          </p:txBody>
        </p:sp>
        <p:sp>
          <p:nvSpPr>
            <p:cNvPr id="264" name="Google Shape;264;p15"/>
            <p:cNvSpPr/>
            <p:nvPr/>
          </p:nvSpPr>
          <p:spPr>
            <a:xfrm rot="5400000">
              <a:off x="2363811" y="-2518269"/>
              <a:ext cx="1188000" cy="4843800"/>
            </a:xfrm>
            <a:prstGeom prst="round2SameRect">
              <a:avLst>
                <a:gd name="adj1" fmla="val 16667"/>
                <a:gd name="adj2" fmla="val 0"/>
              </a:avLst>
            </a:prstGeom>
            <a:solidFill>
              <a:schemeClr val="lt1">
                <a:alpha val="89803"/>
              </a:schemeClr>
            </a:solidFill>
            <a:ln w="12700" cap="flat" cmpd="sng">
              <a:solidFill>
                <a:srgbClr val="5A84AE"/>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5"/>
            <p:cNvSpPr txBox="1"/>
            <p:nvPr/>
          </p:nvSpPr>
          <p:spPr>
            <a:xfrm rot="10800000">
              <a:off x="1469526" y="-267761"/>
              <a:ext cx="3910200" cy="765300"/>
            </a:xfrm>
            <a:prstGeom prst="rect">
              <a:avLst/>
            </a:prstGeom>
            <a:noFill/>
            <a:ln>
              <a:noFill/>
            </a:ln>
          </p:spPr>
          <p:txBody>
            <a:bodyPr spcFirstLastPara="1" wrap="square" lIns="92450" tIns="8250" rIns="8250" bIns="8250" anchor="ctr" anchorCtr="0">
              <a:noAutofit/>
            </a:bodyPr>
            <a:lstStyle/>
            <a:p>
              <a:pPr marL="114300" marR="0" lvl="1" indent="-114300" algn="l" rtl="0">
                <a:lnSpc>
                  <a:spcPct val="100000"/>
                </a:lnSpc>
                <a:spcBef>
                  <a:spcPts val="0"/>
                </a:spcBef>
                <a:spcAft>
                  <a:spcPts val="0"/>
                </a:spcAft>
                <a:buClr>
                  <a:schemeClr val="dk1"/>
                </a:buClr>
                <a:buSzPts val="1300"/>
                <a:buFont typeface="Comic Sans MS"/>
                <a:buChar char="•"/>
              </a:pPr>
              <a:r>
                <a:rPr lang="en-US" sz="1300" b="0" i="0" u="none" strike="noStrike" cap="none" dirty="0">
                  <a:solidFill>
                    <a:schemeClr val="dk1"/>
                  </a:solidFill>
                  <a:latin typeface="Comic Sans MS"/>
                  <a:ea typeface="Comic Sans MS"/>
                  <a:cs typeface="Comic Sans MS"/>
                  <a:sym typeface="Comic Sans MS"/>
                </a:rPr>
                <a:t>By convention, the </a:t>
              </a:r>
              <a:r>
                <a:rPr lang="en-US" sz="1300" b="0" i="0" u="none" strike="noStrike" cap="none" dirty="0" err="1">
                  <a:solidFill>
                    <a:schemeClr val="dk1"/>
                  </a:solidFill>
                  <a:latin typeface="Comic Sans MS"/>
                  <a:ea typeface="Comic Sans MS"/>
                  <a:cs typeface="Comic Sans MS"/>
                  <a:sym typeface="Comic Sans MS"/>
                </a:rPr>
                <a:t>PageModel</a:t>
              </a:r>
              <a:r>
                <a:rPr lang="en-US" sz="1300" b="0" i="0" u="none" strike="noStrike" cap="none" dirty="0">
                  <a:solidFill>
                    <a:schemeClr val="dk1"/>
                  </a:solidFill>
                  <a:latin typeface="Comic Sans MS"/>
                  <a:ea typeface="Comic Sans MS"/>
                  <a:cs typeface="Comic Sans MS"/>
                  <a:sym typeface="Comic Sans MS"/>
                </a:rPr>
                <a:t> class file has the same name as the Razor Page file with .</a:t>
              </a:r>
              <a:r>
                <a:rPr lang="en-US" sz="1300" b="0" i="0" u="none" strike="noStrike" cap="none" dirty="0" err="1">
                  <a:solidFill>
                    <a:schemeClr val="dk1"/>
                  </a:solidFill>
                  <a:latin typeface="Comic Sans MS"/>
                  <a:ea typeface="Comic Sans MS"/>
                  <a:cs typeface="Comic Sans MS"/>
                  <a:sym typeface="Comic Sans MS"/>
                </a:rPr>
                <a:t>cs</a:t>
              </a:r>
              <a:r>
                <a:rPr lang="en-US" sz="1300" b="0" i="0" u="none" strike="noStrike" cap="none" dirty="0">
                  <a:solidFill>
                    <a:schemeClr val="dk1"/>
                  </a:solidFill>
                  <a:latin typeface="Comic Sans MS"/>
                  <a:ea typeface="Comic Sans MS"/>
                  <a:cs typeface="Comic Sans MS"/>
                  <a:sym typeface="Comic Sans MS"/>
                </a:rPr>
                <a:t> appended.</a:t>
              </a:r>
              <a:endParaRPr sz="1300" b="0" i="0" u="none" strike="noStrike" cap="none" dirty="0">
                <a:solidFill>
                  <a:schemeClr val="dk1"/>
                </a:solidFill>
                <a:latin typeface="Comic Sans MS"/>
                <a:ea typeface="Comic Sans MS"/>
                <a:cs typeface="Comic Sans MS"/>
                <a:sym typeface="Comic Sans MS"/>
              </a:endParaRPr>
            </a:p>
          </p:txBody>
        </p:sp>
        <p:sp>
          <p:nvSpPr>
            <p:cNvPr id="266" name="Google Shape;266;p15"/>
            <p:cNvSpPr/>
            <p:nvPr/>
          </p:nvSpPr>
          <p:spPr>
            <a:xfrm rot="5400000">
              <a:off x="-114813" y="795704"/>
              <a:ext cx="765418" cy="535793"/>
            </a:xfrm>
            <a:prstGeom prst="chevron">
              <a:avLst>
                <a:gd name="adj" fmla="val 50000"/>
              </a:avLst>
            </a:prstGeom>
            <a:solidFill>
              <a:srgbClr val="709AC9"/>
            </a:solidFill>
            <a:ln w="12700" cap="flat" cmpd="sng">
              <a:solidFill>
                <a:srgbClr val="709AC9"/>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5"/>
            <p:cNvSpPr txBox="1"/>
            <p:nvPr/>
          </p:nvSpPr>
          <p:spPr>
            <a:xfrm rot="10800000">
              <a:off x="-114813" y="795704"/>
              <a:ext cx="765418" cy="535793"/>
            </a:xfrm>
            <a:prstGeom prst="rect">
              <a:avLst/>
            </a:prstGeom>
            <a:noFill/>
            <a:ln>
              <a:noFill/>
            </a:ln>
          </p:spPr>
          <p:txBody>
            <a:bodyPr spcFirstLastPara="1" wrap="square" lIns="8250" tIns="8250" rIns="8250" bIns="8250" anchor="ctr" anchorCtr="0">
              <a:noAutofit/>
            </a:bodyPr>
            <a:lstStyle/>
            <a:p>
              <a:pPr marL="0" marR="0" lvl="0" indent="0" algn="ctr" rtl="0">
                <a:lnSpc>
                  <a:spcPct val="100000"/>
                </a:lnSpc>
                <a:spcBef>
                  <a:spcPts val="0"/>
                </a:spcBef>
                <a:spcAft>
                  <a:spcPts val="0"/>
                </a:spcAft>
                <a:buNone/>
              </a:pPr>
              <a:endParaRPr sz="1300">
                <a:solidFill>
                  <a:schemeClr val="dk1"/>
                </a:solidFill>
                <a:latin typeface="Arial"/>
                <a:ea typeface="Arial"/>
                <a:cs typeface="Arial"/>
                <a:sym typeface="Arial"/>
              </a:endParaRPr>
            </a:p>
          </p:txBody>
        </p:sp>
        <p:sp>
          <p:nvSpPr>
            <p:cNvPr id="268" name="Google Shape;268;p15"/>
            <p:cNvSpPr/>
            <p:nvPr/>
          </p:nvSpPr>
          <p:spPr>
            <a:xfrm rot="5400000">
              <a:off x="2709167" y="-1492310"/>
              <a:ext cx="497400" cy="4843800"/>
            </a:xfrm>
            <a:prstGeom prst="round2SameRect">
              <a:avLst>
                <a:gd name="adj1" fmla="val 16667"/>
                <a:gd name="adj2" fmla="val 0"/>
              </a:avLst>
            </a:prstGeom>
            <a:solidFill>
              <a:schemeClr val="lt1">
                <a:alpha val="89803"/>
              </a:schemeClr>
            </a:solidFill>
            <a:ln w="12700" cap="flat" cmpd="sng">
              <a:solidFill>
                <a:srgbClr val="709AC9"/>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5"/>
            <p:cNvSpPr txBox="1"/>
            <p:nvPr/>
          </p:nvSpPr>
          <p:spPr>
            <a:xfrm rot="10800000">
              <a:off x="535929" y="723354"/>
              <a:ext cx="4843800" cy="535800"/>
            </a:xfrm>
            <a:prstGeom prst="rect">
              <a:avLst/>
            </a:prstGeom>
            <a:noFill/>
            <a:ln>
              <a:noFill/>
            </a:ln>
          </p:spPr>
          <p:txBody>
            <a:bodyPr spcFirstLastPara="1" wrap="square" lIns="92450" tIns="8250" rIns="8250" bIns="8250" anchor="ctr" anchorCtr="0">
              <a:noAutofit/>
            </a:bodyPr>
            <a:lstStyle/>
            <a:p>
              <a:pPr marL="114300" marR="0" lvl="1" indent="-114300" algn="l" rtl="0">
                <a:lnSpc>
                  <a:spcPct val="100000"/>
                </a:lnSpc>
                <a:spcBef>
                  <a:spcPts val="0"/>
                </a:spcBef>
                <a:spcAft>
                  <a:spcPts val="0"/>
                </a:spcAft>
                <a:buClr>
                  <a:schemeClr val="dk1"/>
                </a:buClr>
                <a:buSzPts val="1300"/>
                <a:buFont typeface="Comic Sans MS"/>
                <a:buChar char="•"/>
              </a:pPr>
              <a:r>
                <a:rPr lang="en-US" sz="1300" b="0" i="0" u="none" strike="noStrike" cap="none" dirty="0">
                  <a:solidFill>
                    <a:schemeClr val="dk1"/>
                  </a:solidFill>
                  <a:latin typeface="Comic Sans MS"/>
                  <a:ea typeface="Comic Sans MS"/>
                  <a:cs typeface="Comic Sans MS"/>
                  <a:sym typeface="Comic Sans MS"/>
                </a:rPr>
                <a:t>This is the logic Part of the page </a:t>
              </a:r>
              <a:r>
                <a:rPr lang="en-US" sz="900" b="0" i="0" u="none" strike="noStrike" cap="none" dirty="0">
                  <a:solidFill>
                    <a:schemeClr val="dk1"/>
                  </a:solidFill>
                  <a:latin typeface="Comic Sans MS"/>
                  <a:ea typeface="Comic Sans MS"/>
                  <a:cs typeface="Comic Sans MS"/>
                  <a:sym typeface="Comic Sans MS"/>
                </a:rPr>
                <a:t>.</a:t>
              </a:r>
              <a:endParaRPr sz="900" b="0" i="0" u="none" strike="noStrike" cap="none" dirty="0">
                <a:solidFill>
                  <a:schemeClr val="dk1"/>
                </a:solidFill>
                <a:latin typeface="Comic Sans MS"/>
                <a:ea typeface="Comic Sans MS"/>
                <a:cs typeface="Comic Sans MS"/>
                <a:sym typeface="Comic Sans MS"/>
              </a:endParaRPr>
            </a:p>
          </p:txBody>
        </p:sp>
        <p:sp>
          <p:nvSpPr>
            <p:cNvPr id="270" name="Google Shape;270;p15"/>
            <p:cNvSpPr/>
            <p:nvPr/>
          </p:nvSpPr>
          <p:spPr>
            <a:xfrm rot="5400000">
              <a:off x="-114813" y="1476595"/>
              <a:ext cx="765418" cy="535793"/>
            </a:xfrm>
            <a:prstGeom prst="chevron">
              <a:avLst>
                <a:gd name="adj" fmla="val 50000"/>
              </a:avLst>
            </a:prstGeom>
            <a:solidFill>
              <a:srgbClr val="8EB3DE"/>
            </a:solidFill>
            <a:ln w="12700" cap="flat" cmpd="sng">
              <a:solidFill>
                <a:srgbClr val="8EB3DE"/>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5"/>
            <p:cNvSpPr txBox="1"/>
            <p:nvPr/>
          </p:nvSpPr>
          <p:spPr>
            <a:xfrm rot="10800000">
              <a:off x="-114813" y="1476595"/>
              <a:ext cx="765418" cy="535793"/>
            </a:xfrm>
            <a:prstGeom prst="rect">
              <a:avLst/>
            </a:prstGeom>
            <a:noFill/>
            <a:ln>
              <a:noFill/>
            </a:ln>
          </p:spPr>
          <p:txBody>
            <a:bodyPr spcFirstLastPara="1" wrap="square" lIns="8250" tIns="8250" rIns="8250" bIns="8250" anchor="ctr" anchorCtr="0">
              <a:noAutofit/>
            </a:bodyPr>
            <a:lstStyle/>
            <a:p>
              <a:pPr marL="0" marR="0" lvl="0" indent="0" algn="ctr" rtl="0">
                <a:lnSpc>
                  <a:spcPct val="100000"/>
                </a:lnSpc>
                <a:spcBef>
                  <a:spcPts val="0"/>
                </a:spcBef>
                <a:spcAft>
                  <a:spcPts val="0"/>
                </a:spcAft>
                <a:buNone/>
              </a:pPr>
              <a:endParaRPr sz="1300">
                <a:solidFill>
                  <a:schemeClr val="dk1"/>
                </a:solidFill>
                <a:latin typeface="Arial"/>
                <a:ea typeface="Arial"/>
                <a:cs typeface="Arial"/>
                <a:sym typeface="Arial"/>
              </a:endParaRPr>
            </a:p>
          </p:txBody>
        </p:sp>
        <p:sp>
          <p:nvSpPr>
            <p:cNvPr id="272" name="Google Shape;272;p15"/>
            <p:cNvSpPr/>
            <p:nvPr/>
          </p:nvSpPr>
          <p:spPr>
            <a:xfrm rot="5400000">
              <a:off x="2708995" y="-811421"/>
              <a:ext cx="497522" cy="4843927"/>
            </a:xfrm>
            <a:prstGeom prst="round2SameRect">
              <a:avLst>
                <a:gd name="adj1" fmla="val 16667"/>
                <a:gd name="adj2" fmla="val 0"/>
              </a:avLst>
            </a:prstGeom>
            <a:solidFill>
              <a:schemeClr val="lt1">
                <a:alpha val="89803"/>
              </a:schemeClr>
            </a:solidFill>
            <a:ln w="12700" cap="flat" cmpd="sng">
              <a:solidFill>
                <a:srgbClr val="8EB3DE"/>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5"/>
            <p:cNvSpPr txBox="1"/>
            <p:nvPr/>
          </p:nvSpPr>
          <p:spPr>
            <a:xfrm rot="10800000">
              <a:off x="-1128176" y="1208086"/>
              <a:ext cx="6507900" cy="681000"/>
            </a:xfrm>
            <a:prstGeom prst="rect">
              <a:avLst/>
            </a:prstGeom>
            <a:noFill/>
            <a:ln>
              <a:noFill/>
            </a:ln>
          </p:spPr>
          <p:txBody>
            <a:bodyPr spcFirstLastPara="1" wrap="square" lIns="92450" tIns="8250" rIns="8250" bIns="8250" anchor="ctr" anchorCtr="0">
              <a:noAutofit/>
            </a:bodyPr>
            <a:lstStyle/>
            <a:p>
              <a:pPr marL="114300" marR="0" lvl="1" indent="-114300" algn="l" rtl="0">
                <a:lnSpc>
                  <a:spcPct val="100000"/>
                </a:lnSpc>
                <a:spcBef>
                  <a:spcPts val="0"/>
                </a:spcBef>
                <a:spcAft>
                  <a:spcPts val="0"/>
                </a:spcAft>
                <a:buClr>
                  <a:schemeClr val="dk1"/>
                </a:buClr>
                <a:buSzPts val="1300"/>
                <a:buFont typeface="Comic Sans MS"/>
                <a:buChar char="•"/>
              </a:pPr>
              <a:r>
                <a:rPr lang="en-US" sz="1300" b="0" i="0" u="none" strike="noStrike" cap="none" dirty="0">
                  <a:solidFill>
                    <a:schemeClr val="dk1"/>
                  </a:solidFill>
                  <a:latin typeface="Comic Sans MS"/>
                  <a:ea typeface="Comic Sans MS"/>
                  <a:cs typeface="Comic Sans MS"/>
                  <a:sym typeface="Comic Sans MS"/>
                </a:rPr>
                <a:t>Page events can be manage here</a:t>
              </a:r>
              <a:endParaRPr sz="1300" b="0" i="0" u="none" strike="noStrike" cap="none" dirty="0">
                <a:solidFill>
                  <a:schemeClr val="dk1"/>
                </a:solidFill>
                <a:latin typeface="Comic Sans MS"/>
                <a:ea typeface="Comic Sans MS"/>
                <a:cs typeface="Comic Sans MS"/>
                <a:sym typeface="Comic Sans MS"/>
              </a:endParaRPr>
            </a:p>
          </p:txBody>
        </p:sp>
        <p:sp>
          <p:nvSpPr>
            <p:cNvPr id="274" name="Google Shape;274;p15"/>
            <p:cNvSpPr/>
            <p:nvPr/>
          </p:nvSpPr>
          <p:spPr>
            <a:xfrm rot="5400000">
              <a:off x="-114813" y="2157486"/>
              <a:ext cx="765418" cy="535793"/>
            </a:xfrm>
            <a:prstGeom prst="chevron">
              <a:avLst>
                <a:gd name="adj" fmla="val 50000"/>
              </a:avLst>
            </a:prstGeom>
            <a:solidFill>
              <a:srgbClr val="B0CCEE"/>
            </a:solidFill>
            <a:ln w="12700" cap="flat" cmpd="sng">
              <a:solidFill>
                <a:srgbClr val="B0CCEE"/>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5"/>
            <p:cNvSpPr txBox="1"/>
            <p:nvPr/>
          </p:nvSpPr>
          <p:spPr>
            <a:xfrm rot="10800000">
              <a:off x="-114813" y="2157486"/>
              <a:ext cx="765418" cy="535793"/>
            </a:xfrm>
            <a:prstGeom prst="rect">
              <a:avLst/>
            </a:prstGeom>
            <a:noFill/>
            <a:ln>
              <a:noFill/>
            </a:ln>
          </p:spPr>
          <p:txBody>
            <a:bodyPr spcFirstLastPara="1" wrap="square" lIns="8250" tIns="8250" rIns="8250" bIns="8250" anchor="ctr" anchorCtr="0">
              <a:noAutofit/>
            </a:bodyPr>
            <a:lstStyle/>
            <a:p>
              <a:pPr marL="0" marR="0" lvl="0" indent="0" algn="ctr" rtl="0">
                <a:lnSpc>
                  <a:spcPct val="100000"/>
                </a:lnSpc>
                <a:spcBef>
                  <a:spcPts val="0"/>
                </a:spcBef>
                <a:spcAft>
                  <a:spcPts val="0"/>
                </a:spcAft>
                <a:buNone/>
              </a:pPr>
              <a:endParaRPr sz="1300">
                <a:solidFill>
                  <a:schemeClr val="dk1"/>
                </a:solidFill>
                <a:latin typeface="Arial"/>
                <a:ea typeface="Arial"/>
                <a:cs typeface="Arial"/>
                <a:sym typeface="Arial"/>
              </a:endParaRPr>
            </a:p>
          </p:txBody>
        </p:sp>
        <p:sp>
          <p:nvSpPr>
            <p:cNvPr id="276" name="Google Shape;276;p15"/>
            <p:cNvSpPr/>
            <p:nvPr/>
          </p:nvSpPr>
          <p:spPr>
            <a:xfrm rot="5400000">
              <a:off x="2708995" y="-130529"/>
              <a:ext cx="497522" cy="4843927"/>
            </a:xfrm>
            <a:prstGeom prst="round2SameRect">
              <a:avLst>
                <a:gd name="adj1" fmla="val 16667"/>
                <a:gd name="adj2" fmla="val 0"/>
              </a:avLst>
            </a:prstGeom>
            <a:solidFill>
              <a:schemeClr val="lt1">
                <a:alpha val="89803"/>
              </a:schemeClr>
            </a:solidFill>
            <a:ln w="12700" cap="flat" cmpd="sng">
              <a:solidFill>
                <a:srgbClr val="B0CCEE"/>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5"/>
            <p:cNvSpPr txBox="1"/>
            <p:nvPr/>
          </p:nvSpPr>
          <p:spPr>
            <a:xfrm rot="10800000">
              <a:off x="535819" y="1928028"/>
              <a:ext cx="4678500" cy="497400"/>
            </a:xfrm>
            <a:prstGeom prst="rect">
              <a:avLst/>
            </a:prstGeom>
            <a:noFill/>
            <a:ln>
              <a:noFill/>
            </a:ln>
          </p:spPr>
          <p:txBody>
            <a:bodyPr spcFirstLastPara="1" wrap="square" lIns="92450" tIns="8250" rIns="8250" bIns="8250" anchor="ctr" anchorCtr="0">
              <a:noAutofit/>
            </a:bodyPr>
            <a:lstStyle/>
            <a:p>
              <a:pPr marL="114300" marR="0" lvl="1" indent="-114300" algn="l" rtl="0">
                <a:lnSpc>
                  <a:spcPct val="100000"/>
                </a:lnSpc>
                <a:spcBef>
                  <a:spcPts val="0"/>
                </a:spcBef>
                <a:spcAft>
                  <a:spcPts val="0"/>
                </a:spcAft>
                <a:buClr>
                  <a:schemeClr val="dk1"/>
                </a:buClr>
                <a:buSzPts val="1300"/>
                <a:buFont typeface="Comic Sans MS"/>
                <a:buChar char="•"/>
              </a:pPr>
              <a:r>
                <a:rPr lang="en-US" sz="1300" b="0" i="0" u="none" strike="noStrike" cap="none" dirty="0">
                  <a:solidFill>
                    <a:schemeClr val="dk1"/>
                  </a:solidFill>
                  <a:latin typeface="Comic Sans MS"/>
                  <a:ea typeface="Comic Sans MS"/>
                  <a:cs typeface="Comic Sans MS"/>
                  <a:sym typeface="Comic Sans MS"/>
                </a:rPr>
                <a:t>Encapsulates the data properties and logic  operations scoped just to its Razor page.</a:t>
              </a:r>
              <a:endParaRPr sz="1300" b="0" i="0" u="none" strike="noStrike" cap="none" dirty="0">
                <a:solidFill>
                  <a:schemeClr val="dk1"/>
                </a:solidFill>
                <a:latin typeface="Comic Sans MS"/>
                <a:ea typeface="Comic Sans MS"/>
                <a:cs typeface="Comic Sans MS"/>
                <a:sym typeface="Comic Sans MS"/>
              </a:endParaRPr>
            </a:p>
          </p:txBody>
        </p:sp>
        <p:sp>
          <p:nvSpPr>
            <p:cNvPr id="278" name="Google Shape;278;p15"/>
            <p:cNvSpPr/>
            <p:nvPr/>
          </p:nvSpPr>
          <p:spPr>
            <a:xfrm rot="5400000">
              <a:off x="-114813" y="2838377"/>
              <a:ext cx="765418" cy="535793"/>
            </a:xfrm>
            <a:prstGeom prst="chevron">
              <a:avLst>
                <a:gd name="adj" fmla="val 50000"/>
              </a:avLst>
            </a:prstGeom>
            <a:solidFill>
              <a:srgbClr val="B0CDEE"/>
            </a:solidFill>
            <a:ln w="12700" cap="flat" cmpd="sng">
              <a:solidFill>
                <a:srgbClr val="B0CDEE"/>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5"/>
            <p:cNvSpPr txBox="1"/>
            <p:nvPr/>
          </p:nvSpPr>
          <p:spPr>
            <a:xfrm rot="10800000">
              <a:off x="-114813" y="2838377"/>
              <a:ext cx="765418" cy="535793"/>
            </a:xfrm>
            <a:prstGeom prst="rect">
              <a:avLst/>
            </a:prstGeom>
            <a:noFill/>
            <a:ln>
              <a:noFill/>
            </a:ln>
          </p:spPr>
          <p:txBody>
            <a:bodyPr spcFirstLastPara="1" wrap="square" lIns="8250" tIns="8250" rIns="8250" bIns="8250" anchor="ctr" anchorCtr="0">
              <a:noAutofit/>
            </a:bodyPr>
            <a:lstStyle/>
            <a:p>
              <a:pPr marL="0" marR="0" lvl="0" indent="0" algn="ctr" rtl="0">
                <a:lnSpc>
                  <a:spcPct val="100000"/>
                </a:lnSpc>
                <a:spcBef>
                  <a:spcPts val="0"/>
                </a:spcBef>
                <a:spcAft>
                  <a:spcPts val="0"/>
                </a:spcAft>
                <a:buNone/>
              </a:pPr>
              <a:endParaRPr sz="1300">
                <a:solidFill>
                  <a:schemeClr val="dk1"/>
                </a:solidFill>
                <a:latin typeface="Arial"/>
                <a:ea typeface="Arial"/>
                <a:cs typeface="Arial"/>
                <a:sym typeface="Arial"/>
              </a:endParaRPr>
            </a:p>
          </p:txBody>
        </p:sp>
        <p:sp>
          <p:nvSpPr>
            <p:cNvPr id="280" name="Google Shape;280;p15"/>
            <p:cNvSpPr/>
            <p:nvPr/>
          </p:nvSpPr>
          <p:spPr>
            <a:xfrm rot="5400000">
              <a:off x="2708995" y="550362"/>
              <a:ext cx="497522" cy="4843927"/>
            </a:xfrm>
            <a:prstGeom prst="round2SameRect">
              <a:avLst>
                <a:gd name="adj1" fmla="val 16667"/>
                <a:gd name="adj2" fmla="val 0"/>
              </a:avLst>
            </a:prstGeom>
            <a:solidFill>
              <a:schemeClr val="lt1">
                <a:alpha val="89803"/>
              </a:schemeClr>
            </a:solidFill>
            <a:ln w="12700" cap="flat" cmpd="sng">
              <a:solidFill>
                <a:srgbClr val="B0CDEE"/>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5"/>
            <p:cNvSpPr txBox="1"/>
            <p:nvPr/>
          </p:nvSpPr>
          <p:spPr>
            <a:xfrm rot="10800000">
              <a:off x="650517" y="2808162"/>
              <a:ext cx="4670100" cy="270900"/>
            </a:xfrm>
            <a:prstGeom prst="rect">
              <a:avLst/>
            </a:prstGeom>
            <a:noFill/>
            <a:ln>
              <a:noFill/>
            </a:ln>
          </p:spPr>
          <p:txBody>
            <a:bodyPr spcFirstLastPara="1" wrap="square" lIns="92450" tIns="8250" rIns="8250" bIns="8250" anchor="ctr" anchorCtr="0">
              <a:noAutofit/>
            </a:bodyPr>
            <a:lstStyle/>
            <a:p>
              <a:pPr marL="114300" marR="0" lvl="1" indent="-114300" algn="l" rtl="0">
                <a:lnSpc>
                  <a:spcPct val="100000"/>
                </a:lnSpc>
                <a:spcBef>
                  <a:spcPts val="0"/>
                </a:spcBef>
                <a:spcAft>
                  <a:spcPts val="0"/>
                </a:spcAft>
                <a:buClr>
                  <a:schemeClr val="dk1"/>
                </a:buClr>
                <a:buSzPts val="1300"/>
                <a:buFont typeface="Comic Sans MS"/>
                <a:buChar char="•"/>
              </a:pPr>
              <a:r>
                <a:rPr lang="en-US" sz="1300" b="0" i="0" u="none" strike="noStrike" cap="none" dirty="0">
                  <a:solidFill>
                    <a:schemeClr val="dk1"/>
                  </a:solidFill>
                  <a:latin typeface="Comic Sans MS"/>
                  <a:ea typeface="Comic Sans MS"/>
                  <a:cs typeface="Comic Sans MS"/>
                  <a:sym typeface="Comic Sans MS"/>
                </a:rPr>
                <a:t>Defines page handlers for HTTP requests sent to the page and for the data used to render the page.</a:t>
              </a:r>
              <a:endParaRPr sz="1300" b="0" i="0" u="none" strike="noStrike" cap="none" dirty="0">
                <a:solidFill>
                  <a:schemeClr val="dk1"/>
                </a:solidFill>
                <a:latin typeface="Comic Sans MS"/>
                <a:ea typeface="Comic Sans MS"/>
                <a:cs typeface="Comic Sans MS"/>
                <a:sym typeface="Comic Sans MS"/>
              </a:endParaRPr>
            </a:p>
          </p:txBody>
        </p:sp>
        <p:sp>
          <p:nvSpPr>
            <p:cNvPr id="282" name="Google Shape;282;p15"/>
            <p:cNvSpPr/>
            <p:nvPr/>
          </p:nvSpPr>
          <p:spPr>
            <a:xfrm rot="5400000">
              <a:off x="-114813" y="3519269"/>
              <a:ext cx="765418" cy="535793"/>
            </a:xfrm>
            <a:prstGeom prst="chevron">
              <a:avLst>
                <a:gd name="adj" fmla="val 50000"/>
              </a:avLst>
            </a:prstGeom>
            <a:solidFill>
              <a:srgbClr val="8FB5DD"/>
            </a:solidFill>
            <a:ln w="12700" cap="flat" cmpd="sng">
              <a:solidFill>
                <a:srgbClr val="8FB5DD"/>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5"/>
            <p:cNvSpPr txBox="1"/>
            <p:nvPr/>
          </p:nvSpPr>
          <p:spPr>
            <a:xfrm rot="10800000">
              <a:off x="-114813" y="3519269"/>
              <a:ext cx="765418" cy="535793"/>
            </a:xfrm>
            <a:prstGeom prst="rect">
              <a:avLst/>
            </a:prstGeom>
            <a:noFill/>
            <a:ln>
              <a:noFill/>
            </a:ln>
          </p:spPr>
          <p:txBody>
            <a:bodyPr spcFirstLastPara="1" wrap="square" lIns="8250" tIns="8250" rIns="8250" bIns="8250" anchor="ctr" anchorCtr="0">
              <a:noAutofit/>
            </a:bodyPr>
            <a:lstStyle/>
            <a:p>
              <a:pPr marL="0" marR="0" lvl="0" indent="0" algn="ctr" rtl="0">
                <a:lnSpc>
                  <a:spcPct val="100000"/>
                </a:lnSpc>
                <a:spcBef>
                  <a:spcPts val="0"/>
                </a:spcBef>
                <a:spcAft>
                  <a:spcPts val="0"/>
                </a:spcAft>
                <a:buNone/>
              </a:pPr>
              <a:endParaRPr sz="1300">
                <a:solidFill>
                  <a:schemeClr val="dk1"/>
                </a:solidFill>
                <a:latin typeface="Arial"/>
                <a:ea typeface="Arial"/>
                <a:cs typeface="Arial"/>
                <a:sym typeface="Arial"/>
              </a:endParaRPr>
            </a:p>
          </p:txBody>
        </p:sp>
        <p:sp>
          <p:nvSpPr>
            <p:cNvPr id="284" name="Google Shape;284;p15"/>
            <p:cNvSpPr/>
            <p:nvPr/>
          </p:nvSpPr>
          <p:spPr>
            <a:xfrm rot="5400000">
              <a:off x="2708995" y="1231253"/>
              <a:ext cx="497522" cy="4843927"/>
            </a:xfrm>
            <a:prstGeom prst="round2SameRect">
              <a:avLst>
                <a:gd name="adj1" fmla="val 16667"/>
                <a:gd name="adj2" fmla="val 0"/>
              </a:avLst>
            </a:prstGeom>
            <a:solidFill>
              <a:schemeClr val="lt1">
                <a:alpha val="89803"/>
              </a:schemeClr>
            </a:solidFill>
            <a:ln w="12700" cap="flat" cmpd="sng">
              <a:solidFill>
                <a:srgbClr val="8FB5DD"/>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5"/>
            <p:cNvSpPr txBox="1"/>
            <p:nvPr/>
          </p:nvSpPr>
          <p:spPr>
            <a:xfrm rot="10800000">
              <a:off x="934918" y="3262806"/>
              <a:ext cx="4385700" cy="765300"/>
            </a:xfrm>
            <a:prstGeom prst="rect">
              <a:avLst/>
            </a:prstGeom>
            <a:noFill/>
            <a:ln>
              <a:noFill/>
            </a:ln>
          </p:spPr>
          <p:txBody>
            <a:bodyPr spcFirstLastPara="1" wrap="square" lIns="92450" tIns="8250" rIns="8250" bIns="8250" anchor="ctr" anchorCtr="0">
              <a:noAutofit/>
            </a:bodyPr>
            <a:lstStyle/>
            <a:p>
              <a:pPr marL="114300" marR="0" lvl="1" indent="-114300" algn="l" rtl="0">
                <a:lnSpc>
                  <a:spcPct val="100000"/>
                </a:lnSpc>
                <a:spcBef>
                  <a:spcPts val="0"/>
                </a:spcBef>
                <a:spcAft>
                  <a:spcPts val="0"/>
                </a:spcAft>
                <a:buClr>
                  <a:schemeClr val="dk1"/>
                </a:buClr>
                <a:buSzPts val="1300"/>
                <a:buFont typeface="Comic Sans MS"/>
                <a:buChar char="•"/>
              </a:pPr>
              <a:r>
                <a:rPr lang="en-US" sz="1300" b="0" i="0" u="none" strike="noStrike" cap="none" dirty="0" err="1">
                  <a:solidFill>
                    <a:schemeClr val="dk1"/>
                  </a:solidFill>
                  <a:latin typeface="Comic Sans MS"/>
                  <a:ea typeface="Comic Sans MS"/>
                  <a:cs typeface="Comic Sans MS"/>
                  <a:sym typeface="Comic Sans MS"/>
                </a:rPr>
                <a:t>OnGet</a:t>
              </a:r>
              <a:r>
                <a:rPr lang="en-US" sz="1300" b="0" i="0" u="none" strike="noStrike" cap="none" dirty="0">
                  <a:solidFill>
                    <a:schemeClr val="dk1"/>
                  </a:solidFill>
                  <a:latin typeface="Comic Sans MS"/>
                  <a:ea typeface="Comic Sans MS"/>
                  <a:cs typeface="Comic Sans MS"/>
                  <a:sym typeface="Comic Sans MS"/>
                </a:rPr>
                <a:t> to initialize state needed for the page</a:t>
              </a:r>
              <a:r>
                <a:rPr lang="en-US" sz="1300" b="0" i="0" u="none" strike="noStrike" cap="none" dirty="0">
                  <a:solidFill>
                    <a:schemeClr val="dk1"/>
                  </a:solidFill>
                  <a:latin typeface="Calibri"/>
                  <a:ea typeface="Calibri"/>
                  <a:cs typeface="Calibri"/>
                  <a:sym typeface="Calibri"/>
                </a:rPr>
                <a:t>.</a:t>
              </a:r>
              <a:endParaRPr sz="1300" b="0" i="0" u="none" strike="noStrike" cap="none" dirty="0">
                <a:solidFill>
                  <a:schemeClr val="dk1"/>
                </a:solidFill>
                <a:latin typeface="Calibri"/>
                <a:ea typeface="Calibri"/>
                <a:cs typeface="Calibri"/>
                <a:sym typeface="Calibri"/>
              </a:endParaRPr>
            </a:p>
          </p:txBody>
        </p:sp>
        <p:sp>
          <p:nvSpPr>
            <p:cNvPr id="286" name="Google Shape;286;p15"/>
            <p:cNvSpPr/>
            <p:nvPr/>
          </p:nvSpPr>
          <p:spPr>
            <a:xfrm rot="5400000">
              <a:off x="-114813" y="4200160"/>
              <a:ext cx="765418" cy="535793"/>
            </a:xfrm>
            <a:prstGeom prst="chevron">
              <a:avLst>
                <a:gd name="adj" fmla="val 50000"/>
              </a:avLst>
            </a:prstGeom>
            <a:solidFill>
              <a:srgbClr val="739BC6"/>
            </a:solidFill>
            <a:ln w="12700" cap="flat" cmpd="sng">
              <a:solidFill>
                <a:srgbClr val="739BC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5"/>
            <p:cNvSpPr txBox="1"/>
            <p:nvPr/>
          </p:nvSpPr>
          <p:spPr>
            <a:xfrm rot="10800000">
              <a:off x="-114813" y="4200160"/>
              <a:ext cx="765418" cy="535793"/>
            </a:xfrm>
            <a:prstGeom prst="rect">
              <a:avLst/>
            </a:prstGeom>
            <a:noFill/>
            <a:ln>
              <a:noFill/>
            </a:ln>
          </p:spPr>
          <p:txBody>
            <a:bodyPr spcFirstLastPara="1" wrap="square" lIns="8250" tIns="8250" rIns="8250" bIns="8250" anchor="ctr" anchorCtr="0">
              <a:noAutofit/>
            </a:bodyPr>
            <a:lstStyle/>
            <a:p>
              <a:pPr marL="0" marR="0" lvl="0" indent="0" algn="ctr" rtl="0">
                <a:lnSpc>
                  <a:spcPct val="100000"/>
                </a:lnSpc>
                <a:spcBef>
                  <a:spcPts val="0"/>
                </a:spcBef>
                <a:spcAft>
                  <a:spcPts val="0"/>
                </a:spcAft>
                <a:buNone/>
              </a:pPr>
              <a:endParaRPr sz="1300">
                <a:solidFill>
                  <a:schemeClr val="dk1"/>
                </a:solidFill>
                <a:latin typeface="Arial"/>
                <a:ea typeface="Arial"/>
                <a:cs typeface="Arial"/>
                <a:sym typeface="Arial"/>
              </a:endParaRPr>
            </a:p>
          </p:txBody>
        </p:sp>
        <p:sp>
          <p:nvSpPr>
            <p:cNvPr id="288" name="Google Shape;288;p15"/>
            <p:cNvSpPr/>
            <p:nvPr/>
          </p:nvSpPr>
          <p:spPr>
            <a:xfrm rot="5400000">
              <a:off x="2708995" y="1912144"/>
              <a:ext cx="497522" cy="4843927"/>
            </a:xfrm>
            <a:prstGeom prst="round2SameRect">
              <a:avLst>
                <a:gd name="adj1" fmla="val 16667"/>
                <a:gd name="adj2" fmla="val 0"/>
              </a:avLst>
            </a:prstGeom>
            <a:solidFill>
              <a:schemeClr val="lt1">
                <a:alpha val="89803"/>
              </a:schemeClr>
            </a:solidFill>
            <a:ln w="12700" cap="flat" cmpd="sng">
              <a:solidFill>
                <a:srgbClr val="739BC6"/>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5"/>
            <p:cNvSpPr txBox="1"/>
            <p:nvPr/>
          </p:nvSpPr>
          <p:spPr>
            <a:xfrm rot="10800000">
              <a:off x="2121718" y="4069826"/>
              <a:ext cx="3198900" cy="535800"/>
            </a:xfrm>
            <a:prstGeom prst="rect">
              <a:avLst/>
            </a:prstGeom>
            <a:noFill/>
            <a:ln>
              <a:noFill/>
            </a:ln>
          </p:spPr>
          <p:txBody>
            <a:bodyPr spcFirstLastPara="1" wrap="square" lIns="92450" tIns="8250" rIns="8250" bIns="8250" anchor="ctr" anchorCtr="0">
              <a:noAutofit/>
            </a:bodyPr>
            <a:lstStyle/>
            <a:p>
              <a:pPr marL="114300" marR="0" lvl="1" indent="-114300" algn="l" rtl="0">
                <a:lnSpc>
                  <a:spcPct val="100000"/>
                </a:lnSpc>
                <a:spcBef>
                  <a:spcPts val="0"/>
                </a:spcBef>
                <a:spcAft>
                  <a:spcPts val="0"/>
                </a:spcAft>
                <a:buClr>
                  <a:schemeClr val="dk1"/>
                </a:buClr>
                <a:buSzPts val="1300"/>
                <a:buFont typeface="Comic Sans MS"/>
                <a:buChar char="•"/>
              </a:pPr>
              <a:r>
                <a:rPr lang="en-US" sz="1300" b="0" i="0" u="none" strike="noStrike" cap="none" dirty="0" err="1">
                  <a:solidFill>
                    <a:schemeClr val="dk1"/>
                  </a:solidFill>
                  <a:latin typeface="Comic Sans MS"/>
                  <a:ea typeface="Comic Sans MS"/>
                  <a:cs typeface="Comic Sans MS"/>
                  <a:sym typeface="Comic Sans MS"/>
                </a:rPr>
                <a:t>OnPost</a:t>
              </a:r>
              <a:r>
                <a:rPr lang="en-US" sz="1300" b="0" i="0" u="none" strike="noStrike" cap="none" dirty="0">
                  <a:solidFill>
                    <a:schemeClr val="dk1"/>
                  </a:solidFill>
                  <a:latin typeface="Comic Sans MS"/>
                  <a:ea typeface="Comic Sans MS"/>
                  <a:cs typeface="Comic Sans MS"/>
                  <a:sym typeface="Comic Sans MS"/>
                </a:rPr>
                <a:t> to handle form submissions</a:t>
              </a:r>
              <a:r>
                <a:rPr lang="en-US" sz="1300" b="0" i="0" u="none" strike="noStrike" cap="none" dirty="0">
                  <a:solidFill>
                    <a:schemeClr val="dk1"/>
                  </a:solidFill>
                  <a:latin typeface="Calibri"/>
                  <a:ea typeface="Calibri"/>
                  <a:cs typeface="Calibri"/>
                  <a:sym typeface="Calibri"/>
                </a:rPr>
                <a:t>.</a:t>
              </a:r>
              <a:endParaRPr sz="1300" b="0" i="0" u="none" strike="noStrike" cap="none" dirty="0">
                <a:solidFill>
                  <a:schemeClr val="dk1"/>
                </a:solidFill>
                <a:latin typeface="Calibri"/>
                <a:ea typeface="Calibri"/>
                <a:cs typeface="Calibri"/>
                <a:sym typeface="Calibri"/>
              </a:endParaRPr>
            </a:p>
          </p:txBody>
        </p:sp>
      </p:grpSp>
      <p:pic>
        <p:nvPicPr>
          <p:cNvPr id="290" name="Google Shape;290;p15"/>
          <p:cNvPicPr preferRelativeResize="0">
            <a:picLocks noGrp="1"/>
          </p:cNvPicPr>
          <p:nvPr>
            <p:ph type="body" idx="1"/>
          </p:nvPr>
        </p:nvPicPr>
        <p:blipFill rotWithShape="1">
          <a:blip r:embed="rId3">
            <a:alphaModFix/>
          </a:blip>
          <a:srcRect/>
          <a:stretch/>
        </p:blipFill>
        <p:spPr>
          <a:xfrm>
            <a:off x="7770376" y="1903875"/>
            <a:ext cx="4046700" cy="2788200"/>
          </a:xfrm>
          <a:prstGeom prst="rect">
            <a:avLst/>
          </a:prstGeom>
          <a:noFill/>
          <a:ln>
            <a:noFill/>
          </a:ln>
        </p:spPr>
      </p:pic>
      <p:pic>
        <p:nvPicPr>
          <p:cNvPr id="291" name="Google Shape;291;p15"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0"/>
                                        </p:tgtEl>
                                        <p:attrNameLst>
                                          <p:attrName>style.visibility</p:attrName>
                                        </p:attrNameLst>
                                      </p:cBhvr>
                                      <p:to>
                                        <p:strVal val="visible"/>
                                      </p:to>
                                    </p:set>
                                    <p:animEffect transition="in" filter="fade">
                                      <p:cBhvr>
                                        <p:cTn id="7" dur="500"/>
                                        <p:tgtEl>
                                          <p:spTgt spid="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pic>
        <p:nvPicPr>
          <p:cNvPr id="534" name="Google Shape;534;p34" descr="tnq"/>
          <p:cNvPicPr preferRelativeResize="0">
            <a:picLocks noGrp="1"/>
          </p:cNvPicPr>
          <p:nvPr>
            <p:ph type="body" idx="1"/>
          </p:nvPr>
        </p:nvPicPr>
        <p:blipFill rotWithShape="1">
          <a:blip r:embed="rId3">
            <a:alphaModFix/>
          </a:blip>
          <a:srcRect/>
          <a:stretch/>
        </p:blipFill>
        <p:spPr>
          <a:xfrm>
            <a:off x="2742565" y="1253490"/>
            <a:ext cx="6706235" cy="4351655"/>
          </a:xfrm>
          <a:prstGeom prst="rect">
            <a:avLst/>
          </a:prstGeom>
          <a:noFill/>
          <a:ln>
            <a:noFill/>
          </a:ln>
        </p:spPr>
      </p:pic>
    </p:spTree>
    <p:extLst>
      <p:ext uri="{BB962C8B-B14F-4D97-AF65-F5344CB8AC3E}">
        <p14:creationId xmlns:p14="http://schemas.microsoft.com/office/powerpoint/2010/main" val="3921793800"/>
      </p:ext>
    </p:extLst>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TotalTime>
  <Words>2510</Words>
  <Application>Microsoft Office PowerPoint</Application>
  <PresentationFormat>Widescreen</PresentationFormat>
  <Paragraphs>276</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Bell MT</vt:lpstr>
      <vt:lpstr>Angsana New</vt:lpstr>
      <vt:lpstr>Calibri</vt:lpstr>
      <vt:lpstr>Comic Sans MS</vt:lpstr>
      <vt:lpstr>Arial</vt:lpstr>
      <vt:lpstr>Default Design</vt:lpstr>
      <vt:lpstr>Asp.Net Core – Razor Pages</vt:lpstr>
      <vt:lpstr>What are Razor Pages?</vt:lpstr>
      <vt:lpstr>Razor Pages</vt:lpstr>
      <vt:lpstr>Benefits of Razor Pages</vt:lpstr>
      <vt:lpstr>When to use Razor Pages </vt:lpstr>
      <vt:lpstr> Razor Pages </vt:lpstr>
      <vt:lpstr>  Razor Pages  </vt:lpstr>
      <vt:lpstr> Creating a ASP.NET Core Web App </vt:lpstr>
      <vt:lpstr>Project Structure </vt:lpstr>
      <vt:lpstr> Razor Pages is enabled in program.cs </vt:lpstr>
      <vt:lpstr> Razor page Anatomy </vt:lpstr>
      <vt:lpstr>Razor page –  .cshtml page </vt:lpstr>
      <vt:lpstr>Rendering HTML </vt:lpstr>
      <vt:lpstr>Razor syntax </vt:lpstr>
      <vt:lpstr>  PageModel -  .cshtml.cs page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Asp.Net Core – Razor Pages</dc:title>
  <cp:lastModifiedBy>Apsara</cp:lastModifiedBy>
  <cp:revision>9</cp:revision>
  <dcterms:created xsi:type="dcterms:W3CDTF">2023-05-03T10:53:00Z</dcterms:created>
  <dcterms:modified xsi:type="dcterms:W3CDTF">2024-02-09T11:56:44Z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9602C5F5F950426E9C51E70BE35998BB</vt:lpwstr>
  </property>
  <property fmtid="{D5CDD505-2E9C-101B-9397-08002B2CF9AE}" pid="3" name="KSOProductBuildVer">
    <vt:lpwstr>1033-11.2.0.11537</vt:lpwstr>
  </property>
</Properties>
</file>